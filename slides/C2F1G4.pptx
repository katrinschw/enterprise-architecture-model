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3" r:id="rId1"/>
    <p:sldMasterId id="2147483722" r:id="rId2"/>
    <p:sldMasterId id="2147483668" r:id="rId3"/>
    <p:sldMasterId id="2147483674" r:id="rId4"/>
    <p:sldMasterId id="2147483648" r:id="rId5"/>
    <p:sldMasterId id="2147483684" r:id="rId6"/>
    <p:sldMasterId id="2147483697" r:id="rId7"/>
  </p:sldMasterIdLst>
  <p:notesMasterIdLst>
    <p:notesMasterId r:id="rId35"/>
  </p:notesMasterIdLst>
  <p:handoutMasterIdLst>
    <p:handoutMasterId r:id="rId36"/>
  </p:handout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</p:sldIdLst>
  <p:sldSz cx="9144000" cy="5143500" type="screen16x9"/>
  <p:notesSz cx="9925050" cy="66659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99"/>
    <a:srgbClr val="98C6EA"/>
    <a:srgbClr val="0052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CF61DF-608A-4863-8EEB-B13EAF41BFD5}" v="328" dt="2020-10-04T01:50:20.975"/>
  </p1510:revLst>
</p1510:revInfo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39" autoAdjust="0"/>
    <p:restoredTop sz="88272" autoAdjust="0"/>
  </p:normalViewPr>
  <p:slideViewPr>
    <p:cSldViewPr snapToGrid="0">
      <p:cViewPr varScale="1">
        <p:scale>
          <a:sx n="58" d="100"/>
          <a:sy n="58" d="100"/>
        </p:scale>
        <p:origin x="62" y="62"/>
      </p:cViewPr>
      <p:guideLst>
        <p:guide orient="horz" pos="2164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31" d="100"/>
          <a:sy n="131" d="100"/>
        </p:scale>
        <p:origin x="-810" y="-96"/>
      </p:cViewPr>
      <p:guideLst>
        <p:guide orient="horz" pos="2100"/>
        <p:guide pos="312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35" Type="http://schemas.openxmlformats.org/officeDocument/2006/relationships/notesMaster" Target="notesMasters/notesMaster1.xml"/><Relationship Id="rId36" Type="http://schemas.openxmlformats.org/officeDocument/2006/relationships/handoutMaster" Target="handoutMasters/handout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20751376-2EB8-4403-B858-305A8AAA6B01}" type="datetimeFigureOut">
              <a:rPr lang="en-GB"/>
              <a:pPr>
                <a:defRPr/>
              </a:pPr>
              <a:t>26/10/2022</a:t>
            </a:fld>
            <a:endParaRPr lang="en-GB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62C15F7A-46C6-4AD2-BFEC-842DCCCC19C4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0957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9C46BC9-2C9E-4670-A85A-6A588BA2D405}" type="datetimeFigureOut">
              <a:rPr lang="en-GB"/>
              <a:pPr>
                <a:defRPr/>
              </a:pPr>
              <a:t>26/10/2022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pPr lvl="0"/>
            <a:endParaRPr lang="en-GB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</p:spPr>
        <p:txBody>
          <a:bodyPr vert="horz" wrap="square" lIns="90708" tIns="45354" rIns="90708" bIns="45354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0AFC6D0-44D5-4EB7-828F-6F464F83D79A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99730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182563" indent="-182563" algn="l" rtl="0" fontAlgn="base">
      <a:spcBef>
        <a:spcPct val="30000"/>
      </a:spcBef>
      <a:spcAft>
        <a:spcPct val="0"/>
      </a:spcAft>
      <a:buFont typeface="Arial" charset="0"/>
      <a:buChar char="•"/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355600" indent="-173038" algn="l" rtl="0" fontAlgn="base">
      <a:spcBef>
        <a:spcPct val="30000"/>
      </a:spcBef>
      <a:spcAft>
        <a:spcPct val="0"/>
      </a:spcAft>
      <a:buFont typeface="Symbol" pitchFamily="18" charset="2"/>
      <a:buChar char="-"/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538163" indent="-182563" algn="l" rtl="0" fontAlgn="base">
      <a:spcBef>
        <a:spcPct val="30000"/>
      </a:spcBef>
      <a:spcAft>
        <a:spcPct val="0"/>
      </a:spcAft>
      <a:buFont typeface="Courier New" pitchFamily="49" charset="0"/>
      <a:buChar char="o"/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720725" indent="-182563" algn="l" rtl="0" fontAlgn="base">
      <a:spcBef>
        <a:spcPct val="30000"/>
      </a:spcBef>
      <a:spcAft>
        <a:spcPct val="0"/>
      </a:spcAft>
      <a:buFont typeface="Wingdings" pitchFamily="2" charset="2"/>
      <a:buChar char="§"/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Katrin (opening). ~20s. Introduce the team and that we modelled ArchiHotel's enterprise architecture, focus area F1 — Reservation Handling and Check-In. Move straight into the case. VERIFY Heilbronn / room C.0.44 before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Katrin. ~1 min. Set the scene before any model: ArchiHotel sells 'invisible luxury'. The point that motivates an EA model — every department owns a slice of the guest journey but depends on the SAME data, all living in the HMS. Then name our scope: F1, the pre-arrival to arrival journey.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Katrin. ~1.5 min. Say explicitly it's an overview — not to be read. Walk the three layers: business (yellow), application (blue), technology (green). Point at the HMS in the middle — it realises the services every guest-facing process uses, hosted on AWS. Close by pointing at the F1 cluster: 'this is what we zoom into next.' Hand to Soyeong.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Soyeong. ~1 min. Bridge slide (Approach 2). Same abstract view, everything outside F1 greyed. Trace the F1 story in one breath: book → HMS checks availability &amp; prices → reserve → external payment → special requests → arrival schedule &amp; daily briefing → check-in &amp; key card. Then: 'let's see each layer.'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Soyeong. ~2 min. Contrast with the abstract view: one 'Handle Reservation' there becomes concrete steps here. Business elements vivid, application greyed. Point along the process flow, then to the objects each step reads/writes. Mention the receptionist's check-in cluster: identify reservation, verify identity, issue &amp; configure the key card. Then: 'how do the systems support this?'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Soyeong / Fiona. ~2 min. The detailed view shows the INTERNAL structure the abstract view hid: HMS decomposed into application functions, plus explicit interfaces and data objects. Each application service realises a business process from the previous slide — the cross-layer link. Then move to the technology that runs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Fiona. ~1.5 min. STATUS: technology layer not yet modelled — placeholder. When presenting: everything runs on AWS; the receptionist's workstation (PC, phone, payment terminal) syncs over hotel Wi-Fi; staff phones run the Staff Portal synced daily; external booking/payment reach the HMS over the Internet. Detailed view models these paths explicitly — required at detailed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Fiona. ~2 min — the four reflection questions. VALUE: the model makes the HMS's central role visible, so change is a concrete question; it creates a shared vocabulary. LIMITATIONS + MISSING INFO: as-is snapshot, lossy abstractions, no motivation layer / SLAs / data ownership in the material. CHALLENGES: L06 taught after modelling, abstraction trade-offs, Archi quirks. Examiners question every member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Fiona (close), then all three take questions. ~45s. Recap in three sentences (all three layers → HMS; abstract → detailed; value = shared vocabulary + change visibility, limitation = as-is). KEEP THIS SLIDE UP during Q&amp;A. Backup topics: multi-realisation Online Booking Service, In-Room Equipment abstraction, why Approach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4" descr="TUM_Glockenturm.tif">
            <a:extLst>
              <a:ext uri="{FF2B5EF4-FFF2-40B4-BE49-F238E27FC236}">
                <a16:creationId xmlns:a16="http://schemas.microsoft.com/office/drawing/2014/main" id="{3DC659F7-0024-9FCB-D753-C693EDA777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1830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858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Textfeld 10">
            <a:extLst>
              <a:ext uri="{FF2B5EF4-FFF2-40B4-BE49-F238E27FC236}">
                <a16:creationId xmlns:a16="http://schemas.microsoft.com/office/drawing/2014/main" id="{154976A3-D458-EBF9-B242-F3440F1111AF}"/>
              </a:ext>
            </a:extLst>
          </p:cNvPr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Chair of High-Power Converter Systems</a:t>
            </a:r>
            <a:endParaRPr lang="de-DE" sz="800" kern="1200" dirty="0">
              <a:solidFill>
                <a:schemeClr val="bg1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en-US" sz="800" kern="1200" dirty="0">
                <a:solidFill>
                  <a:schemeClr val="bg1"/>
                </a:solidFill>
                <a:latin typeface="+mn-lt"/>
                <a:ea typeface="+mn-ea"/>
                <a:cs typeface="Arial" charset="0"/>
              </a:rPr>
              <a:t>TUM School of Engineering and Design</a:t>
            </a:r>
            <a:endParaRPr lang="de-DE" sz="800" kern="1200" dirty="0">
              <a:solidFill>
                <a:schemeClr val="bg1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de-DE" sz="800" baseline="0" dirty="0">
                <a:solidFill>
                  <a:schemeClr val="bg1"/>
                </a:solidFill>
                <a:latin typeface="+mn-lt"/>
              </a:rPr>
              <a:t>Technical University of Munich</a:t>
            </a:r>
            <a:endParaRPr lang="de-DE" sz="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90414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4" descr="TUM_Glockenturm.tif">
            <a:extLst>
              <a:ext uri="{FF2B5EF4-FFF2-40B4-BE49-F238E27FC236}">
                <a16:creationId xmlns:a16="http://schemas.microsoft.com/office/drawing/2014/main" id="{186CB456-4823-F0CE-7635-2DF9E971C7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0424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05AABF3B-2112-4303-BACC-C389E81E73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marL="0" indent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40E7229-04EE-4764-BC7E-F87916F4FA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marL="0" indent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26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0912513-725A-7B3D-7236-D9DF537BD4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66090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506687"/>
            <a:ext cx="8508999" cy="317961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1161" y="936839"/>
            <a:ext cx="8508999" cy="497688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273115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1479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403057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E9EB89DB-0FCB-44DF-1F96-9A2EDDD7D2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9014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0068467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9AEF4677-339F-8CA2-B0ED-473D9EA817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0456574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 bwMode="auto">
          <a:xfrm>
            <a:off x="0" y="2152650"/>
            <a:ext cx="9144000" cy="299085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hangingPunct="0"/>
            <a:endParaRPr lang="de-DE" sz="1000">
              <a:latin typeface="Arial" pitchFamily="34" charset="0"/>
            </a:endParaRP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B396E02D-F2E0-1B1F-A258-256C442E53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 bwMode="auto">
          <a:xfrm>
            <a:off x="0" y="1771076"/>
            <a:ext cx="9144000" cy="337242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hangingPunct="0"/>
            <a:endParaRPr lang="de-DE" sz="1000">
              <a:latin typeface="Arial" pitchFamily="34" charset="0"/>
            </a:endParaRP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702900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1771076"/>
            <a:ext cx="9144000" cy="3367344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5FE9A9B3-89BF-F3DC-FA80-DEDD36A472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1771076"/>
            <a:ext cx="9144000" cy="3367344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11215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222524"/>
            <a:ext cx="9144000" cy="392097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FB6134F2-2761-390F-47D1-C1565FBC87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9873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222524"/>
            <a:ext cx="9144000" cy="392097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2878373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baseline="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Präsentationsmuster</a:t>
            </a:r>
            <a:br>
              <a:rPr lang="de-DE" noProof="0" dirty="0"/>
            </a:br>
            <a:br>
              <a:rPr lang="de-DE" noProof="0" dirty="0"/>
            </a:br>
            <a:r>
              <a:rPr lang="de-DE" noProof="0" dirty="0"/>
              <a:t>kann auch als </a:t>
            </a:r>
            <a:r>
              <a:rPr lang="de-DE" noProof="0" dirty="0" err="1"/>
              <a:t>Kapiteltrenner</a:t>
            </a:r>
            <a:r>
              <a:rPr lang="de-DE" noProof="0" dirty="0"/>
              <a:t> verwendet werden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Präsentationsmuster</a:t>
            </a:r>
            <a:br>
              <a:rPr lang="de-DE" noProof="0" dirty="0"/>
            </a:br>
            <a:br>
              <a:rPr lang="de-DE" noProof="0" dirty="0"/>
            </a:br>
            <a:r>
              <a:rPr lang="de-DE" noProof="0" dirty="0"/>
              <a:t>kann auch als </a:t>
            </a:r>
            <a:r>
              <a:rPr lang="de-DE" noProof="0" dirty="0" err="1"/>
              <a:t>Kapiteltrenner</a:t>
            </a:r>
            <a:r>
              <a:rPr lang="de-DE" noProof="0" dirty="0"/>
              <a:t> verwendet werden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w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3.xml"/><Relationship Id="rId4" Type="http://schemas.openxmlformats.org/officeDocument/2006/relationships/image" Target="../media/image3.jpeg"/><Relationship Id="rId5" Type="http://schemas.openxmlformats.org/officeDocument/2006/relationships/image" Target="../media/image4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theme" Target="../theme/theme4.xml"/><Relationship Id="rId4" Type="http://schemas.openxmlformats.org/officeDocument/2006/relationships/image" Target="../media/image1.w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5.xml"/><Relationship Id="rId19" Type="http://schemas.openxmlformats.org/officeDocument/2006/relationships/theme" Target="../theme/theme5.xml"/><Relationship Id="rId20" Type="http://schemas.openxmlformats.org/officeDocument/2006/relationships/image" Target="../media/image1.w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theme" Target="../theme/theme6.xml"/><Relationship Id="rId3" Type="http://schemas.openxmlformats.org/officeDocument/2006/relationships/image" Target="../media/image4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7.xml"/><Relationship Id="rId3" Type="http://schemas.openxmlformats.org/officeDocument/2006/relationships/image" Target="../media/image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7829538" cy="28851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5" name="Bild 8" descr="20150416 tum logo blau png final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18800" y="324000"/>
            <a:ext cx="604774" cy="31851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</p:sldLayoutIdLst>
  <p:hf hdr="0" dt="0"/>
  <p:txStyles>
    <p:titleStyle>
      <a:lvl1pPr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696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/>
          <p:cNvSpPr txBox="1"/>
          <p:nvPr/>
        </p:nvSpPr>
        <p:spPr>
          <a:xfrm>
            <a:off x="7713330" y="4922462"/>
            <a:ext cx="1115376" cy="210507"/>
          </a:xfrm>
          <a:prstGeom prst="rect">
            <a:avLst/>
          </a:prstGeom>
        </p:spPr>
        <p:txBody>
          <a:bodyPr wrap="square" lIns="0" tIns="0" rIns="0" bIns="0" rtlCol="0" anchor="b" anchorCtr="0">
            <a:spAutoFit/>
          </a:bodyPr>
          <a:lstStyle/>
          <a:p>
            <a:pPr algn="r">
              <a:lnSpc>
                <a:spcPct val="114000"/>
              </a:lnSpc>
            </a:pPr>
            <a:fld id="{C51078C5-4710-4254-8001-F1C0900803FD}" type="slidenum">
              <a:rPr lang="de-DE" sz="1200" smtClean="0">
                <a:latin typeface="+mn-lt"/>
                <a:cs typeface="Arial" pitchFamily="34" charset="0"/>
              </a:rPr>
              <a:pPr algn="r">
                <a:lnSpc>
                  <a:spcPct val="114000"/>
                </a:lnSpc>
              </a:pPr>
              <a:t>‹#›</a:t>
            </a:fld>
            <a:endParaRPr lang="de-DE" sz="1200" dirty="0">
              <a:latin typeface="+mn-lt"/>
              <a:cs typeface="Arial" pitchFamily="34" charset="0"/>
            </a:endParaRPr>
          </a:p>
        </p:txBody>
      </p:sp>
      <p:pic>
        <p:nvPicPr>
          <p:cNvPr id="5" name="Bild 4" descr="Fahnen_HG.jpg"/>
          <p:cNvPicPr>
            <a:picLocks noChangeAspect="1"/>
          </p:cNvPicPr>
          <p:nvPr/>
        </p:nvPicPr>
        <p:blipFill>
          <a:blip r:embed="rId4" cstate="screen"/>
          <a:srcRect l="398" t="14167" b="1083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24" r:id="rId2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sz="800" dirty="0">
                <a:solidFill>
                  <a:schemeClr val="tx2"/>
                </a:solidFill>
                <a:latin typeface="+mn-lt"/>
              </a:rPr>
              <a:t>Chair of High-Power Converter Systems</a:t>
            </a:r>
            <a:endParaRPr lang="de-DE" sz="800" kern="1200" dirty="0">
              <a:solidFill>
                <a:schemeClr val="tx2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en-US" sz="800" kern="1200" dirty="0">
                <a:solidFill>
                  <a:schemeClr val="tx2"/>
                </a:solidFill>
                <a:latin typeface="+mn-lt"/>
                <a:ea typeface="+mn-ea"/>
                <a:cs typeface="Arial" charset="0"/>
              </a:rPr>
              <a:t>TUM School of Engineering and Design</a:t>
            </a:r>
            <a:endParaRPr lang="de-DE" sz="800" kern="1200" dirty="0">
              <a:solidFill>
                <a:schemeClr val="tx2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de-DE" sz="800" baseline="0" dirty="0">
                <a:solidFill>
                  <a:schemeClr val="tx2"/>
                </a:solidFill>
                <a:latin typeface="+mn-lt"/>
              </a:rPr>
              <a:t>Technical University of Munich</a:t>
            </a:r>
            <a:endParaRPr lang="de-DE" sz="800" dirty="0">
              <a:solidFill>
                <a:schemeClr val="tx2"/>
              </a:solidFill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2" descr="20150416 tum logo blau png final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5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4" r:id="rId2"/>
    <p:sldLayoutId id="2147483716" r:id="rId3"/>
    <p:sldLayoutId id="2147483704" r:id="rId4"/>
    <p:sldLayoutId id="2147483714" r:id="rId5"/>
    <p:sldLayoutId id="2147483713" r:id="rId6"/>
    <p:sldLayoutId id="2147483712" r:id="rId7"/>
    <p:sldLayoutId id="2147483715" r:id="rId8"/>
    <p:sldLayoutId id="2147483657" r:id="rId9"/>
    <p:sldLayoutId id="2147483717" r:id="rId10"/>
    <p:sldLayoutId id="2147483711" r:id="rId11"/>
    <p:sldLayoutId id="2147483718" r:id="rId12"/>
    <p:sldLayoutId id="2147483703" r:id="rId13"/>
    <p:sldLayoutId id="2147483719" r:id="rId14"/>
    <p:sldLayoutId id="2147483653" r:id="rId15"/>
    <p:sldLayoutId id="2147483721" r:id="rId16"/>
    <p:sldLayoutId id="2147483656" r:id="rId17"/>
    <p:sldLayoutId id="2147483720" r:id="rId18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5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de-DE" dirty="0"/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7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de-DE" dirty="0">
              <a:solidFill>
                <a:schemeClr val="bg1"/>
              </a:solidFill>
            </a:endParaRPr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ArchiHotel — Reservation Handling &amp; Check-In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t>Team C2F1G4 · Katrin Schwab · Soyeong Jeong · Fiona Aurelia</a:t>
            </a:r>
          </a:p>
          <a:p>
            <a:r>
              <a:t>Technical University of Munich — School of Computation, Information and Technology</a:t>
            </a:r>
          </a:p>
          <a:p>
            <a:r>
              <a:t>Information Systems · EAM and Reference Models — Case Study Final Presentation</a:t>
            </a:r>
          </a:p>
          <a:p>
            <a:r>
              <a:t>Heilbronn · 06.07.2026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ArchiHotel — a luxury hotel group: “where luxury feels effortless”</a:t>
            </a:r>
          </a:p>
          <a:p>
            <a:pPr/>
            <a:r>
              <a:t>People, systems and spaces are aligned before the guest ever notices</a:t>
            </a:r>
          </a:p>
          <a:p>
            <a:pPr/>
            <a:r>
              <a:t>Every department works from the same shared data:</a:t>
            </a:r>
          </a:p>
          <a:p>
            <a:pPr lvl="1"/>
            <a:r>
              <a:t>Reception → Reservations, Open Costs</a:t>
            </a:r>
          </a:p>
          <a:p>
            <a:pPr lvl="1"/>
            <a:r>
              <a:t>Housekeeping → Arrival Schedule, room status</a:t>
            </a:r>
          </a:p>
          <a:p>
            <a:pPr lvl="1"/>
            <a:r>
              <a:t>Concierge → Transfers, VIPs, Special Requests</a:t>
            </a:r>
          </a:p>
          <a:p>
            <a:pPr lvl="1"/>
            <a:r>
              <a:t>Operational leads → a complete view of the day</a:t>
            </a:r>
          </a:p>
          <a:p>
            <a:pPr/>
            <a:r>
              <a:t>Everything converges on the Hotel Management System (HMS)</a:t>
            </a:r>
          </a:p>
          <a:p>
            <a:pPr/>
            <a:r>
              <a:t>Our focus area — F1: Reservation Handling &amp; Check-In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Luxury that feels effortless — because the systems behind it are already in sync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The ArchiHotel Case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Whole architecture · all three layers · 70 elements / 95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 wrap="square"/>
          <a:lstStyle/>
          <a:p>
            <a:pPr/>
            <a:r>
              <a:rPr sz="1400"/>
              <a:t>The whole architecture at an abstract level</a:t>
            </a:r>
          </a:p>
          <a:p>
            <a:pPr lvl="1"/>
            <a:r>
              <a:rPr sz="1200"/>
              <a:t>An overview — don't read every box</a:t>
            </a:r>
          </a:p>
          <a:p>
            <a:pPr/>
            <a:r>
              <a:rPr sz="1400"/>
              <a:t>HMS sits at the structural centre</a:t>
            </a:r>
          </a:p>
          <a:p>
            <a:pPr/>
            <a:r>
              <a:rPr sz="1400"/>
              <a:t>AWS Cloud Server hosts the core systems</a:t>
            </a:r>
          </a:p>
          <a:p>
            <a:pPr/>
            <a:r>
              <a:rPr sz="1400"/>
              <a:t>Three networks: Wi-Fi, Internet, Telephone</a:t>
            </a:r>
          </a:p>
          <a:p>
            <a:pPr/>
            <a:r>
              <a:rPr sz="1400"/>
              <a:t>→ We zoom into the F1 region next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Abstract EA Model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4553712" y="1515276"/>
            <a:ext cx="4288536" cy="3050207"/>
          </a:xfrm>
          <a:prstGeom prst="rect">
            <a:avLst/>
          </a:prstGeom>
          <a:solidFill>
            <a:srgbClr val="FFFFFF"/>
          </a:solidFill>
          <a:ln w="6350">
            <a:solidFill>
              <a:srgbClr val="D0D8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3564"/>
            <a:ext cx="4251960" cy="30136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Highlight the F1 region, then zoom in — layer by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 wrap="square"/>
          <a:lstStyle/>
          <a:p>
            <a:pPr/>
            <a:r>
              <a:rPr sz="1400"/>
              <a:t>F1 = the guest's pre-arrival → arrival journey</a:t>
            </a:r>
          </a:p>
          <a:p>
            <a:pPr/>
            <a:r>
              <a:rPr sz="1400"/>
              <a:t>Booking — website or external platform</a:t>
            </a:r>
          </a:p>
          <a:p>
            <a:pPr/>
            <a:r>
              <a:rPr sz="1400"/>
              <a:t>Availability &amp; pricing → reserve → payment</a:t>
            </a:r>
          </a:p>
          <a:p>
            <a:pPr/>
            <a:r>
              <a:rPr sz="1400"/>
              <a:t>Special requests → arrival schedule → briefing</a:t>
            </a:r>
          </a:p>
          <a:p>
            <a:pPr/>
            <a:r>
              <a:rPr sz="1400"/>
              <a:t>Check-in → issue &amp; configure key card</a:t>
            </a:r>
          </a:p>
          <a:p>
            <a:pPr/>
            <a:r>
              <a:rPr sz="1400"/>
              <a:t>→ Now layer by layer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Focus Area F1: From Abstract to Detailed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4553712" y="1515276"/>
            <a:ext cx="4288536" cy="3050207"/>
          </a:xfrm>
          <a:prstGeom prst="rect">
            <a:avLst/>
          </a:prstGeom>
          <a:solidFill>
            <a:srgbClr val="FFFFFF"/>
          </a:solidFill>
          <a:ln w="6350">
            <a:solidFill>
              <a:srgbClr val="D0D8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bstract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3564"/>
            <a:ext cx="4251960" cy="30136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Concrete process steps, roles and business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 wrap="square"/>
          <a:lstStyle/>
          <a:p>
            <a:pPr/>
            <a:r>
              <a:rPr sz="1300"/>
              <a:t>Roles: Guest, Receptionist, Hotel Manager, Heads of Concierge &amp; Housekeeping</a:t>
            </a:r>
          </a:p>
          <a:p>
            <a:pPr/>
            <a:r>
              <a:rPr sz="1300"/>
              <a:t>Concrete steps (not one abstract process):</a:t>
            </a:r>
          </a:p>
          <a:p>
            <a:pPr lvl="1"/>
            <a:r>
              <a:rPr sz="1100"/>
              <a:t>request → availability → price → reserve</a:t>
            </a:r>
          </a:p>
          <a:p>
            <a:pPr lvl="1"/>
            <a:r>
              <a:rPr sz="1100"/>
              <a:t>payment (external) → special requests</a:t>
            </a:r>
          </a:p>
          <a:p>
            <a:pPr lvl="1"/>
            <a:r>
              <a:rPr sz="1100"/>
              <a:t>arrival schedule → briefing → check-in → key card</a:t>
            </a:r>
          </a:p>
          <a:p>
            <a:pPr/>
            <a:r>
              <a:rPr sz="1300"/>
              <a:t>Objects: Reservation, Room Availability, Pricing, Open Costs, Special Request, Arrival Schedule, Briefing Report, Key Card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Model — Business Layer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4853568" y="1399032"/>
            <a:ext cx="3688823" cy="32826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t_busi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856" y="1417320"/>
            <a:ext cx="3652247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Internal structure of the applications — hidden in the abstract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 wrap="square"/>
          <a:lstStyle/>
          <a:p>
            <a:pPr/>
            <a:r>
              <a:rPr sz="1300"/>
              <a:t>HMS is the central application component</a:t>
            </a:r>
          </a:p>
          <a:p>
            <a:pPr/>
            <a:r>
              <a:rPr sz="1300"/>
              <a:t>Internal functions: availability check, pricing, reservation mgmt, payment handling, briefing-report generation, check-in / key-card mgmt</a:t>
            </a:r>
          </a:p>
          <a:p>
            <a:pPr/>
            <a:r>
              <a:rPr sz="1300"/>
              <a:t>Around it: Web Booking System, External Booking Platform, External Payment Service, Door Access App</a:t>
            </a:r>
          </a:p>
          <a:p>
            <a:pPr/>
            <a:r>
              <a:rPr sz="1300"/>
              <a:t>Data objects + explicit interfaces (Web, Booking-Platform, Payment-Gateway)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Model — Application Layer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4553712" y="1817958"/>
            <a:ext cx="4288536" cy="2444843"/>
          </a:xfrm>
          <a:prstGeom prst="rect">
            <a:avLst/>
          </a:prstGeom>
          <a:solidFill>
            <a:srgbClr val="FFFFFF"/>
          </a:solidFill>
          <a:ln w="6350">
            <a:solidFill>
              <a:srgbClr val="D0D8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t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36246"/>
            <a:ext cx="4251960" cy="2408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500"/>
              <a:t>Nodes: AWS Cloud Server; Reception Workstation (PC + phone + payment terminal); Staff Android smartphones; Key-Card Encoder</a:t>
            </a:r>
          </a:p>
          <a:p>
            <a:pPr/>
            <a:r>
              <a:rPr sz="1500"/>
              <a:t>Networks (explicit): Hotel Wi-Fi (reception &amp; Staff Portal sync); Internet (external booking, payment, AWS)</a:t>
            </a:r>
          </a:p>
          <a:p>
            <a:pPr/>
            <a:r>
              <a:rPr sz="1500"/>
              <a:t>Communication paths: Reception ↔ HMS (Wi-Fi); HMS ↔ External Payment (Internet); staff phones ↔ HMS (Wi-Fi)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Nodes, networks and communication — modelled explicitly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Model — Technology Layer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Rectangle 5"/>
          <p:cNvSpPr/>
          <p:nvPr/>
        </p:nvSpPr>
        <p:spPr>
          <a:xfrm>
            <a:off x="5212080" y="3108960"/>
            <a:ext cx="3611880" cy="1463040"/>
          </a:xfrm>
          <a:prstGeom prst="rect">
            <a:avLst/>
          </a:prstGeom>
          <a:solidFill>
            <a:srgbClr val="FBF2F2"/>
          </a:solidFill>
          <a:ln w="12700">
            <a:solidFill>
              <a:srgbClr val="B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b="1" sz="1300">
                <a:solidFill>
                  <a:srgbClr val="B00000"/>
                </a:solidFill>
              </a:rPr>
              <a:t>⚠  To be built in Archi</a:t>
            </a:r>
          </a:p>
          <a:p>
            <a:r>
              <a:rPr sz="1000">
                <a:solidFill>
                  <a:srgbClr val="B00000"/>
                </a:solidFill>
              </a:rPr>
              <a:t>Layer not yet modelled. Add the Nodes, Networks and communication paths above, then re-run render_archi.py to drop the real diagram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697480" cy="38404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901952"/>
            <a:ext cx="2697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HMS is the visible convergence point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Change becomes concrete — “what breaks if we swap the payment provider?” = one re-bound link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Names a shared vocabulary of core objects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417320"/>
            <a:ext cx="2697480" cy="38404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01952"/>
            <a:ext cx="2697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An as-is snapshot — no governance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Lossy abstractions (devices collapsed; Association used for Path)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Material lacks a motivation layer, SLAs for the AWS single point of failure, and data ownership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2697480" cy="38404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FFFFFF"/>
                </a:solidFill>
              </a:rPr>
              <a:t>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901952"/>
            <a:ext cx="2697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Behaviour-element rules (L06) taught after we modelled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Repeated level-of-abstraction trade-offs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0065BD"/>
                </a:solidFill>
              </a:rPr>
              <a:t>▪ </a:t>
            </a:r>
            <a:r>
              <a:rPr sz="1100">
                <a:solidFill>
                  <a:srgbClr val="20252A"/>
                </a:solidFill>
              </a:rPr>
              <a:t>Archi tooling quirks + a convention fix (Composition → Assignment)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Thank you — 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 wrap="square"/>
          <a:lstStyle/>
          <a:p>
            <a:pPr/>
            <a:r>
              <a:rPr sz="1300"/>
              <a:t>Reservation &amp; Check-In across all three ArchiMate layers, converging on the HMS</a:t>
            </a:r>
          </a:p>
          <a:p>
            <a:pPr/>
            <a:r>
              <a:rPr sz="1300"/>
              <a:t>Abstract whole-EA view → detailed F1 view (concrete steps, application structure, explicit communication)</a:t>
            </a:r>
          </a:p>
          <a:p>
            <a:pPr/>
            <a:r>
              <a:rPr sz="1300"/>
              <a:t>Value: shared vocabulary + change visibility</a:t>
            </a:r>
          </a:p>
          <a:p>
            <a:pPr/>
            <a:r>
              <a:rPr sz="1300"/>
              <a:t>Limitation: as-is, no motivation layer</a:t>
            </a:r>
          </a:p>
          <a:p>
            <a:pPr/>
            <a:r>
              <a:rPr sz="1300"/>
              <a:t>Takeaway: EAM is as much teamwork &amp; abstraction judgment as notation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4553712" y="1515276"/>
            <a:ext cx="4288536" cy="3050207"/>
          </a:xfrm>
          <a:prstGeom prst="rect">
            <a:avLst/>
          </a:prstGeom>
          <a:solidFill>
            <a:srgbClr val="FFFFFF"/>
          </a:solidFill>
          <a:ln w="6350">
            <a:solidFill>
              <a:srgbClr val="D0D8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3564"/>
            <a:ext cx="4251960" cy="30136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4846320"/>
            <a:ext cx="6949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06060"/>
                </a:solidFill>
              </a:rPr>
              <a:t>Schwab · Jeong · Aurelia — EAM Case Study · C2F1G4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06060"/>
                </a:solidFill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F39E7027-915F-7341-A9EA-C8CBFD2E8FA2}"/>
    </a:ext>
  </a:extLst>
</a:theme>
</file>

<file path=ppt/theme/theme2.xml><?xml version="1.0" encoding="utf-8"?>
<a:theme xmlns:a="http://schemas.openxmlformats.org/drawingml/2006/main" name="Title Blan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BD7862EB-E8D6-994B-BBF4-6CC3FFF92DD2}"/>
    </a:ext>
  </a:extLst>
</a:theme>
</file>

<file path=ppt/theme/theme4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16AD8073-F55B-9144-802C-46456E9E217B}"/>
    </a:ext>
  </a:extLst>
</a:theme>
</file>

<file path=ppt/theme/theme5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741D405E-8307-9B40-9F97-3F5DAC837EF3}"/>
    </a:ext>
  </a:extLst>
</a:theme>
</file>

<file path=ppt/theme/theme6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4BFAB656-7532-6C41-9541-858AFF7D6765}"/>
    </a:ext>
  </a:extLst>
</a:theme>
</file>

<file path=ppt/theme/theme7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A724F04A-1212-AA4C-B6F1-157BE88DDFD7}"/>
    </a:ext>
  </a:extLst>
</a:theme>
</file>

<file path=ppt/theme/theme8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TUM_Praesentation_p_v1_16-9 (5)</Template>
  <TotalTime>263</TotalTime>
  <Words>1084</Words>
  <Application>Microsoft Office PowerPoint</Application>
  <PresentationFormat>On-screen Show (16:9)</PresentationFormat>
  <Paragraphs>150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27</vt:i4>
      </vt:variant>
    </vt:vector>
  </HeadingPairs>
  <TitlesOfParts>
    <vt:vector size="39" baseType="lpstr">
      <vt:lpstr>Arial</vt:lpstr>
      <vt:lpstr>Calibri</vt:lpstr>
      <vt:lpstr>Courier New</vt:lpstr>
      <vt:lpstr>Symbol</vt:lpstr>
      <vt:lpstr>Wingdings</vt:lpstr>
      <vt:lpstr>Titel 1</vt:lpstr>
      <vt:lpstr>Title Blank</vt:lpstr>
      <vt:lpstr>Titel 2</vt:lpstr>
      <vt:lpstr>Titel 3</vt:lpstr>
      <vt:lpstr>Inhalt</vt:lpstr>
      <vt:lpstr>Kapiteltrenner blau</vt:lpstr>
      <vt:lpstr>Kapiteltrenner schwarz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 Page</vt:lpstr>
      <vt:lpstr>Contents</vt:lpstr>
      <vt:lpstr>Slide Master</vt:lpstr>
      <vt:lpstr>Gültigkeit der Masterfolien</vt:lpstr>
      <vt:lpstr>Grundlage der Masterfolien</vt:lpstr>
      <vt:lpstr>Schrift</vt:lpstr>
      <vt:lpstr>Farben</vt:lpstr>
      <vt:lpstr>Texte</vt:lpstr>
      <vt:lpstr>Bilder - Allgemein</vt:lpstr>
      <vt:lpstr>Aufzählung</vt:lpstr>
      <vt:lpstr>Bilder</vt:lpstr>
      <vt:lpstr>Bilder</vt:lpstr>
      <vt:lpstr>Bilder</vt:lpstr>
      <vt:lpstr>Bilder</vt:lpstr>
      <vt:lpstr>Bilder</vt:lpstr>
      <vt:lpstr>Nicht formatfüllende Bilder</vt:lpstr>
      <vt:lpstr>Bilder Format füllend - maximale Bildgröße</vt:lpstr>
      <vt:lpstr>Nicht Format füllende Bilder</vt:lpstr>
      <vt:lpstr>Tabelle – Beispiel 1</vt:lpstr>
      <vt:lpstr>Tabelle – Beispiel 2</vt:lpstr>
      <vt:lpstr>Diagramme – Beispiel 1</vt:lpstr>
      <vt:lpstr>Diagramme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Wei Tian</dc:creator>
  <cp:lastModifiedBy>Wei Tian</cp:lastModifiedBy>
  <cp:revision>10</cp:revision>
  <cp:lastPrinted>2015-07-30T14:04:45Z</cp:lastPrinted>
  <dcterms:created xsi:type="dcterms:W3CDTF">2020-10-03T23:03:33Z</dcterms:created>
  <dcterms:modified xsi:type="dcterms:W3CDTF">2022-10-26T18:06:39Z</dcterms:modified>
</cp:coreProperties>
</file>