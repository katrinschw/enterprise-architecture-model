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Gilda Display" charset="1" panose="02000000000000000000"/>
      <p:regular r:id="rId16"/>
    </p:embeddedFont>
    <p:embeddedFont>
      <p:font typeface="HK Grotesk Bold" charset="1" panose="00000800000000000000"/>
      <p:regular r:id="rId17"/>
    </p:embeddedFont>
    <p:embeddedFont>
      <p:font typeface="HK Grotesk Light" charset="1" panose="00000400000000000000"/>
      <p:regular r:id="rId18"/>
    </p:embeddedFont>
    <p:embeddedFont>
      <p:font typeface="HK Grotesk" charset="1" panose="000005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Relationship Id="rId5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7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611225" y="6787402"/>
            <a:ext cx="10936025" cy="10299747"/>
          </a:xfrm>
          <a:custGeom>
            <a:avLst/>
            <a:gdLst/>
            <a:ahLst/>
            <a:cxnLst/>
            <a:rect r="r" b="b" t="t" l="l"/>
            <a:pathLst>
              <a:path h="10299747" w="10936025">
                <a:moveTo>
                  <a:pt x="0" y="0"/>
                </a:moveTo>
                <a:lnTo>
                  <a:pt x="10936025" y="0"/>
                </a:lnTo>
                <a:lnTo>
                  <a:pt x="10936025" y="10299747"/>
                </a:lnTo>
                <a:lnTo>
                  <a:pt x="0" y="10299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666750" y="666750"/>
            <a:ext cx="8629650" cy="8953500"/>
            <a:chOff x="0" y="0"/>
            <a:chExt cx="1336959" cy="13871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336959" cy="1387131"/>
            </a:xfrm>
            <a:custGeom>
              <a:avLst/>
              <a:gdLst/>
              <a:ahLst/>
              <a:cxnLst/>
              <a:rect r="r" b="b" t="t" l="l"/>
              <a:pathLst>
                <a:path h="1387131" w="1336959">
                  <a:moveTo>
                    <a:pt x="35885" y="0"/>
                  </a:moveTo>
                  <a:lnTo>
                    <a:pt x="1301073" y="0"/>
                  </a:lnTo>
                  <a:cubicBezTo>
                    <a:pt x="1310591" y="0"/>
                    <a:pt x="1319718" y="3781"/>
                    <a:pt x="1326448" y="10511"/>
                  </a:cubicBezTo>
                  <a:cubicBezTo>
                    <a:pt x="1333178" y="17240"/>
                    <a:pt x="1336959" y="26368"/>
                    <a:pt x="1336959" y="35885"/>
                  </a:cubicBezTo>
                  <a:lnTo>
                    <a:pt x="1336959" y="1351246"/>
                  </a:lnTo>
                  <a:cubicBezTo>
                    <a:pt x="1336959" y="1360764"/>
                    <a:pt x="1333178" y="1369891"/>
                    <a:pt x="1326448" y="1376621"/>
                  </a:cubicBezTo>
                  <a:cubicBezTo>
                    <a:pt x="1319718" y="1383351"/>
                    <a:pt x="1310591" y="1387131"/>
                    <a:pt x="1301073" y="1387131"/>
                  </a:cubicBezTo>
                  <a:lnTo>
                    <a:pt x="35885" y="1387131"/>
                  </a:lnTo>
                  <a:cubicBezTo>
                    <a:pt x="26368" y="1387131"/>
                    <a:pt x="17240" y="1383351"/>
                    <a:pt x="10511" y="1376621"/>
                  </a:cubicBezTo>
                  <a:cubicBezTo>
                    <a:pt x="3781" y="1369891"/>
                    <a:pt x="0" y="1360764"/>
                    <a:pt x="0" y="1351246"/>
                  </a:cubicBezTo>
                  <a:lnTo>
                    <a:pt x="0" y="35885"/>
                  </a:lnTo>
                  <a:cubicBezTo>
                    <a:pt x="0" y="26368"/>
                    <a:pt x="3781" y="17240"/>
                    <a:pt x="10511" y="10511"/>
                  </a:cubicBezTo>
                  <a:cubicBezTo>
                    <a:pt x="17240" y="3781"/>
                    <a:pt x="26368" y="0"/>
                    <a:pt x="35885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199" r="0" b="-199"/>
              </a:stretch>
            </a:blipFill>
            <a:ln w="28575" cap="rnd">
              <a:solidFill>
                <a:srgbClr val="FFFFFF"/>
              </a:solidFill>
              <a:prstDash val="solid"/>
              <a:round/>
            </a:ln>
          </p:spPr>
        </p:sp>
      </p:grpSp>
      <p:grpSp>
        <p:nvGrpSpPr>
          <p:cNvPr name="Group 5" id="5"/>
          <p:cNvGrpSpPr/>
          <p:nvPr/>
        </p:nvGrpSpPr>
        <p:grpSpPr>
          <a:xfrm rot="0">
            <a:off x="10734675" y="680185"/>
            <a:ext cx="6886575" cy="4972652"/>
            <a:chOff x="0" y="0"/>
            <a:chExt cx="9182100" cy="6630203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3482993"/>
              <a:ext cx="9182100" cy="31472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023"/>
                </a:lnSpc>
              </a:pPr>
              <a:r>
                <a:rPr lang="en-US" sz="6023">
                  <a:solidFill>
                    <a:srgbClr val="3070B3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ArchiHotel — Reservation Handling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1071668"/>
              <a:ext cx="9182100" cy="19246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880"/>
                </a:lnSpc>
              </a:pPr>
              <a:r>
                <a:rPr lang="en-US" b="true" sz="4200">
                  <a:solidFill>
                    <a:srgbClr val="282828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Enterprise Architecture Management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47625"/>
              <a:ext cx="9182100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79"/>
                </a:lnSpc>
              </a:pPr>
              <a:r>
                <a:rPr lang="en-US" sz="2199">
                  <a:solidFill>
                    <a:srgbClr val="282828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06.07.2026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268288">
            <a:off x="14795639" y="5873497"/>
            <a:ext cx="10936025" cy="10299747"/>
          </a:xfrm>
          <a:custGeom>
            <a:avLst/>
            <a:gdLst/>
            <a:ahLst/>
            <a:cxnLst/>
            <a:rect r="r" b="b" t="t" l="l"/>
            <a:pathLst>
              <a:path h="10299747" w="10936025">
                <a:moveTo>
                  <a:pt x="0" y="0"/>
                </a:moveTo>
                <a:lnTo>
                  <a:pt x="10936025" y="0"/>
                </a:lnTo>
                <a:lnTo>
                  <a:pt x="10936025" y="10299747"/>
                </a:lnTo>
                <a:lnTo>
                  <a:pt x="0" y="10299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-1268288">
            <a:off x="-6005389" y="-6781594"/>
            <a:ext cx="10936025" cy="10299747"/>
          </a:xfrm>
          <a:custGeom>
            <a:avLst/>
            <a:gdLst/>
            <a:ahLst/>
            <a:cxnLst/>
            <a:rect r="r" b="b" t="t" l="l"/>
            <a:pathLst>
              <a:path h="10299747" w="10936025">
                <a:moveTo>
                  <a:pt x="0" y="0"/>
                </a:moveTo>
                <a:lnTo>
                  <a:pt x="10936025" y="0"/>
                </a:lnTo>
                <a:lnTo>
                  <a:pt x="10936025" y="10299747"/>
                </a:lnTo>
                <a:lnTo>
                  <a:pt x="0" y="10299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4" id="4"/>
          <p:cNvSpPr txBox="true"/>
          <p:nvPr/>
        </p:nvSpPr>
        <p:spPr>
          <a:xfrm rot="0">
            <a:off x="2105025" y="3862388"/>
            <a:ext cx="12639675" cy="2280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799"/>
              </a:lnSpc>
            </a:pPr>
            <a:r>
              <a:rPr lang="en-US" sz="8799">
                <a:solidFill>
                  <a:srgbClr val="3070B3"/>
                </a:solidFill>
                <a:latin typeface="Gilda Display"/>
                <a:ea typeface="Gilda Display"/>
                <a:cs typeface="Gilda Display"/>
                <a:sym typeface="Gilda Display"/>
              </a:rPr>
              <a:t>Introduction to ArchiHotel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945975">
            <a:off x="-7194258" y="4301490"/>
            <a:ext cx="10936025" cy="10299747"/>
          </a:xfrm>
          <a:custGeom>
            <a:avLst/>
            <a:gdLst/>
            <a:ahLst/>
            <a:cxnLst/>
            <a:rect r="r" b="b" t="t" l="l"/>
            <a:pathLst>
              <a:path h="10299747" w="10936025">
                <a:moveTo>
                  <a:pt x="0" y="0"/>
                </a:moveTo>
                <a:lnTo>
                  <a:pt x="10936025" y="0"/>
                </a:lnTo>
                <a:lnTo>
                  <a:pt x="10936025" y="10299748"/>
                </a:lnTo>
                <a:lnTo>
                  <a:pt x="0" y="102997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66750" y="666750"/>
            <a:ext cx="7191375" cy="8953500"/>
            <a:chOff x="0" y="0"/>
            <a:chExt cx="1114132" cy="13871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14132" cy="1387131"/>
            </a:xfrm>
            <a:custGeom>
              <a:avLst/>
              <a:gdLst/>
              <a:ahLst/>
              <a:cxnLst/>
              <a:rect r="r" b="b" t="t" l="l"/>
              <a:pathLst>
                <a:path h="1387131" w="1114132">
                  <a:moveTo>
                    <a:pt x="43062" y="0"/>
                  </a:moveTo>
                  <a:lnTo>
                    <a:pt x="1071070" y="0"/>
                  </a:lnTo>
                  <a:cubicBezTo>
                    <a:pt x="1094853" y="0"/>
                    <a:pt x="1114132" y="19280"/>
                    <a:pt x="1114132" y="43062"/>
                  </a:cubicBezTo>
                  <a:lnTo>
                    <a:pt x="1114132" y="1344069"/>
                  </a:lnTo>
                  <a:cubicBezTo>
                    <a:pt x="1114132" y="1367852"/>
                    <a:pt x="1094853" y="1387131"/>
                    <a:pt x="1071070" y="1387131"/>
                  </a:cubicBezTo>
                  <a:lnTo>
                    <a:pt x="43062" y="1387131"/>
                  </a:lnTo>
                  <a:cubicBezTo>
                    <a:pt x="19280" y="1387131"/>
                    <a:pt x="0" y="1367852"/>
                    <a:pt x="0" y="1344069"/>
                  </a:cubicBezTo>
                  <a:lnTo>
                    <a:pt x="0" y="43062"/>
                  </a:lnTo>
                  <a:cubicBezTo>
                    <a:pt x="0" y="19280"/>
                    <a:pt x="19280" y="0"/>
                    <a:pt x="43062" y="0"/>
                  </a:cubicBezTo>
                  <a:close/>
                </a:path>
              </a:pathLst>
            </a:custGeom>
            <a:blipFill>
              <a:blip r:embed="rId4"/>
              <a:stretch>
                <a:fillRect l="-346" t="0" r="-346" b="0"/>
              </a:stretch>
            </a:blipFill>
            <a:ln w="28575" cap="rnd">
              <a:solidFill>
                <a:srgbClr val="FFFFFF"/>
              </a:solidFill>
              <a:prstDash val="solid"/>
              <a:round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9296400" y="838173"/>
            <a:ext cx="8324850" cy="2280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799"/>
              </a:lnSpc>
            </a:pPr>
            <a:r>
              <a:rPr lang="en-US" sz="8799">
                <a:solidFill>
                  <a:srgbClr val="3070B3"/>
                </a:solidFill>
                <a:latin typeface="Gilda Display"/>
                <a:ea typeface="Gilda Display"/>
                <a:cs typeface="Gilda Display"/>
                <a:sym typeface="Gilda Display"/>
              </a:rPr>
              <a:t>The Abstract EA Model</a:t>
            </a:r>
          </a:p>
        </p:txBody>
      </p:sp>
      <p:pic>
        <p:nvPicPr>
          <p:cNvPr id="6" name="Picture 5" descr="abstr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467060"/>
            <a:ext cx="9052560" cy="641611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945975">
            <a:off x="15101778" y="-5016438"/>
            <a:ext cx="10936025" cy="10299747"/>
          </a:xfrm>
          <a:custGeom>
            <a:avLst/>
            <a:gdLst/>
            <a:ahLst/>
            <a:cxnLst/>
            <a:rect r="r" b="b" t="t" l="l"/>
            <a:pathLst>
              <a:path h="10299747" w="10936025">
                <a:moveTo>
                  <a:pt x="0" y="0"/>
                </a:moveTo>
                <a:lnTo>
                  <a:pt x="10936025" y="0"/>
                </a:lnTo>
                <a:lnTo>
                  <a:pt x="10936025" y="10299748"/>
                </a:lnTo>
                <a:lnTo>
                  <a:pt x="0" y="102997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429875" y="666750"/>
            <a:ext cx="7191375" cy="8953500"/>
            <a:chOff x="0" y="0"/>
            <a:chExt cx="1114132" cy="13871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14132" cy="1387131"/>
            </a:xfrm>
            <a:custGeom>
              <a:avLst/>
              <a:gdLst/>
              <a:ahLst/>
              <a:cxnLst/>
              <a:rect r="r" b="b" t="t" l="l"/>
              <a:pathLst>
                <a:path h="1387131" w="1114132">
                  <a:moveTo>
                    <a:pt x="43062" y="0"/>
                  </a:moveTo>
                  <a:lnTo>
                    <a:pt x="1071070" y="0"/>
                  </a:lnTo>
                  <a:cubicBezTo>
                    <a:pt x="1094853" y="0"/>
                    <a:pt x="1114132" y="19280"/>
                    <a:pt x="1114132" y="43062"/>
                  </a:cubicBezTo>
                  <a:lnTo>
                    <a:pt x="1114132" y="1344069"/>
                  </a:lnTo>
                  <a:cubicBezTo>
                    <a:pt x="1114132" y="1367852"/>
                    <a:pt x="1094853" y="1387131"/>
                    <a:pt x="1071070" y="1387131"/>
                  </a:cubicBezTo>
                  <a:lnTo>
                    <a:pt x="43062" y="1387131"/>
                  </a:lnTo>
                  <a:cubicBezTo>
                    <a:pt x="19280" y="1387131"/>
                    <a:pt x="0" y="1367852"/>
                    <a:pt x="0" y="1344069"/>
                  </a:cubicBezTo>
                  <a:lnTo>
                    <a:pt x="0" y="43062"/>
                  </a:lnTo>
                  <a:cubicBezTo>
                    <a:pt x="0" y="19280"/>
                    <a:pt x="19280" y="0"/>
                    <a:pt x="43062" y="0"/>
                  </a:cubicBezTo>
                  <a:close/>
                </a:path>
              </a:pathLst>
            </a:custGeom>
            <a:blipFill>
              <a:blip r:embed="rId4"/>
              <a:stretch>
                <a:fillRect l="-346" t="0" r="-346" b="0"/>
              </a:stretch>
            </a:blipFill>
            <a:ln w="28575" cap="rnd">
              <a:solidFill>
                <a:srgbClr val="FFFFFF"/>
              </a:solidFill>
              <a:prstDash val="solid"/>
              <a:round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666750" y="838173"/>
            <a:ext cx="8324850" cy="2280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799"/>
              </a:lnSpc>
            </a:pPr>
            <a:r>
              <a:rPr lang="en-US" sz="8799">
                <a:solidFill>
                  <a:srgbClr val="3070B3"/>
                </a:solidFill>
                <a:latin typeface="Gilda Display"/>
                <a:ea typeface="Gilda Display"/>
                <a:cs typeface="Gilda Display"/>
                <a:sym typeface="Gilda Display"/>
              </a:rPr>
              <a:t>Focus Area F1 Overview</a:t>
            </a:r>
          </a:p>
        </p:txBody>
      </p:sp>
      <p:pic>
        <p:nvPicPr>
          <p:cNvPr id="6" name="Picture 5" descr="abstract_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473" y="3383280"/>
            <a:ext cx="9288973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945975">
            <a:off x="-7194258" y="4301490"/>
            <a:ext cx="10936025" cy="10299747"/>
          </a:xfrm>
          <a:custGeom>
            <a:avLst/>
            <a:gdLst/>
            <a:ahLst/>
            <a:cxnLst/>
            <a:rect r="r" b="b" t="t" l="l"/>
            <a:pathLst>
              <a:path h="10299747" w="10936025">
                <a:moveTo>
                  <a:pt x="0" y="0"/>
                </a:moveTo>
                <a:lnTo>
                  <a:pt x="10936025" y="0"/>
                </a:lnTo>
                <a:lnTo>
                  <a:pt x="10936025" y="10299748"/>
                </a:lnTo>
                <a:lnTo>
                  <a:pt x="0" y="102997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66750" y="666750"/>
            <a:ext cx="7191375" cy="8953500"/>
            <a:chOff x="0" y="0"/>
            <a:chExt cx="1114132" cy="13871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14132" cy="1387131"/>
            </a:xfrm>
            <a:custGeom>
              <a:avLst/>
              <a:gdLst/>
              <a:ahLst/>
              <a:cxnLst/>
              <a:rect r="r" b="b" t="t" l="l"/>
              <a:pathLst>
                <a:path h="1387131" w="1114132">
                  <a:moveTo>
                    <a:pt x="43062" y="0"/>
                  </a:moveTo>
                  <a:lnTo>
                    <a:pt x="1071070" y="0"/>
                  </a:lnTo>
                  <a:cubicBezTo>
                    <a:pt x="1094853" y="0"/>
                    <a:pt x="1114132" y="19280"/>
                    <a:pt x="1114132" y="43062"/>
                  </a:cubicBezTo>
                  <a:lnTo>
                    <a:pt x="1114132" y="1344069"/>
                  </a:lnTo>
                  <a:cubicBezTo>
                    <a:pt x="1114132" y="1367852"/>
                    <a:pt x="1094853" y="1387131"/>
                    <a:pt x="1071070" y="1387131"/>
                  </a:cubicBezTo>
                  <a:lnTo>
                    <a:pt x="43062" y="1387131"/>
                  </a:lnTo>
                  <a:cubicBezTo>
                    <a:pt x="19280" y="1387131"/>
                    <a:pt x="0" y="1367852"/>
                    <a:pt x="0" y="1344069"/>
                  </a:cubicBezTo>
                  <a:lnTo>
                    <a:pt x="0" y="43062"/>
                  </a:lnTo>
                  <a:cubicBezTo>
                    <a:pt x="0" y="19280"/>
                    <a:pt x="19280" y="0"/>
                    <a:pt x="43062" y="0"/>
                  </a:cubicBezTo>
                  <a:close/>
                </a:path>
              </a:pathLst>
            </a:custGeom>
            <a:blipFill>
              <a:blip r:embed="rId4"/>
              <a:stretch>
                <a:fillRect l="-346" t="0" r="-346" b="0"/>
              </a:stretch>
            </a:blipFill>
            <a:ln w="28575" cap="rnd">
              <a:solidFill>
                <a:srgbClr val="FFFFFF"/>
              </a:solidFill>
              <a:prstDash val="solid"/>
              <a:round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9296400" y="838173"/>
            <a:ext cx="8324850" cy="2280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799"/>
              </a:lnSpc>
            </a:pPr>
            <a:r>
              <a:rPr lang="en-US" sz="8799">
                <a:solidFill>
                  <a:srgbClr val="3070B3"/>
                </a:solidFill>
                <a:latin typeface="Gilda Display"/>
                <a:ea typeface="Gilda Display"/>
                <a:cs typeface="Gilda Display"/>
                <a:sym typeface="Gilda Display"/>
              </a:rPr>
              <a:t>Business Layer Overview</a:t>
            </a:r>
          </a:p>
        </p:txBody>
      </p:sp>
      <p:pic>
        <p:nvPicPr>
          <p:cNvPr id="6" name="Picture 5" descr="det_busin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0832" y="3383280"/>
            <a:ext cx="7407375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945975">
            <a:off x="-7194258" y="4301490"/>
            <a:ext cx="10936025" cy="10299747"/>
          </a:xfrm>
          <a:custGeom>
            <a:avLst/>
            <a:gdLst/>
            <a:ahLst/>
            <a:cxnLst/>
            <a:rect r="r" b="b" t="t" l="l"/>
            <a:pathLst>
              <a:path h="10299747" w="10936025">
                <a:moveTo>
                  <a:pt x="0" y="0"/>
                </a:moveTo>
                <a:lnTo>
                  <a:pt x="10936025" y="0"/>
                </a:lnTo>
                <a:lnTo>
                  <a:pt x="10936025" y="10299748"/>
                </a:lnTo>
                <a:lnTo>
                  <a:pt x="0" y="102997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66750" y="666750"/>
            <a:ext cx="7191375" cy="8953500"/>
            <a:chOff x="0" y="0"/>
            <a:chExt cx="1114132" cy="13871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14132" cy="1387131"/>
            </a:xfrm>
            <a:custGeom>
              <a:avLst/>
              <a:gdLst/>
              <a:ahLst/>
              <a:cxnLst/>
              <a:rect r="r" b="b" t="t" l="l"/>
              <a:pathLst>
                <a:path h="1387131" w="1114132">
                  <a:moveTo>
                    <a:pt x="43062" y="0"/>
                  </a:moveTo>
                  <a:lnTo>
                    <a:pt x="1071070" y="0"/>
                  </a:lnTo>
                  <a:cubicBezTo>
                    <a:pt x="1094853" y="0"/>
                    <a:pt x="1114132" y="19280"/>
                    <a:pt x="1114132" y="43062"/>
                  </a:cubicBezTo>
                  <a:lnTo>
                    <a:pt x="1114132" y="1344069"/>
                  </a:lnTo>
                  <a:cubicBezTo>
                    <a:pt x="1114132" y="1367852"/>
                    <a:pt x="1094853" y="1387131"/>
                    <a:pt x="1071070" y="1387131"/>
                  </a:cubicBezTo>
                  <a:lnTo>
                    <a:pt x="43062" y="1387131"/>
                  </a:lnTo>
                  <a:cubicBezTo>
                    <a:pt x="19280" y="1387131"/>
                    <a:pt x="0" y="1367852"/>
                    <a:pt x="0" y="1344069"/>
                  </a:cubicBezTo>
                  <a:lnTo>
                    <a:pt x="0" y="43062"/>
                  </a:lnTo>
                  <a:cubicBezTo>
                    <a:pt x="0" y="19280"/>
                    <a:pt x="19280" y="0"/>
                    <a:pt x="43062" y="0"/>
                  </a:cubicBezTo>
                  <a:close/>
                </a:path>
              </a:pathLst>
            </a:custGeom>
            <a:blipFill>
              <a:blip r:embed="rId4"/>
              <a:stretch>
                <a:fillRect l="-346" t="0" r="-346" b="0"/>
              </a:stretch>
            </a:blipFill>
            <a:ln w="28575" cap="rnd">
              <a:solidFill>
                <a:srgbClr val="FFFFFF"/>
              </a:solidFill>
              <a:prstDash val="solid"/>
              <a:round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9296400" y="838173"/>
            <a:ext cx="8324850" cy="2280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799"/>
              </a:lnSpc>
            </a:pPr>
            <a:r>
              <a:rPr lang="en-US" sz="8799">
                <a:solidFill>
                  <a:srgbClr val="3070B3"/>
                </a:solidFill>
                <a:latin typeface="Gilda Display"/>
                <a:ea typeface="Gilda Display"/>
                <a:cs typeface="Gilda Display"/>
                <a:sym typeface="Gilda Display"/>
              </a:rPr>
              <a:t>Application Layer Overview</a:t>
            </a:r>
          </a:p>
        </p:txBody>
      </p:sp>
      <p:pic>
        <p:nvPicPr>
          <p:cNvPr id="6" name="Picture 5" descr="det_applic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4111480"/>
            <a:ext cx="9052560" cy="51272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945975">
            <a:off x="-7194258" y="4301490"/>
            <a:ext cx="10936025" cy="10299747"/>
          </a:xfrm>
          <a:custGeom>
            <a:avLst/>
            <a:gdLst/>
            <a:ahLst/>
            <a:cxnLst/>
            <a:rect r="r" b="b" t="t" l="l"/>
            <a:pathLst>
              <a:path h="10299747" w="10936025">
                <a:moveTo>
                  <a:pt x="0" y="0"/>
                </a:moveTo>
                <a:lnTo>
                  <a:pt x="10936025" y="0"/>
                </a:lnTo>
                <a:lnTo>
                  <a:pt x="10936025" y="10299748"/>
                </a:lnTo>
                <a:lnTo>
                  <a:pt x="0" y="102997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66750" y="666750"/>
            <a:ext cx="7191375" cy="8953500"/>
            <a:chOff x="0" y="0"/>
            <a:chExt cx="1114132" cy="138713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14132" cy="1387131"/>
            </a:xfrm>
            <a:custGeom>
              <a:avLst/>
              <a:gdLst/>
              <a:ahLst/>
              <a:cxnLst/>
              <a:rect r="r" b="b" t="t" l="l"/>
              <a:pathLst>
                <a:path h="1387131" w="1114132">
                  <a:moveTo>
                    <a:pt x="43062" y="0"/>
                  </a:moveTo>
                  <a:lnTo>
                    <a:pt x="1071070" y="0"/>
                  </a:lnTo>
                  <a:cubicBezTo>
                    <a:pt x="1094853" y="0"/>
                    <a:pt x="1114132" y="19280"/>
                    <a:pt x="1114132" y="43062"/>
                  </a:cubicBezTo>
                  <a:lnTo>
                    <a:pt x="1114132" y="1344069"/>
                  </a:lnTo>
                  <a:cubicBezTo>
                    <a:pt x="1114132" y="1367852"/>
                    <a:pt x="1094853" y="1387131"/>
                    <a:pt x="1071070" y="1387131"/>
                  </a:cubicBezTo>
                  <a:lnTo>
                    <a:pt x="43062" y="1387131"/>
                  </a:lnTo>
                  <a:cubicBezTo>
                    <a:pt x="19280" y="1387131"/>
                    <a:pt x="0" y="1367852"/>
                    <a:pt x="0" y="1344069"/>
                  </a:cubicBezTo>
                  <a:lnTo>
                    <a:pt x="0" y="43062"/>
                  </a:lnTo>
                  <a:cubicBezTo>
                    <a:pt x="0" y="19280"/>
                    <a:pt x="19280" y="0"/>
                    <a:pt x="43062" y="0"/>
                  </a:cubicBezTo>
                  <a:close/>
                </a:path>
              </a:pathLst>
            </a:custGeom>
            <a:blipFill>
              <a:blip r:embed="rId4"/>
              <a:stretch>
                <a:fillRect l="-346" t="0" r="-346" b="0"/>
              </a:stretch>
            </a:blipFill>
            <a:ln w="28575" cap="rnd">
              <a:solidFill>
                <a:srgbClr val="FFFFFF"/>
              </a:solidFill>
              <a:prstDash val="solid"/>
              <a:round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9296400" y="838173"/>
            <a:ext cx="8324850" cy="3395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799"/>
              </a:lnSpc>
            </a:pPr>
            <a:r>
              <a:rPr lang="en-US" sz="8799">
                <a:solidFill>
                  <a:srgbClr val="3070B3"/>
                </a:solidFill>
                <a:latin typeface="Gilda Display"/>
                <a:ea typeface="Gilda Display"/>
                <a:cs typeface="Gilda Display"/>
                <a:sym typeface="Gilda Display"/>
              </a:rPr>
              <a:t>Detailed Model — Technology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4572000"/>
            <a:ext cx="9052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00000"/>
                </a:solidFill>
              </a:rPr>
              <a:t>⚠ Technology layer not yet modelled in Archi.
Add Nodes (AWS Cloud Server, Reception Workstation, Staff Smartphones, Key-Card Encoder) + Networks (Hotel Wi-Fi, Internet) with explicit communication, then re-export.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105025" y="3002297"/>
            <a:ext cx="12639675" cy="3914808"/>
            <a:chOff x="0" y="0"/>
            <a:chExt cx="16852900" cy="5219744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171450"/>
              <a:ext cx="16852900" cy="16124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799"/>
                </a:lnSpc>
              </a:pPr>
              <a:r>
                <a:rPr lang="en-US" sz="8799">
                  <a:solidFill>
                    <a:srgbClr val="3070B3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Reflection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3251244"/>
              <a:ext cx="16852900" cy="1968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900"/>
                </a:lnSpc>
              </a:pPr>
              <a:r>
                <a:rPr lang="en-US" sz="3000">
                  <a:solidFill>
                    <a:srgbClr val="282828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The </a:t>
              </a:r>
              <a:r>
                <a:rPr lang="en-US" b="true" sz="3000">
                  <a:solidFill>
                    <a:srgbClr val="282828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HMS provides clarity</a:t>
              </a:r>
              <a:r>
                <a:rPr lang="en-US" sz="3000">
                  <a:solidFill>
                    <a:srgbClr val="282828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 and shared terminology, yet it lacks governance and motivation layers, highlighting the complexities and trade-offs in Enterprise Architecture Management.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2086063"/>
              <a:ext cx="16852900" cy="6191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00"/>
                </a:lnSpc>
              </a:pPr>
              <a:r>
                <a:rPr lang="en-US" b="true" sz="3000">
                  <a:solidFill>
                    <a:srgbClr val="3070B3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Insights on Value, Limitations, and Challenges</a:t>
              </a: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-1268288">
            <a:off x="14795639" y="5873497"/>
            <a:ext cx="10936025" cy="10299747"/>
          </a:xfrm>
          <a:custGeom>
            <a:avLst/>
            <a:gdLst/>
            <a:ahLst/>
            <a:cxnLst/>
            <a:rect r="r" b="b" t="t" l="l"/>
            <a:pathLst>
              <a:path h="10299747" w="10936025">
                <a:moveTo>
                  <a:pt x="0" y="0"/>
                </a:moveTo>
                <a:lnTo>
                  <a:pt x="10936025" y="0"/>
                </a:lnTo>
                <a:lnTo>
                  <a:pt x="10936025" y="10299747"/>
                </a:lnTo>
                <a:lnTo>
                  <a:pt x="0" y="10299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070B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9474064">
            <a:off x="14221481" y="6404997"/>
            <a:ext cx="9086976" cy="8558279"/>
          </a:xfrm>
          <a:custGeom>
            <a:avLst/>
            <a:gdLst/>
            <a:ahLst/>
            <a:cxnLst/>
            <a:rect r="r" b="b" t="t" l="l"/>
            <a:pathLst>
              <a:path h="8558279" w="9086976">
                <a:moveTo>
                  <a:pt x="0" y="0"/>
                </a:moveTo>
                <a:lnTo>
                  <a:pt x="9086976" y="0"/>
                </a:lnTo>
                <a:lnTo>
                  <a:pt x="9086976" y="8558279"/>
                </a:lnTo>
                <a:lnTo>
                  <a:pt x="0" y="85582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4248150"/>
            <a:ext cx="16182975" cy="6038850"/>
            <a:chOff x="0" y="0"/>
            <a:chExt cx="217815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78150" cy="812800"/>
            </a:xfrm>
            <a:custGeom>
              <a:avLst/>
              <a:gdLst/>
              <a:ahLst/>
              <a:cxnLst/>
              <a:rect r="r" b="b" t="t" l="l"/>
              <a:pathLst>
                <a:path h="812800" w="2178150">
                  <a:moveTo>
                    <a:pt x="19136" y="0"/>
                  </a:moveTo>
                  <a:lnTo>
                    <a:pt x="2159014" y="0"/>
                  </a:lnTo>
                  <a:cubicBezTo>
                    <a:pt x="2169583" y="0"/>
                    <a:pt x="2178150" y="8567"/>
                    <a:pt x="2178150" y="19136"/>
                  </a:cubicBezTo>
                  <a:lnTo>
                    <a:pt x="2178150" y="793664"/>
                  </a:lnTo>
                  <a:cubicBezTo>
                    <a:pt x="2178150" y="804233"/>
                    <a:pt x="2169583" y="812800"/>
                    <a:pt x="2159014" y="812800"/>
                  </a:cubicBezTo>
                  <a:lnTo>
                    <a:pt x="19136" y="812800"/>
                  </a:lnTo>
                  <a:cubicBezTo>
                    <a:pt x="8567" y="812800"/>
                    <a:pt x="0" y="804233"/>
                    <a:pt x="0" y="793664"/>
                  </a:cubicBezTo>
                  <a:lnTo>
                    <a:pt x="0" y="19136"/>
                  </a:lnTo>
                  <a:cubicBezTo>
                    <a:pt x="0" y="8567"/>
                    <a:pt x="8567" y="0"/>
                    <a:pt x="19136" y="0"/>
                  </a:cubicBezTo>
                  <a:close/>
                </a:path>
              </a:pathLst>
            </a:custGeom>
            <a:blipFill>
              <a:blip r:embed="rId4"/>
              <a:stretch>
                <a:fillRect l="-257" t="0" r="-257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666750" y="838200"/>
            <a:ext cx="15516225" cy="1166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799"/>
              </a:lnSpc>
            </a:pPr>
            <a:r>
              <a:rPr lang="en-US" sz="8799">
                <a:solidFill>
                  <a:srgbClr val="FFFFFF"/>
                </a:solidFill>
                <a:latin typeface="Gilda Display"/>
                <a:ea typeface="Gilda Display"/>
                <a:cs typeface="Gilda Display"/>
                <a:sym typeface="Gilda Display"/>
              </a:rPr>
              <a:t>Summary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9300848">
            <a:off x="12064338" y="5278644"/>
            <a:ext cx="13730046" cy="12931207"/>
          </a:xfrm>
          <a:custGeom>
            <a:avLst/>
            <a:gdLst/>
            <a:ahLst/>
            <a:cxnLst/>
            <a:rect r="r" b="b" t="t" l="l"/>
            <a:pathLst>
              <a:path h="12931207" w="13730046">
                <a:moveTo>
                  <a:pt x="0" y="0"/>
                </a:moveTo>
                <a:lnTo>
                  <a:pt x="13730046" y="0"/>
                </a:lnTo>
                <a:lnTo>
                  <a:pt x="13730046" y="12931207"/>
                </a:lnTo>
                <a:lnTo>
                  <a:pt x="0" y="129312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3" id="3"/>
          <p:cNvSpPr txBox="true"/>
          <p:nvPr/>
        </p:nvSpPr>
        <p:spPr>
          <a:xfrm rot="0">
            <a:off x="666750" y="838200"/>
            <a:ext cx="12944475" cy="1166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799"/>
              </a:lnSpc>
            </a:pPr>
            <a:r>
              <a:rPr lang="en-US" sz="8799">
                <a:solidFill>
                  <a:srgbClr val="3070B3"/>
                </a:solidFill>
                <a:latin typeface="Gilda Display"/>
                <a:ea typeface="Gilda Display"/>
                <a:cs typeface="Gilda Display"/>
                <a:sym typeface="Gilda Display"/>
              </a:rPr>
              <a:t>Thank You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666750" y="2457450"/>
            <a:ext cx="8324850" cy="4375123"/>
            <a:chOff x="0" y="0"/>
            <a:chExt cx="11099800" cy="5833497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-9525"/>
              <a:ext cx="11099800" cy="4540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639"/>
                </a:lnSpc>
              </a:pPr>
              <a:r>
                <a:rPr lang="en-US" b="true" sz="2199">
                  <a:solidFill>
                    <a:srgbClr val="282828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Phone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410633"/>
              <a:ext cx="11099800" cy="647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900"/>
                </a:lnSpc>
              </a:pPr>
              <a:r>
                <a:rPr lang="en-US" sz="3000">
                  <a:solidFill>
                    <a:srgbClr val="3070B3"/>
                  </a:solidFill>
                  <a:latin typeface="HK Grotesk"/>
                  <a:ea typeface="HK Grotesk"/>
                  <a:cs typeface="HK Grotesk"/>
                  <a:sym typeface="HK Grotesk"/>
                </a:rPr>
                <a:t>123-456-7890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2378039"/>
              <a:ext cx="11099800" cy="4540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639"/>
                </a:lnSpc>
              </a:pPr>
              <a:r>
                <a:rPr lang="en-US" b="true" sz="2199" u="none">
                  <a:solidFill>
                    <a:srgbClr val="282828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Email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793964"/>
              <a:ext cx="11099800" cy="647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900"/>
                </a:lnSpc>
              </a:pPr>
              <a:r>
                <a:rPr lang="en-US" sz="3000" u="none">
                  <a:solidFill>
                    <a:srgbClr val="3070B3"/>
                  </a:solidFill>
                  <a:latin typeface="HK Grotesk"/>
                  <a:ea typeface="HK Grotesk"/>
                  <a:cs typeface="HK Grotesk"/>
                  <a:sym typeface="HK Grotesk"/>
                </a:rPr>
                <a:t>hello@reallygreatsite.com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4765639"/>
              <a:ext cx="11099800" cy="4540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639"/>
                </a:lnSpc>
              </a:pPr>
              <a:r>
                <a:rPr lang="en-US" b="true" sz="2199">
                  <a:solidFill>
                    <a:srgbClr val="282828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Social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5185797"/>
              <a:ext cx="11099800" cy="647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900"/>
                </a:lnSpc>
              </a:pPr>
              <a:r>
                <a:rPr lang="en-US" sz="3000">
                  <a:solidFill>
                    <a:srgbClr val="3070B3"/>
                  </a:solidFill>
                  <a:latin typeface="HK Grotesk"/>
                  <a:ea typeface="HK Grotesk"/>
                  <a:cs typeface="HK Grotesk"/>
                  <a:sym typeface="HK Grotesk"/>
                </a:rPr>
                <a:t>@reallygreatsite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ArchiHotel — Reservation Handling</dc:description>
  <dc:identifier>DAHN-KCvUTY</dc:identifier>
  <dcterms:modified xsi:type="dcterms:W3CDTF">2011-08-01T06:04:30Z</dcterms:modified>
  <cp:revision>1</cp:revision>
  <dc:title>Presentation - ArchiHotel — Reservation Handling</dc:title>
</cp:coreProperties>
</file>