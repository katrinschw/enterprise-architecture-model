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3" r:id="rId1"/>
    <p:sldMasterId id="2147483722" r:id="rId2"/>
    <p:sldMasterId id="2147483668" r:id="rId3"/>
    <p:sldMasterId id="2147483674" r:id="rId4"/>
    <p:sldMasterId id="2147483648" r:id="rId5"/>
    <p:sldMasterId id="2147483684" r:id="rId6"/>
    <p:sldMasterId id="2147483697" r:id="rId7"/>
  </p:sldMasterIdLst>
  <p:notesMasterIdLst>
    <p:notesMasterId r:id="rId35"/>
  </p:notesMasterIdLst>
  <p:handoutMasterIdLst>
    <p:handoutMasterId r:id="rId36"/>
  </p:handout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 id="270" r:id="rId29"/>
  </p:sldIdLst>
  <p:sldSz cx="9144000" cy="5143500" type="screen16x9"/>
  <p:notesSz cx="9925050" cy="6665913"/>
  <p:defaultTex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4" userDrawn="1">
          <p15:clr>
            <a:srgbClr val="A4A3A4"/>
          </p15:clr>
        </p15:guide>
        <p15:guide id="2" pos="2880">
          <p15:clr>
            <a:srgbClr val="A4A3A4"/>
          </p15:clr>
        </p15:guide>
        <p15:guide id="3" orient="horz" pos="1620">
          <p15:clr>
            <a:srgbClr val="A4A3A4"/>
          </p15:clr>
        </p15:guide>
      </p15:sldGuideLst>
    </p:ext>
    <p:ext uri="{2D200454-40CA-4A62-9FC3-DE9A4176ACB9}">
      <p15:notesGuideLst xmlns:p15="http://schemas.microsoft.com/office/powerpoint/2012/main">
        <p15:guide id="1" orient="horz" pos="2100">
          <p15:clr>
            <a:srgbClr val="A4A3A4"/>
          </p15:clr>
        </p15:guide>
        <p15:guide id="2" pos="312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9999"/>
    <a:srgbClr val="98C6EA"/>
    <a:srgbClr val="0052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5CF61DF-608A-4863-8EEB-B13EAF41BFD5}" v="328" dt="2020-10-04T01:50:20.975"/>
  </p1510:revLst>
</p1510:revInfo>
</file>

<file path=ppt/tableStyles.xml><?xml version="1.0" encoding="utf-8"?>
<a:tblStyleLst xmlns:a="http://schemas.openxmlformats.org/drawingml/2006/main" def="{2D5ABB26-0587-4C30-8999-92F81FD0307C}">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269D01E-BC32-4049-B463-5C60D7B0CCD2}" styleName="Designformatvorlage 2 - Akz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D083AE6-46FA-4A59-8FB0-9F97EB10719F}" styleName="Helle Formatvorlage 3 - Akz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C4B1156A-380E-4F78-BDF5-A606A8083BF9}" styleName="Mittlere Formatvorlage 4 - Akz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4C1A8A3-306A-4EB7-A6B1-4F7E0EB9C5D6}" styleName="Mittlere Formatvorlage 3 - Akz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939" autoAdjust="0"/>
    <p:restoredTop sz="88272" autoAdjust="0"/>
  </p:normalViewPr>
  <p:slideViewPr>
    <p:cSldViewPr snapToGrid="0">
      <p:cViewPr varScale="1">
        <p:scale>
          <a:sx n="58" d="100"/>
          <a:sy n="58" d="100"/>
        </p:scale>
        <p:origin x="62" y="62"/>
      </p:cViewPr>
      <p:guideLst>
        <p:guide orient="horz" pos="2164"/>
        <p:guide pos="2880"/>
        <p:guide orient="horz" pos="162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131" d="100"/>
          <a:sy n="131" d="100"/>
        </p:scale>
        <p:origin x="-810" y="-96"/>
      </p:cViewPr>
      <p:guideLst>
        <p:guide orient="horz" pos="2100"/>
        <p:guide pos="3126"/>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5" Type="http://schemas.openxmlformats.org/officeDocument/2006/relationships/notesMaster" Target="notesMasters/notesMaster1.xml"/><Relationship Id="rId36" Type="http://schemas.openxmlformats.org/officeDocument/2006/relationships/handoutMaster" Target="handoutMasters/handout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dirty="0"/>
          </a:p>
        </p:txBody>
      </p:sp>
      <p:sp>
        <p:nvSpPr>
          <p:cNvPr id="3" name="Datumsplatzhalter 2"/>
          <p:cNvSpPr>
            <a:spLocks noGrp="1"/>
          </p:cNvSpPr>
          <p:nvPr>
            <p:ph type="dt" sz="quarter"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Arial" pitchFamily="34" charset="0"/>
                <a:cs typeface="Arial" pitchFamily="34" charset="0"/>
              </a:defRPr>
            </a:lvl1pPr>
          </a:lstStyle>
          <a:p>
            <a:pPr>
              <a:defRPr/>
            </a:pPr>
            <a:fld id="{20751376-2EB8-4403-B858-305A8AAA6B01}" type="datetimeFigureOut">
              <a:rPr lang="en-GB"/>
              <a:pPr>
                <a:defRPr/>
              </a:pPr>
              <a:t>26/10/2022</a:t>
            </a:fld>
            <a:endParaRPr lang="en-GB" dirty="0"/>
          </a:p>
        </p:txBody>
      </p:sp>
      <p:sp>
        <p:nvSpPr>
          <p:cNvPr id="4" name="Fußzeilenplatzhalter 3"/>
          <p:cNvSpPr>
            <a:spLocks noGrp="1"/>
          </p:cNvSpPr>
          <p:nvPr>
            <p:ph type="ftr" sz="quarter" idx="2"/>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5" name="Foliennummernplatzhalter 4"/>
          <p:cNvSpPr>
            <a:spLocks noGrp="1"/>
          </p:cNvSpPr>
          <p:nvPr>
            <p:ph type="sldNum" sz="quarter" idx="3"/>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Arial" pitchFamily="34" charset="0"/>
                <a:cs typeface="Arial" pitchFamily="34" charset="0"/>
              </a:defRPr>
            </a:lvl1pPr>
          </a:lstStyle>
          <a:p>
            <a:pPr>
              <a:defRPr/>
            </a:pPr>
            <a:fld id="{62C15F7A-46C6-4AD2-BFEC-842DCCCC19C4}" type="slidenum">
              <a:rPr lang="en-GB"/>
              <a:pPr>
                <a:defRPr/>
              </a:pPr>
              <a:t>‹#›</a:t>
            </a:fld>
            <a:endParaRPr lang="en-GB"/>
          </a:p>
        </p:txBody>
      </p:sp>
    </p:spTree>
    <p:extLst>
      <p:ext uri="{BB962C8B-B14F-4D97-AF65-F5344CB8AC3E}">
        <p14:creationId xmlns:p14="http://schemas.microsoft.com/office/powerpoint/2010/main" val="28290957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3" name="Datumsplatzhalter 2"/>
          <p:cNvSpPr>
            <a:spLocks noGrp="1"/>
          </p:cNvSpPr>
          <p:nvPr>
            <p:ph type="dt"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mn-lt"/>
                <a:cs typeface="+mn-cs"/>
              </a:defRPr>
            </a:lvl1pPr>
          </a:lstStyle>
          <a:p>
            <a:pPr>
              <a:defRPr/>
            </a:pPr>
            <a:fld id="{89C46BC9-2C9E-4670-A85A-6A588BA2D405}" type="datetimeFigureOut">
              <a:rPr lang="en-GB"/>
              <a:pPr>
                <a:defRPr/>
              </a:pPr>
              <a:t>26/10/2022</a:t>
            </a:fld>
            <a:endParaRPr lang="en-GB"/>
          </a:p>
        </p:txBody>
      </p:sp>
      <p:sp>
        <p:nvSpPr>
          <p:cNvPr id="4" name="Folienbildplatzhalter 3"/>
          <p:cNvSpPr>
            <a:spLocks noGrp="1" noRot="1" noChangeAspect="1"/>
          </p:cNvSpPr>
          <p:nvPr>
            <p:ph type="sldImg" idx="2"/>
          </p:nvPr>
        </p:nvSpPr>
        <p:spPr>
          <a:xfrm>
            <a:off x="2740025" y="500063"/>
            <a:ext cx="4445000" cy="2500312"/>
          </a:xfrm>
          <a:prstGeom prst="rect">
            <a:avLst/>
          </a:prstGeom>
          <a:noFill/>
          <a:ln w="12700">
            <a:solidFill>
              <a:prstClr val="black"/>
            </a:solidFill>
          </a:ln>
        </p:spPr>
        <p:txBody>
          <a:bodyPr vert="horz" lIns="90708" tIns="45354" rIns="90708" bIns="45354" rtlCol="0" anchor="ctr"/>
          <a:lstStyle/>
          <a:p>
            <a:pPr lvl="0"/>
            <a:endParaRPr lang="en-GB" noProof="0"/>
          </a:p>
        </p:txBody>
      </p:sp>
      <p:sp>
        <p:nvSpPr>
          <p:cNvPr id="5" name="Notizenplatzhalter 4"/>
          <p:cNvSpPr>
            <a:spLocks noGrp="1"/>
          </p:cNvSpPr>
          <p:nvPr>
            <p:ph type="body" sz="quarter" idx="3"/>
          </p:nvPr>
        </p:nvSpPr>
        <p:spPr>
          <a:xfrm>
            <a:off x="992506" y="3166309"/>
            <a:ext cx="7940040" cy="2999661"/>
          </a:xfrm>
          <a:prstGeom prst="rect">
            <a:avLst/>
          </a:prstGeom>
        </p:spPr>
        <p:txBody>
          <a:bodyPr vert="horz" wrap="square" lIns="90708" tIns="45354" rIns="90708" bIns="45354" numCol="1" anchor="t" anchorCtr="0" compatLnSpc="1">
            <a:prstTxWarp prst="textNoShape">
              <a:avLst/>
            </a:prstTxWarp>
            <a:normAutofit/>
          </a:bodyPr>
          <a:lstStyle/>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endParaRPr lang="en-GB" dirty="0"/>
          </a:p>
        </p:txBody>
      </p:sp>
      <p:sp>
        <p:nvSpPr>
          <p:cNvPr id="6" name="Fußzeilenplatzhalter 5"/>
          <p:cNvSpPr>
            <a:spLocks noGrp="1"/>
          </p:cNvSpPr>
          <p:nvPr>
            <p:ph type="ftr" sz="quarter" idx="4"/>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7" name="Foliennummernplatzhalter 6"/>
          <p:cNvSpPr>
            <a:spLocks noGrp="1"/>
          </p:cNvSpPr>
          <p:nvPr>
            <p:ph type="sldNum" sz="quarter" idx="5"/>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mn-lt"/>
                <a:cs typeface="+mn-cs"/>
              </a:defRPr>
            </a:lvl1pPr>
          </a:lstStyle>
          <a:p>
            <a:pPr>
              <a:defRPr/>
            </a:pPr>
            <a:fld id="{00AFC6D0-44D5-4EB7-828F-6F464F83D79A}" type="slidenum">
              <a:rPr lang="en-GB"/>
              <a:pPr>
                <a:defRPr/>
              </a:pPr>
              <a:t>‹#›</a:t>
            </a:fld>
            <a:endParaRPr lang="en-GB"/>
          </a:p>
        </p:txBody>
      </p:sp>
    </p:spTree>
    <p:extLst>
      <p:ext uri="{BB962C8B-B14F-4D97-AF65-F5344CB8AC3E}">
        <p14:creationId xmlns:p14="http://schemas.microsoft.com/office/powerpoint/2010/main" val="2297997308"/>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itchFamily="34" charset="0"/>
        <a:ea typeface="+mn-ea"/>
        <a:cs typeface="Arial" pitchFamily="34" charset="0"/>
      </a:defRPr>
    </a:lvl1pPr>
    <a:lvl2pPr marL="182563" indent="-182563" algn="l" rtl="0" fontAlgn="base">
      <a:spcBef>
        <a:spcPct val="30000"/>
      </a:spcBef>
      <a:spcAft>
        <a:spcPct val="0"/>
      </a:spcAft>
      <a:buFont typeface="Arial" charset="0"/>
      <a:buChar char="•"/>
      <a:defRPr sz="1200" kern="1200">
        <a:solidFill>
          <a:schemeClr val="tx1"/>
        </a:solidFill>
        <a:latin typeface="+mn-lt"/>
        <a:ea typeface="+mn-ea"/>
        <a:cs typeface="Arial" charset="0"/>
      </a:defRPr>
    </a:lvl2pPr>
    <a:lvl3pPr marL="355600" indent="-173038" algn="l" rtl="0" fontAlgn="base">
      <a:spcBef>
        <a:spcPct val="30000"/>
      </a:spcBef>
      <a:spcAft>
        <a:spcPct val="0"/>
      </a:spcAft>
      <a:buFont typeface="Symbol" pitchFamily="18" charset="2"/>
      <a:buChar char="-"/>
      <a:defRPr sz="1200" kern="1200">
        <a:solidFill>
          <a:schemeClr val="tx1"/>
        </a:solidFill>
        <a:latin typeface="+mn-lt"/>
        <a:ea typeface="+mn-ea"/>
        <a:cs typeface="Arial" charset="0"/>
      </a:defRPr>
    </a:lvl3pPr>
    <a:lvl4pPr marL="538163" indent="-182563" algn="l" rtl="0" fontAlgn="base">
      <a:spcBef>
        <a:spcPct val="30000"/>
      </a:spcBef>
      <a:spcAft>
        <a:spcPct val="0"/>
      </a:spcAft>
      <a:buFont typeface="Courier New" pitchFamily="49" charset="0"/>
      <a:buChar char="o"/>
      <a:defRPr sz="1200" kern="1200">
        <a:solidFill>
          <a:schemeClr val="tx1"/>
        </a:solidFill>
        <a:latin typeface="+mn-lt"/>
        <a:ea typeface="+mn-ea"/>
        <a:cs typeface="Arial" charset="0"/>
      </a:defRPr>
    </a:lvl4pPr>
    <a:lvl5pPr marL="720725" indent="-182563" algn="l" rtl="0" fontAlgn="base">
      <a:spcBef>
        <a:spcPct val="30000"/>
      </a:spcBef>
      <a:spcAft>
        <a:spcPct val="0"/>
      </a:spcAft>
      <a:buFont typeface="Wingdings" pitchFamily="2" charset="2"/>
      <a:buChar char="§"/>
      <a:defRPr sz="1200" kern="1200">
        <a:solidFill>
          <a:schemeClr val="tx1"/>
        </a:solidFill>
        <a:latin typeface="+mn-lt"/>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 ~15 s</a:t>
            </a:r>
          </a:p>
          <a:p>
            <a:r>
              <a:t>Hook: “Where luxury feels effortless — but behind the desk, five systems have to cooperate for every check-in.” Say the team name (C2F1G4) and move straight on. VERIFY team-member names/spelling before submission (roster inferred from repo commits).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 ~20 s</a:t>
            </a:r>
          </a:p>
          <a:p>
            <a:r>
              <a:t>One sentence: we split the model one layer per person, with Angel aligning the layers and Katrin owning the abstract view and final consistency. This sets up the reflection answer on “how we worked” later. (Photos can replace the initials if the team wants.)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 ~45 s</a:t>
            </a:r>
          </a:p>
          <a:p>
            <a:r>
              <a:t>Walk the service cards left to right: a guest books, arrives, pays, and the staff is briefed daily — all on the shared Hotel Management System. Point at the red box: our focus area F1 is reservation handling and check-in, the guest's pre-arrival-to-arrival journey. Hand over to Angel.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Angel (P2) · ~90 s</a:t>
            </a:r>
          </a:p>
          <a:p>
            <a:r>
              <a:t>Say explicitly: “Don't try to read this — it's the map.” CLICK 1: the three layer bands — business (yellow), application (blue), technology (green). CLICK 2: the key stakeholders — the Guest at the top left, the Receptionist who runs check-in. CLICK 3: everything converges on the Hotel Management System, hosted on the AWS Cloud Server — the technology backbone. Main services along the top: reservation, check-in/out, briefing, room access. Hand to Soyeong.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Soyeong (P3) · ~45 s</a:t>
            </a:r>
          </a:p>
          <a:p>
            <a:r>
              <a:t>Same map, now with the F1 slice boxed in red: the chain from Handle Reservation to Conduct Check-In/Out, the services above them, and the application/technology support below. “We'll zoom into this in three steps: business, application,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Soyeong (P3) · ~75 s</a:t>
            </a:r>
          </a:p>
          <a:p>
            <a:r>
              <a:t>CLICK 1: the Guest triggers everything — website or external booking platform. CLICK 2: walk the chain: Submit Reservation Request → Verify Room Availability → Calculate Total Price → Confirm and Allocate Room → Process Payment → Submit Special Request → Add Reservation to Arrival Schedule. CLICK 3: payment realises the Payment business service, delivered by the External Payment Service. CLICK 4: every step reads or writes a business object — Reservation, Room Availability, Pricing, Open Costs, Special Request, Arrival Schedule.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Soyeong → Fiona (P3/P4) · ~75 s</a:t>
            </a:r>
          </a:p>
          <a:p>
            <a:r>
              <a:t>CLICK 1: the Receptionist is assigned to Conduct Check-In/Out. CLICK 2: three steps — Identify Reservation, Verify Guest Identity, Issue and Configure Key Card. CLICK 3: together they realise the Check-In/Out Service. CLICK 4: any open costs settle through the Payment service, backed by the external provider. Handover line: “so much for the people — now the systems underneath”, Fiona takes over.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Fiona (P4) · ~90 s</a:t>
            </a:r>
          </a:p>
          <a:p>
            <a:r>
              <a:t>CLICK 1: the HMS is the central component — its functions are modelled explicitly: Check Room Availability, Calculate Pricing, Reserve Room, Issue Key Card. CLICK 2: those functions are exposed upward as application services (Reservation Management, Check-In, Key Verification) — each serves a business process from the previous slides. CLICK 3: application events chain the flow: Reservation Request Received → Availability Confirmed → Reservation Approved → Payment Confirmed → Check In Completed. CLICK 4: pick ONE realization example and explain the pattern: the Reservation data object is the digital record that realises the Reservation business object — same pattern for guest profile, pricing and room status.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Demir (P5) · ~90 s</a:t>
            </a:r>
          </a:p>
          <a:p>
            <a:r>
              <a:t>CLICK 1: the guest taps the key card — the Door Card Reader detects it. CLICK 2: the Grant Room Access function chain runs: Detect Card → Read Access Rights → Verify Authorization → Unlock Door → Activate Room Circuit. CLICK 3: the Door System Software reads the Access Rights artifact and writes the Access Log. CLICK 4: communication is explicit — the RFID path to the card, hotel Wi-Fi and Internet to the AWS-hosted HMS. CLICK 5: end the story: “this is how a reservation made online becomes a door that opens.”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Demir → Katrin (P5/P1) · ~60 s</a:t>
            </a:r>
          </a:p>
          <a:p>
            <a:r>
              <a:t>Value: the model makes five-plus cooperating systems transparent, supports impact analysis (walk one example: HMS down → which services stop), and speeds up onboarding. Limitations: it's an as-is snapshot without governance, has no quantities or SLAs, and abstraction hides detail by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Katrin (P1) · ~60 s</a:t>
            </a:r>
          </a:p>
          <a:p>
            <a:r>
              <a:t>Missing: reservation-side infrastructure specs, external booking-platform interfaces, failure/volume data. Challenges — use the real ones: the abstraction-level trade-off, keeping the two views consistent, and coArchi merge conflicts/duplicates from modelling in parallel (the kickoff literally warns about this — we hit it and merged 11 duplicate elements). Close: thank you — questions? Everyone stays up front for Q&amp;A.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backup (3–5 min — they will ask each member something). Following slides: full detailed view, full abstract view, model facts &amp; figures.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complete detailed view for zoom-in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complete abstract view — use for questions on F2/F3 services (briefing, laundry, transfer).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numbers and workflow facts for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pic>
        <p:nvPicPr>
          <p:cNvPr id="2" name="Bild 4" descr="TUM_Glockenturm.tif">
            <a:extLst>
              <a:ext uri="{FF2B5EF4-FFF2-40B4-BE49-F238E27FC236}">
                <a16:creationId xmlns:a16="http://schemas.microsoft.com/office/drawing/2014/main" id="{3DC659F7-0024-9FCB-D753-C693EDA7779B}"/>
              </a:ext>
            </a:extLst>
          </p:cNvPr>
          <p:cNvPicPr>
            <a:picLocks noChangeAspect="1"/>
          </p:cNvPicPr>
          <p:nvPr userDrawn="1"/>
        </p:nvPicPr>
        <p:blipFill>
          <a:blip r:embed="rId2"/>
          <a:stretch>
            <a:fillRect/>
          </a:stretch>
        </p:blipFill>
        <p:spPr>
          <a:xfrm>
            <a:off x="4975215" y="1476375"/>
            <a:ext cx="3819542" cy="3333750"/>
          </a:xfrm>
          <a:prstGeom prst="rect">
            <a:avLst/>
          </a:prstGeom>
        </p:spPr>
      </p:pic>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3981830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38583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2" name="Textfeld 10">
            <a:extLst>
              <a:ext uri="{FF2B5EF4-FFF2-40B4-BE49-F238E27FC236}">
                <a16:creationId xmlns:a16="http://schemas.microsoft.com/office/drawing/2014/main" id="{154976A3-D458-EBF9-B242-F3440F1111AF}"/>
              </a:ext>
            </a:extLst>
          </p:cNvPr>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en-US" sz="800" dirty="0">
                <a:solidFill>
                  <a:schemeClr val="bg1"/>
                </a:solidFill>
                <a:latin typeface="+mn-lt"/>
              </a:rPr>
              <a:t>Chair of High-Power Converter Systems</a:t>
            </a:r>
            <a:endParaRPr lang="de-DE" sz="800" kern="1200" dirty="0">
              <a:solidFill>
                <a:schemeClr val="bg1"/>
              </a:solidFill>
              <a:latin typeface="+mn-lt"/>
              <a:ea typeface="+mn-ea"/>
              <a:cs typeface="Arial" charset="0"/>
            </a:endParaRPr>
          </a:p>
          <a:p>
            <a:pPr>
              <a:lnSpc>
                <a:spcPts val="900"/>
              </a:lnSpc>
            </a:pPr>
            <a:r>
              <a:rPr lang="en-US" sz="800" kern="1200" dirty="0">
                <a:solidFill>
                  <a:schemeClr val="bg1"/>
                </a:solidFill>
                <a:latin typeface="+mn-lt"/>
                <a:ea typeface="+mn-ea"/>
                <a:cs typeface="Arial" charset="0"/>
              </a:rPr>
              <a:t>TUM School of Engineering and Design</a:t>
            </a:r>
            <a:endParaRPr lang="de-DE" sz="800" kern="1200" dirty="0">
              <a:solidFill>
                <a:schemeClr val="bg1"/>
              </a:solidFill>
              <a:latin typeface="+mn-lt"/>
              <a:ea typeface="+mn-ea"/>
              <a:cs typeface="Arial" charset="0"/>
            </a:endParaRPr>
          </a:p>
          <a:p>
            <a:pPr>
              <a:lnSpc>
                <a:spcPts val="900"/>
              </a:lnSpc>
            </a:pPr>
            <a:r>
              <a:rPr lang="de-DE" sz="800" baseline="0" dirty="0">
                <a:solidFill>
                  <a:schemeClr val="bg1"/>
                </a:solidFill>
                <a:latin typeface="+mn-lt"/>
              </a:rPr>
              <a:t>Technical University of Munich</a:t>
            </a:r>
            <a:endParaRPr lang="de-DE" sz="800" dirty="0">
              <a:solidFill>
                <a:schemeClr val="bg1"/>
              </a:solidFill>
              <a:latin typeface="+mn-lt"/>
            </a:endParaRPr>
          </a:p>
        </p:txBody>
      </p:sp>
    </p:spTree>
    <p:extLst>
      <p:ext uri="{BB962C8B-B14F-4D97-AF65-F5344CB8AC3E}">
        <p14:creationId xmlns:p14="http://schemas.microsoft.com/office/powerpoint/2010/main" val="13904144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pic>
        <p:nvPicPr>
          <p:cNvPr id="2" name="Bild 4" descr="TUM_Glockenturm.tif">
            <a:extLst>
              <a:ext uri="{FF2B5EF4-FFF2-40B4-BE49-F238E27FC236}">
                <a16:creationId xmlns:a16="http://schemas.microsoft.com/office/drawing/2014/main" id="{186CB456-4823-F0CE-7635-2DF9E971C75F}"/>
              </a:ext>
            </a:extLst>
          </p:cNvPr>
          <p:cNvPicPr>
            <a:picLocks noChangeAspect="1"/>
          </p:cNvPicPr>
          <p:nvPr userDrawn="1"/>
        </p:nvPicPr>
        <p:blipFill>
          <a:blip r:embed="rId2"/>
          <a:stretch>
            <a:fillRect/>
          </a:stretch>
        </p:blipFill>
        <p:spPr>
          <a:xfrm>
            <a:off x="4975215" y="1476375"/>
            <a:ext cx="3819542" cy="3333750"/>
          </a:xfrm>
          <a:prstGeom prst="rect">
            <a:avLst/>
          </a:prstGeom>
        </p:spPr>
      </p:pic>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660424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8" name="Foliennummernplatzhalter 7"/>
          <p:cNvSpPr>
            <a:spLocks noGrp="1"/>
          </p:cNvSpPr>
          <p:nvPr>
            <p:ph type="sldNum" sz="quarter" idx="12"/>
          </p:nvPr>
        </p:nvSpPr>
        <p:spPr/>
        <p:txBody>
          <a:bodyPr/>
          <a:lstStyle/>
          <a:p>
            <a:fld id="{CE58CB1E-F828-4F11-99E0-327109AF9DA4}" type="slidenum">
              <a:rPr lang="de-DE" smtClean="0"/>
              <a:pPr/>
              <a:t>‹#›</a:t>
            </a:fld>
            <a:endParaRPr lang="de-DE" dirty="0"/>
          </a:p>
        </p:txBody>
      </p:sp>
      <p:sp>
        <p:nvSpPr>
          <p:cNvPr id="9" name="Titel 1">
            <a:extLst>
              <a:ext uri="{FF2B5EF4-FFF2-40B4-BE49-F238E27FC236}">
                <a16:creationId xmlns:a16="http://schemas.microsoft.com/office/drawing/2014/main" id="{05AABF3B-2112-4303-BACC-C389E81E7384}"/>
              </a:ext>
            </a:extLst>
          </p:cNvPr>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Tree>
    <p:extLst>
      <p:ext uri="{BB962C8B-B14F-4D97-AF65-F5344CB8AC3E}">
        <p14:creationId xmlns:p14="http://schemas.microsoft.com/office/powerpoint/2010/main" val="171855092"/>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
    <p:spTree>
      <p:nvGrpSpPr>
        <p:cNvPr id="1" name=""/>
        <p:cNvGrpSpPr/>
        <p:nvPr/>
      </p:nvGrpSpPr>
      <p:grpSpPr>
        <a:xfrm>
          <a:off x="0" y="0"/>
          <a:ext cx="0" cy="0"/>
          <a:chOff x="0" y="0"/>
          <a:chExt cx="0" cy="0"/>
        </a:xfrm>
      </p:grpSpPr>
      <p:sp>
        <p:nvSpPr>
          <p:cNvPr id="10" name="Titel 1"/>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marL="0" indent="0">
              <a:lnSpc>
                <a:spcPts val="3200"/>
              </a:lnSpc>
              <a:defRPr lang="de-DE" sz="2500" noProof="0" dirty="0">
                <a:solidFill>
                  <a:schemeClr val="tx1"/>
                </a:solidFill>
              </a:defRPr>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9" name="Text Placeholder 18">
            <a:extLst>
              <a:ext uri="{FF2B5EF4-FFF2-40B4-BE49-F238E27FC236}">
                <a16:creationId xmlns:a16="http://schemas.microsoft.com/office/drawing/2014/main" id="{740E7229-04EE-4764-BC7E-F87916F4FA64}"/>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218394874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Inhalt">
    <p:spTree>
      <p:nvGrpSpPr>
        <p:cNvPr id="1" name=""/>
        <p:cNvGrpSpPr/>
        <p:nvPr/>
      </p:nvGrpSpPr>
      <p:grpSpPr>
        <a:xfrm>
          <a:off x="0" y="0"/>
          <a:ext cx="0" cy="0"/>
          <a:chOff x="0" y="0"/>
          <a:chExt cx="0" cy="0"/>
        </a:xfrm>
      </p:grpSpPr>
      <p:sp>
        <p:nvSpPr>
          <p:cNvPr id="10" name="Titel 1"/>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marL="0" indent="0">
              <a:lnSpc>
                <a:spcPts val="3200"/>
              </a:lnSpc>
              <a:defRPr lang="de-DE" sz="2500" noProof="0" dirty="0">
                <a:solidFill>
                  <a:schemeClr val="tx1"/>
                </a:solidFill>
              </a:defRPr>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307266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785785"/>
            <a:ext cx="8508999" cy="290051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222525"/>
            <a:ext cx="8508999" cy="50530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20912513-725A-7B3D-7236-D9DF537BD47D}"/>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2183948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785785"/>
            <a:ext cx="8508999" cy="290051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222525"/>
            <a:ext cx="8508999" cy="50530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4660904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506687"/>
            <a:ext cx="8508999" cy="317961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1161" y="936839"/>
            <a:ext cx="8508999" cy="497688"/>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4273115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222525"/>
            <a:ext cx="8508999" cy="34637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293133E1-5289-7056-E483-775294333E78}"/>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8551479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222525"/>
            <a:ext cx="8508999" cy="34637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4403057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1162"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6" name="Foliennummernplatzhalter 5"/>
          <p:cNvSpPr>
            <a:spLocks noGrp="1"/>
          </p:cNvSpPr>
          <p:nvPr>
            <p:ph type="sldNum" sz="quarter" idx="16"/>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7"/>
          </p:nvPr>
        </p:nvSpPr>
        <p:spPr/>
        <p:txBody>
          <a:bodyPr/>
          <a:lstStyle/>
          <a:p>
            <a:r>
              <a:rPr lang="de-DE" dirty="0"/>
              <a:t>Dr. rer. nat. Erika Mustermann (TUM) | kann beliebig erweitert werden | Infos mit Strich trennen</a:t>
            </a:r>
            <a:endParaRPr lang="en-US" dirty="0"/>
          </a:p>
        </p:txBody>
      </p:sp>
      <p:sp>
        <p:nvSpPr>
          <p:cNvPr id="7" name="Titel 1">
            <a:extLst>
              <a:ext uri="{FF2B5EF4-FFF2-40B4-BE49-F238E27FC236}">
                <a16:creationId xmlns:a16="http://schemas.microsoft.com/office/drawing/2014/main" id="{C820FC66-B1DF-47A9-8103-CDCC8883639F}"/>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E9EB89DB-0FCB-44DF-1F96-9A2EDDD7D265}"/>
              </a:ext>
            </a:extLst>
          </p:cNvPr>
          <p:cNvSpPr>
            <a:spLocks noGrp="1"/>
          </p:cNvSpPr>
          <p:nvPr>
            <p:ph type="body" sz="quarter" idx="18"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346290140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1162"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6" name="Foliennummernplatzhalter 5"/>
          <p:cNvSpPr>
            <a:spLocks noGrp="1"/>
          </p:cNvSpPr>
          <p:nvPr>
            <p:ph type="sldNum" sz="quarter" idx="16"/>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7"/>
          </p:nvPr>
        </p:nvSpPr>
        <p:spPr/>
        <p:txBody>
          <a:bodyPr/>
          <a:lstStyle/>
          <a:p>
            <a:r>
              <a:rPr lang="de-DE" dirty="0"/>
              <a:t>Dr. rer. nat. Erika Mustermann (TUM) | kann beliebig erweitert werden | Infos mit Strich trennen</a:t>
            </a:r>
            <a:endParaRPr lang="en-US" dirty="0"/>
          </a:p>
        </p:txBody>
      </p:sp>
      <p:sp>
        <p:nvSpPr>
          <p:cNvPr id="7" name="Titel 1">
            <a:extLst>
              <a:ext uri="{FF2B5EF4-FFF2-40B4-BE49-F238E27FC236}">
                <a16:creationId xmlns:a16="http://schemas.microsoft.com/office/drawing/2014/main" id="{C820FC66-B1DF-47A9-8103-CDCC8883639F}"/>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0068467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88333" cy="292475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38677" y="1771077"/>
            <a:ext cx="4180392" cy="2924750"/>
          </a:xfrm>
          <a:prstGeom prst="rect">
            <a:avLst/>
          </a:prstGeom>
        </p:spPr>
        <p:txBody>
          <a:bodyPr/>
          <a:lstStyle>
            <a:lvl1pPr>
              <a:lnSpc>
                <a:spcPct val="114000"/>
              </a:lnSpc>
              <a:defRPr sz="1400"/>
            </a:lvl1pPr>
          </a:lstStyle>
          <a:p>
            <a:endParaRPr lang="de-DE" dirty="0"/>
          </a:p>
        </p:txBody>
      </p:sp>
      <p:sp>
        <p:nvSpPr>
          <p:cNvPr id="15" name="Titel 1">
            <a:extLst>
              <a:ext uri="{FF2B5EF4-FFF2-40B4-BE49-F238E27FC236}">
                <a16:creationId xmlns:a16="http://schemas.microsoft.com/office/drawing/2014/main" id="{82BEFDB1-C0BE-4875-BD7E-86FDD31F7CD3}"/>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9AEF4677-339F-8CA2-B0ED-473D9EA817FC}"/>
              </a:ext>
            </a:extLst>
          </p:cNvPr>
          <p:cNvSpPr>
            <a:spLocks noGrp="1"/>
          </p:cNvSpPr>
          <p:nvPr>
            <p:ph type="body" sz="quarter" idx="19"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88333" cy="292475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38677" y="1771077"/>
            <a:ext cx="4180392" cy="2924750"/>
          </a:xfrm>
          <a:prstGeom prst="rect">
            <a:avLst/>
          </a:prstGeom>
        </p:spPr>
        <p:txBody>
          <a:bodyPr/>
          <a:lstStyle>
            <a:lvl1pPr>
              <a:lnSpc>
                <a:spcPct val="114000"/>
              </a:lnSpc>
              <a:defRPr sz="1400"/>
            </a:lvl1pPr>
          </a:lstStyle>
          <a:p>
            <a:endParaRPr lang="de-DE" dirty="0"/>
          </a:p>
        </p:txBody>
      </p:sp>
      <p:sp>
        <p:nvSpPr>
          <p:cNvPr id="15" name="Titel 1">
            <a:extLst>
              <a:ext uri="{FF2B5EF4-FFF2-40B4-BE49-F238E27FC236}">
                <a16:creationId xmlns:a16="http://schemas.microsoft.com/office/drawing/2014/main" id="{82BEFDB1-C0BE-4875-BD7E-86FDD31F7CD3}"/>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10456574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2152650"/>
            <a:ext cx="9144000" cy="299085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97858" cy="29342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1771076"/>
            <a:ext cx="4180392" cy="2915225"/>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5" name="Titel 1">
            <a:extLst>
              <a:ext uri="{FF2B5EF4-FFF2-40B4-BE49-F238E27FC236}">
                <a16:creationId xmlns:a16="http://schemas.microsoft.com/office/drawing/2014/main" id="{D4303ED8-136B-40E2-A690-FE4668647E77}"/>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B396E02D-F2E0-1B1F-A258-256C442E5359}"/>
              </a:ext>
            </a:extLst>
          </p:cNvPr>
          <p:cNvSpPr>
            <a:spLocks noGrp="1"/>
          </p:cNvSpPr>
          <p:nvPr>
            <p:ph type="body" sz="quarter" idx="20"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1771076"/>
            <a:ext cx="9144000" cy="3372424"/>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97858" cy="29342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1771076"/>
            <a:ext cx="4180392" cy="2915225"/>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5" name="Titel 1">
            <a:extLst>
              <a:ext uri="{FF2B5EF4-FFF2-40B4-BE49-F238E27FC236}">
                <a16:creationId xmlns:a16="http://schemas.microsoft.com/office/drawing/2014/main" id="{D4303ED8-136B-40E2-A690-FE4668647E77}"/>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3702900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oße Bilder">
    <p:spTree>
      <p:nvGrpSpPr>
        <p:cNvPr id="1" name=""/>
        <p:cNvGrpSpPr/>
        <p:nvPr/>
      </p:nvGrpSpPr>
      <p:grpSpPr>
        <a:xfrm>
          <a:off x="0" y="0"/>
          <a:ext cx="0" cy="0"/>
          <a:chOff x="0" y="0"/>
          <a:chExt cx="0" cy="0"/>
        </a:xfrm>
      </p:grpSpPr>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9" name="Bildplatzhalter 8"/>
          <p:cNvSpPr>
            <a:spLocks noGrp="1"/>
          </p:cNvSpPr>
          <p:nvPr>
            <p:ph type="pic" sz="quarter" idx="17"/>
          </p:nvPr>
        </p:nvSpPr>
        <p:spPr>
          <a:xfrm>
            <a:off x="0" y="1771076"/>
            <a:ext cx="9144000" cy="3367344"/>
          </a:xfrm>
          <a:prstGeom prst="rect">
            <a:avLst/>
          </a:prstGeom>
        </p:spPr>
        <p:txBody>
          <a:bodyPr/>
          <a:lstStyle>
            <a:lvl1pPr>
              <a:defRPr sz="1400"/>
            </a:lvl1pPr>
          </a:lstStyle>
          <a:p>
            <a:endParaRPr lang="de-DE" dirty="0"/>
          </a:p>
        </p:txBody>
      </p:sp>
      <p:sp>
        <p:nvSpPr>
          <p:cNvPr id="8" name="Textplatzhalter 7"/>
          <p:cNvSpPr>
            <a:spLocks noGrp="1"/>
          </p:cNvSpPr>
          <p:nvPr>
            <p:ph type="body" sz="quarter" idx="18"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0" name="Titel 1">
            <a:extLst>
              <a:ext uri="{FF2B5EF4-FFF2-40B4-BE49-F238E27FC236}">
                <a16:creationId xmlns:a16="http://schemas.microsoft.com/office/drawing/2014/main" id="{B1164939-4755-42C9-9079-2B5AE284E2E6}"/>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5FE9A9B3-89BF-F3DC-FA80-DEDD36A47285}"/>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große Bilder">
    <p:spTree>
      <p:nvGrpSpPr>
        <p:cNvPr id="1" name=""/>
        <p:cNvGrpSpPr/>
        <p:nvPr/>
      </p:nvGrpSpPr>
      <p:grpSpPr>
        <a:xfrm>
          <a:off x="0" y="0"/>
          <a:ext cx="0" cy="0"/>
          <a:chOff x="0" y="0"/>
          <a:chExt cx="0" cy="0"/>
        </a:xfrm>
      </p:grpSpPr>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9" name="Bildplatzhalter 8"/>
          <p:cNvSpPr>
            <a:spLocks noGrp="1"/>
          </p:cNvSpPr>
          <p:nvPr>
            <p:ph type="pic" sz="quarter" idx="17"/>
          </p:nvPr>
        </p:nvSpPr>
        <p:spPr>
          <a:xfrm>
            <a:off x="0" y="1771076"/>
            <a:ext cx="9144000" cy="3367344"/>
          </a:xfrm>
          <a:prstGeom prst="rect">
            <a:avLst/>
          </a:prstGeom>
        </p:spPr>
        <p:txBody>
          <a:bodyPr/>
          <a:lstStyle>
            <a:lvl1pPr>
              <a:defRPr sz="1400"/>
            </a:lvl1pPr>
          </a:lstStyle>
          <a:p>
            <a:endParaRPr lang="de-DE" dirty="0"/>
          </a:p>
        </p:txBody>
      </p:sp>
      <p:sp>
        <p:nvSpPr>
          <p:cNvPr id="8" name="Textplatzhalter 7"/>
          <p:cNvSpPr>
            <a:spLocks noGrp="1"/>
          </p:cNvSpPr>
          <p:nvPr>
            <p:ph type="body" sz="quarter" idx="18"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0" name="Titel 1">
            <a:extLst>
              <a:ext uri="{FF2B5EF4-FFF2-40B4-BE49-F238E27FC236}">
                <a16:creationId xmlns:a16="http://schemas.microsoft.com/office/drawing/2014/main" id="{B1164939-4755-42C9-9079-2B5AE284E2E6}"/>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611215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222524"/>
            <a:ext cx="9144000" cy="3920975"/>
          </a:xfrm>
          <a:prstGeom prst="rect">
            <a:avLst/>
          </a:prstGeom>
        </p:spPr>
        <p:txBody>
          <a:bodyPr/>
          <a:lstStyle>
            <a:lvl1pPr>
              <a:lnSpc>
                <a:spcPct val="114000"/>
              </a:lnSpc>
              <a:defRPr sz="1400"/>
            </a:lvl1pPr>
          </a:lstStyle>
          <a:p>
            <a:endParaRPr lang="de-DE" dirty="0"/>
          </a:p>
        </p:txBody>
      </p:sp>
      <p:sp>
        <p:nvSpPr>
          <p:cNvPr id="6" name="Foliennummernplatzhalter 5"/>
          <p:cNvSpPr>
            <a:spLocks noGrp="1"/>
          </p:cNvSpPr>
          <p:nvPr>
            <p:ph type="sldNum" sz="quarter" idx="15"/>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6"/>
          </p:nvPr>
        </p:nvSpPr>
        <p:spPr/>
        <p:txBody>
          <a:bodyPr/>
          <a:lstStyle/>
          <a:p>
            <a:r>
              <a:rPr lang="de-DE" dirty="0"/>
              <a:t>Dr. rer. nat. Erika Mustermann (TUM) | kann beliebig erweitert werden | Infos mit Strich trennen</a:t>
            </a:r>
            <a:endParaRPr lang="en-US" dirty="0"/>
          </a:p>
        </p:txBody>
      </p:sp>
      <p:sp>
        <p:nvSpPr>
          <p:cNvPr id="14" name="Titel 1">
            <a:extLst>
              <a:ext uri="{FF2B5EF4-FFF2-40B4-BE49-F238E27FC236}">
                <a16:creationId xmlns:a16="http://schemas.microsoft.com/office/drawing/2014/main" id="{6F6AFFF9-3343-4B1B-8898-C1F255D03160}"/>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FB6134F2-2761-390F-47D1-C1565FBC87CA}"/>
              </a:ext>
            </a:extLst>
          </p:cNvPr>
          <p:cNvSpPr>
            <a:spLocks noGrp="1"/>
          </p:cNvSpPr>
          <p:nvPr>
            <p:ph type="body" sz="quarter" idx="17"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42579873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222524"/>
            <a:ext cx="9144000" cy="3920975"/>
          </a:xfrm>
          <a:prstGeom prst="rect">
            <a:avLst/>
          </a:prstGeom>
        </p:spPr>
        <p:txBody>
          <a:bodyPr/>
          <a:lstStyle>
            <a:lvl1pPr>
              <a:lnSpc>
                <a:spcPct val="114000"/>
              </a:lnSpc>
              <a:defRPr sz="1400"/>
            </a:lvl1pPr>
          </a:lstStyle>
          <a:p>
            <a:endParaRPr lang="de-DE" dirty="0"/>
          </a:p>
        </p:txBody>
      </p:sp>
      <p:sp>
        <p:nvSpPr>
          <p:cNvPr id="6" name="Foliennummernplatzhalter 5"/>
          <p:cNvSpPr>
            <a:spLocks noGrp="1"/>
          </p:cNvSpPr>
          <p:nvPr>
            <p:ph type="sldNum" sz="quarter" idx="15"/>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6"/>
          </p:nvPr>
        </p:nvSpPr>
        <p:spPr/>
        <p:txBody>
          <a:bodyPr/>
          <a:lstStyle/>
          <a:p>
            <a:r>
              <a:rPr lang="de-DE" dirty="0"/>
              <a:t>Dr. rer. nat. Erika Mustermann (TUM) | kann beliebig erweitert werden | Infos mit Strich trennen</a:t>
            </a:r>
            <a:endParaRPr lang="en-US" dirty="0"/>
          </a:p>
        </p:txBody>
      </p:sp>
      <p:sp>
        <p:nvSpPr>
          <p:cNvPr id="14" name="Titel 1">
            <a:extLst>
              <a:ext uri="{FF2B5EF4-FFF2-40B4-BE49-F238E27FC236}">
                <a16:creationId xmlns:a16="http://schemas.microsoft.com/office/drawing/2014/main" id="{6F6AFFF9-3343-4B1B-8898-C1F255D03160}"/>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32878373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6" name="Foliennummernplatzhalter 5"/>
          <p:cNvSpPr>
            <a:spLocks noGrp="1"/>
          </p:cNvSpPr>
          <p:nvPr>
            <p:ph type="sldNum" sz="quarter" idx="11"/>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8" name="Fußzeilenplatzhalter 7"/>
          <p:cNvSpPr>
            <a:spLocks noGrp="1"/>
          </p:cNvSpPr>
          <p:nvPr>
            <p:ph type="ftr" sz="quarter" idx="12"/>
          </p:nvPr>
        </p:nvSpPr>
        <p:spPr/>
        <p:txBody>
          <a:bodyPr/>
          <a:lstStyle>
            <a:lvl1pPr>
              <a:defRPr>
                <a:solidFill>
                  <a:schemeClr val="bg1"/>
                </a:solidFill>
              </a:defRPr>
            </a:lvl1p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wmf"/><Relationship Id="rId5" Type="http://schemas.openxmlformats.org/officeDocument/2006/relationships/image" Target="../media/image5.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theme" Target="../theme/theme3.xml"/><Relationship Id="rId4" Type="http://schemas.openxmlformats.org/officeDocument/2006/relationships/image" Target="../media/image3.jpeg"/><Relationship Id="rId5" Type="http://schemas.openxmlformats.org/officeDocument/2006/relationships/image" Target="../media/image4.emf"/><Relationship Id="rId6"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Layout" Target="../slideLayouts/slideLayout7.xml"/><Relationship Id="rId3" Type="http://schemas.openxmlformats.org/officeDocument/2006/relationships/theme" Target="../theme/theme4.xml"/><Relationship Id="rId4" Type="http://schemas.openxmlformats.org/officeDocument/2006/relationships/image" Target="../media/image1.wmf"/><Relationship Id="rId5" Type="http://schemas.openxmlformats.org/officeDocument/2006/relationships/image" Target="../media/image5.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 Id="rId9" Type="http://schemas.openxmlformats.org/officeDocument/2006/relationships/slideLayout" Target="../slideLayouts/slideLayout16.xml"/><Relationship Id="rId10" Type="http://schemas.openxmlformats.org/officeDocument/2006/relationships/slideLayout" Target="../slideLayouts/slideLayout17.xml"/><Relationship Id="rId11" Type="http://schemas.openxmlformats.org/officeDocument/2006/relationships/slideLayout" Target="../slideLayouts/slideLayout18.xml"/><Relationship Id="rId12" Type="http://schemas.openxmlformats.org/officeDocument/2006/relationships/slideLayout" Target="../slideLayouts/slideLayout19.xml"/><Relationship Id="rId13" Type="http://schemas.openxmlformats.org/officeDocument/2006/relationships/slideLayout" Target="../slideLayouts/slideLayout20.xml"/><Relationship Id="rId14" Type="http://schemas.openxmlformats.org/officeDocument/2006/relationships/slideLayout" Target="../slideLayouts/slideLayout21.xml"/><Relationship Id="rId15" Type="http://schemas.openxmlformats.org/officeDocument/2006/relationships/slideLayout" Target="../slideLayouts/slideLayout22.xml"/><Relationship Id="rId16" Type="http://schemas.openxmlformats.org/officeDocument/2006/relationships/slideLayout" Target="../slideLayouts/slideLayout23.xml"/><Relationship Id="rId17" Type="http://schemas.openxmlformats.org/officeDocument/2006/relationships/slideLayout" Target="../slideLayouts/slideLayout24.xml"/><Relationship Id="rId18" Type="http://schemas.openxmlformats.org/officeDocument/2006/relationships/slideLayout" Target="../slideLayouts/slideLayout25.xml"/><Relationship Id="rId19" Type="http://schemas.openxmlformats.org/officeDocument/2006/relationships/theme" Target="../theme/theme5.xml"/><Relationship Id="rId20" Type="http://schemas.openxmlformats.org/officeDocument/2006/relationships/image" Target="../media/image1.wmf"/><Relationship Id="rId21" Type="http://schemas.openxmlformats.org/officeDocument/2006/relationships/image" Target="../media/image5.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6.xml"/><Relationship Id="rId3" Type="http://schemas.openxmlformats.org/officeDocument/2006/relationships/image" Target="../media/image4.emf"/><Relationship Id="rId4" Type="http://schemas.openxmlformats.org/officeDocument/2006/relationships/image" Target="../media/image5.pn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7.xml"/><Relationship Id="rId3" Type="http://schemas.openxmlformats.org/officeDocument/2006/relationships/image" Target="../media/image4.emf"/><Relationship Id="rId4"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Fußzeilenplatzhalter 3"/>
          <p:cNvSpPr>
            <a:spLocks noGrp="1"/>
          </p:cNvSpPr>
          <p:nvPr>
            <p:ph type="ftr" sz="quarter" idx="3"/>
          </p:nvPr>
        </p:nvSpPr>
        <p:spPr>
          <a:xfrm>
            <a:off x="311162" y="4854985"/>
            <a:ext cx="7829538" cy="288515"/>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sp>
        <p:nvSpPr>
          <p:cNvPr id="11"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pic>
        <p:nvPicPr>
          <p:cNvPr id="5" name="Bild 8" descr="20150416 tum logo blau png final.png"/>
          <p:cNvPicPr>
            <a:picLocks noChangeAspect="1"/>
          </p:cNvPicPr>
          <p:nvPr userDrawn="1"/>
        </p:nvPicPr>
        <p:blipFill>
          <a:blip r:embed="rId5"/>
          <a:stretch>
            <a:fillRect/>
          </a:stretch>
        </p:blipFill>
        <p:spPr>
          <a:xfrm>
            <a:off x="8211705" y="324000"/>
            <a:ext cx="611869" cy="318516"/>
          </a:xfrm>
          <a:prstGeom prst="rect">
            <a:avLst/>
          </a:prstGeom>
        </p:spPr>
      </p:pic>
    </p:spTree>
  </p:cSld>
  <p:clrMap bg1="lt1" tx1="dk1" bg2="lt2" tx2="dk2" accent1="accent1" accent2="accent2" accent3="accent3" accent4="accent4" accent5="accent5" accent6="accent6" hlink="hlink" folHlink="folHlink"/>
  <p:sldLayoutIdLst>
    <p:sldLayoutId id="2147483664" r:id="rId1"/>
    <p:sldLayoutId id="2147483665" r:id="rId2"/>
  </p:sldLayoutIdLst>
  <p:hf hdr="0" dt="0"/>
  <p:txStyles>
    <p:titleStyle>
      <a:lvl1pPr algn="l" rtl="0" eaLnBrk="1" fontAlgn="base" hangingPunct="1">
        <a:lnSpc>
          <a:spcPct val="125000"/>
        </a:lnSpc>
        <a:spcBef>
          <a:spcPct val="0"/>
        </a:spcBef>
        <a:spcAft>
          <a:spcPct val="0"/>
        </a:spcAft>
        <a:defRPr sz="2200" b="0" kern="1200">
          <a:solidFill>
            <a:schemeClr val="tx1"/>
          </a:solidFill>
          <a:latin typeface="+mj-lt"/>
          <a:ea typeface="+mj-ea"/>
          <a:cs typeface="+mj-cs"/>
        </a:defRPr>
      </a:lvl1pPr>
      <a:lvl2pPr algn="l" rtl="0" eaLnBrk="1" fontAlgn="base" hangingPunct="1">
        <a:spcBef>
          <a:spcPct val="0"/>
        </a:spcBef>
        <a:spcAft>
          <a:spcPct val="0"/>
        </a:spcAft>
        <a:defRPr sz="2000" b="1">
          <a:solidFill>
            <a:schemeClr val="tx2"/>
          </a:solidFill>
          <a:latin typeface="Arial" charset="0"/>
          <a:cs typeface="Arial" charset="0"/>
        </a:defRPr>
      </a:lvl2pPr>
      <a:lvl3pPr algn="l" rtl="0" eaLnBrk="1" fontAlgn="base" hangingPunct="1">
        <a:spcBef>
          <a:spcPct val="0"/>
        </a:spcBef>
        <a:spcAft>
          <a:spcPct val="0"/>
        </a:spcAft>
        <a:defRPr sz="2000" b="1">
          <a:solidFill>
            <a:schemeClr val="tx2"/>
          </a:solidFill>
          <a:latin typeface="Arial" charset="0"/>
          <a:cs typeface="Arial" charset="0"/>
        </a:defRPr>
      </a:lvl3pPr>
      <a:lvl4pPr algn="l" rtl="0" eaLnBrk="1" fontAlgn="base" hangingPunct="1">
        <a:spcBef>
          <a:spcPct val="0"/>
        </a:spcBef>
        <a:spcAft>
          <a:spcPct val="0"/>
        </a:spcAft>
        <a:defRPr sz="2000" b="1">
          <a:solidFill>
            <a:schemeClr val="tx2"/>
          </a:solidFill>
          <a:latin typeface="Arial" charset="0"/>
          <a:cs typeface="Arial" charset="0"/>
        </a:defRPr>
      </a:lvl4pPr>
      <a:lvl5pPr algn="l" rtl="0" eaLnBrk="1" fontAlgn="base" hangingPunct="1">
        <a:spcBef>
          <a:spcPct val="0"/>
        </a:spcBef>
        <a:spcAft>
          <a:spcPct val="0"/>
        </a:spcAft>
        <a:defRPr sz="2000" b="1">
          <a:solidFill>
            <a:schemeClr val="tx2"/>
          </a:solidFill>
          <a:latin typeface="Arial" charset="0"/>
          <a:cs typeface="Arial" charset="0"/>
        </a:defRPr>
      </a:lvl5pPr>
      <a:lvl6pPr marL="457200" algn="l" rtl="0" eaLnBrk="1" fontAlgn="base" hangingPunct="1">
        <a:spcBef>
          <a:spcPct val="0"/>
        </a:spcBef>
        <a:spcAft>
          <a:spcPct val="0"/>
        </a:spcAft>
        <a:defRPr sz="2000" b="1">
          <a:solidFill>
            <a:schemeClr val="tx2"/>
          </a:solidFill>
          <a:latin typeface="Arial" charset="0"/>
          <a:cs typeface="Arial" charset="0"/>
        </a:defRPr>
      </a:lvl6pPr>
      <a:lvl7pPr marL="914400" algn="l" rtl="0" eaLnBrk="1" fontAlgn="base" hangingPunct="1">
        <a:spcBef>
          <a:spcPct val="0"/>
        </a:spcBef>
        <a:spcAft>
          <a:spcPct val="0"/>
        </a:spcAft>
        <a:defRPr sz="2000" b="1">
          <a:solidFill>
            <a:schemeClr val="tx2"/>
          </a:solidFill>
          <a:latin typeface="Arial" charset="0"/>
          <a:cs typeface="Arial" charset="0"/>
        </a:defRPr>
      </a:lvl7pPr>
      <a:lvl8pPr marL="1371600" algn="l" rtl="0" eaLnBrk="1" fontAlgn="base" hangingPunct="1">
        <a:spcBef>
          <a:spcPct val="0"/>
        </a:spcBef>
        <a:spcAft>
          <a:spcPct val="0"/>
        </a:spcAft>
        <a:defRPr sz="2000" b="1">
          <a:solidFill>
            <a:schemeClr val="tx2"/>
          </a:solidFill>
          <a:latin typeface="Arial" charset="0"/>
          <a:cs typeface="Arial" charset="0"/>
        </a:defRPr>
      </a:lvl8pPr>
      <a:lvl9pPr marL="1828800" algn="l" rtl="0" eaLnBrk="1" fontAlgn="base" hangingPunct="1">
        <a:spcBef>
          <a:spcPct val="0"/>
        </a:spcBef>
        <a:spcAft>
          <a:spcPct val="0"/>
        </a:spcAft>
        <a:defRPr sz="2000" b="1">
          <a:solidFill>
            <a:schemeClr val="tx2"/>
          </a:solidFill>
          <a:latin typeface="Arial" charset="0"/>
          <a:cs typeface="Arial" charset="0"/>
        </a:defRPr>
      </a:lvl9pPr>
    </p:titleStyle>
    <p:bodyStyle>
      <a:lvl1pPr algn="l" rtl="0" eaLnBrk="1" fontAlgn="base" hangingPunct="1">
        <a:lnSpc>
          <a:spcPct val="100000"/>
        </a:lnSpc>
        <a:spcBef>
          <a:spcPct val="0"/>
        </a:spcBef>
        <a:spcAft>
          <a:spcPct val="0"/>
        </a:spcAft>
        <a:defRPr sz="1600" kern="120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6966230"/>
      </p:ext>
    </p:extLst>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3" name="Textfeld 22"/>
          <p:cNvSpPr txBox="1"/>
          <p:nvPr/>
        </p:nvSpPr>
        <p:spPr>
          <a:xfrm>
            <a:off x="7713330" y="4922462"/>
            <a:ext cx="1115376" cy="210507"/>
          </a:xfrm>
          <a:prstGeom prst="rect">
            <a:avLst/>
          </a:prstGeom>
        </p:spPr>
        <p:txBody>
          <a:bodyPr wrap="square" lIns="0" tIns="0" rIns="0" bIns="0" rtlCol="0" anchor="b" anchorCtr="0">
            <a:spAutoFit/>
          </a:bodyPr>
          <a:lstStyle/>
          <a:p>
            <a:pPr algn="r">
              <a:lnSpc>
                <a:spcPct val="114000"/>
              </a:lnSpc>
            </a:pPr>
            <a:fld id="{C51078C5-4710-4254-8001-F1C0900803FD}" type="slidenum">
              <a:rPr lang="de-DE" sz="1200" smtClean="0">
                <a:latin typeface="+mn-lt"/>
                <a:cs typeface="Arial" pitchFamily="34" charset="0"/>
              </a:rPr>
              <a:pPr algn="r">
                <a:lnSpc>
                  <a:spcPct val="114000"/>
                </a:lnSpc>
              </a:pPr>
              <a:t>‹#›</a:t>
            </a:fld>
            <a:endParaRPr lang="de-DE" sz="1200" dirty="0">
              <a:latin typeface="+mn-lt"/>
              <a:cs typeface="Arial" pitchFamily="34" charset="0"/>
            </a:endParaRPr>
          </a:p>
        </p:txBody>
      </p:sp>
      <p:pic>
        <p:nvPicPr>
          <p:cNvPr id="5" name="Bild 4" descr="Fahnen_HG.jpg"/>
          <p:cNvPicPr>
            <a:picLocks noChangeAspect="1"/>
          </p:cNvPicPr>
          <p:nvPr/>
        </p:nvPicPr>
        <p:blipFill>
          <a:blip r:embed="rId4" cstate="screen"/>
          <a:srcRect l="398" t="14167" b="10833"/>
          <a:stretch>
            <a:fillRect/>
          </a:stretch>
        </p:blipFill>
        <p:spPr>
          <a:xfrm>
            <a:off x="0" y="0"/>
            <a:ext cx="9144000" cy="5143500"/>
          </a:xfrm>
          <a:prstGeom prst="rect">
            <a:avLst/>
          </a:prstGeom>
        </p:spPr>
      </p:pic>
      <p:pic>
        <p:nvPicPr>
          <p:cNvPr id="7" name="Bild 6" descr="20150416 tum logo blau png final.png"/>
          <p:cNvPicPr>
            <a:picLocks noChangeAspect="1"/>
          </p:cNvPicPr>
          <p:nvPr/>
        </p:nvPicPr>
        <p:blipFill>
          <a:blip r:embed="rId6"/>
          <a:stretch>
            <a:fillRect/>
          </a:stretch>
        </p:blipFill>
        <p:spPr>
          <a:xfrm>
            <a:off x="8203040" y="324000"/>
            <a:ext cx="615273" cy="320288"/>
          </a:xfrm>
          <a:prstGeom prst="rect">
            <a:avLst/>
          </a:prstGeom>
        </p:spPr>
      </p:pic>
      <p:sp>
        <p:nvSpPr>
          <p:cNvPr id="8"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9" r:id="rId1"/>
    <p:sldLayoutId id="2147483724" r:id="rId2"/>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pic>
        <p:nvPicPr>
          <p:cNvPr id="7" name="Bild 6" descr="20150416 tum logo blau png final.png"/>
          <p:cNvPicPr>
            <a:picLocks noChangeAspect="1"/>
          </p:cNvPicPr>
          <p:nvPr/>
        </p:nvPicPr>
        <p:blipFill>
          <a:blip r:embed="rId5"/>
          <a:stretch>
            <a:fillRect/>
          </a:stretch>
        </p:blipFill>
        <p:spPr>
          <a:xfrm>
            <a:off x="8211316" y="324000"/>
            <a:ext cx="611869" cy="318516"/>
          </a:xfrm>
          <a:prstGeom prst="rect">
            <a:avLst/>
          </a:prstGeom>
        </p:spPr>
      </p:pic>
      <p:sp>
        <p:nvSpPr>
          <p:cNvPr id="11" name="Textfeld 10"/>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en-US" sz="800" dirty="0">
                <a:solidFill>
                  <a:schemeClr val="tx2"/>
                </a:solidFill>
                <a:latin typeface="+mn-lt"/>
              </a:rPr>
              <a:t>Chair of High-Power Converter Systems</a:t>
            </a:r>
            <a:endParaRPr lang="de-DE" sz="800" kern="1200" dirty="0">
              <a:solidFill>
                <a:schemeClr val="tx2"/>
              </a:solidFill>
              <a:latin typeface="+mn-lt"/>
              <a:ea typeface="+mn-ea"/>
              <a:cs typeface="Arial" charset="0"/>
            </a:endParaRPr>
          </a:p>
          <a:p>
            <a:pPr>
              <a:lnSpc>
                <a:spcPts val="900"/>
              </a:lnSpc>
            </a:pPr>
            <a:r>
              <a:rPr lang="en-US" sz="800" kern="1200" dirty="0">
                <a:solidFill>
                  <a:schemeClr val="tx2"/>
                </a:solidFill>
                <a:latin typeface="+mn-lt"/>
                <a:ea typeface="+mn-ea"/>
                <a:cs typeface="Arial" charset="0"/>
              </a:rPr>
              <a:t>TUM School of Engineering and Design</a:t>
            </a:r>
            <a:endParaRPr lang="de-DE" sz="800" kern="1200" dirty="0">
              <a:solidFill>
                <a:schemeClr val="tx2"/>
              </a:solidFill>
              <a:latin typeface="+mn-lt"/>
              <a:ea typeface="+mn-ea"/>
              <a:cs typeface="Arial" charset="0"/>
            </a:endParaRPr>
          </a:p>
          <a:p>
            <a:pPr>
              <a:lnSpc>
                <a:spcPts val="900"/>
              </a:lnSpc>
            </a:pPr>
            <a:r>
              <a:rPr lang="de-DE" sz="800" baseline="0" dirty="0">
                <a:solidFill>
                  <a:schemeClr val="tx2"/>
                </a:solidFill>
                <a:latin typeface="+mn-lt"/>
              </a:rPr>
              <a:t>Technical University of Munich</a:t>
            </a:r>
            <a:endParaRPr lang="de-DE" sz="800" dirty="0">
              <a:solidFill>
                <a:schemeClr val="tx2"/>
              </a:solidFill>
              <a:latin typeface="+mn-lt"/>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Bild 2" descr="20150416 tum logo blau png final.png"/>
          <p:cNvPicPr>
            <a:picLocks noChangeAspect="1"/>
          </p:cNvPicPr>
          <p:nvPr/>
        </p:nvPicPr>
        <p:blipFill>
          <a:blip r:embed="rId21"/>
          <a:stretch>
            <a:fillRect/>
          </a:stretch>
        </p:blipFill>
        <p:spPr>
          <a:xfrm>
            <a:off x="8211316" y="324000"/>
            <a:ext cx="611869" cy="318516"/>
          </a:xfrm>
          <a:prstGeom prst="rect">
            <a:avLst/>
          </a:prstGeom>
        </p:spPr>
      </p:pic>
      <p:sp>
        <p:nvSpPr>
          <p:cNvPr id="5" name="Foliennummernplatzhalter 4"/>
          <p:cNvSpPr>
            <a:spLocks noGrp="1"/>
          </p:cNvSpPr>
          <p:nvPr>
            <p:ph type="sldNum" sz="quarter" idx="4"/>
          </p:nvPr>
        </p:nvSpPr>
        <p:spPr>
          <a:xfrm>
            <a:off x="6774934" y="4854985"/>
            <a:ext cx="2052074"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6"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2" r:id="rId1"/>
    <p:sldLayoutId id="2147483654" r:id="rId2"/>
    <p:sldLayoutId id="2147483716" r:id="rId3"/>
    <p:sldLayoutId id="2147483704" r:id="rId4"/>
    <p:sldLayoutId id="2147483714" r:id="rId5"/>
    <p:sldLayoutId id="2147483713" r:id="rId6"/>
    <p:sldLayoutId id="2147483712" r:id="rId7"/>
    <p:sldLayoutId id="2147483715" r:id="rId8"/>
    <p:sldLayoutId id="2147483657" r:id="rId9"/>
    <p:sldLayoutId id="2147483717" r:id="rId10"/>
    <p:sldLayoutId id="2147483711" r:id="rId11"/>
    <p:sldLayoutId id="2147483718" r:id="rId12"/>
    <p:sldLayoutId id="2147483703" r:id="rId13"/>
    <p:sldLayoutId id="2147483719" r:id="rId14"/>
    <p:sldLayoutId id="2147483653" r:id="rId15"/>
    <p:sldLayoutId id="2147483721" r:id="rId16"/>
    <p:sldLayoutId id="2147483656" r:id="rId17"/>
    <p:sldLayoutId id="2147483720" r:id="rId18"/>
  </p:sldLayoutIdLst>
  <p:hf hdr="0" dt="0"/>
  <p:txStyles>
    <p:titleStyle>
      <a:lvl1pPr algn="l" rtl="0" eaLnBrk="0" fontAlgn="base" hangingPunct="0">
        <a:lnSpc>
          <a:spcPct val="125000"/>
        </a:lnSpc>
        <a:spcBef>
          <a:spcPct val="0"/>
        </a:spcBef>
        <a:spcAft>
          <a:spcPct val="0"/>
        </a:spcAft>
        <a:defRPr sz="25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hteck 5"/>
          <p:cNvSpPr/>
          <p:nvPr/>
        </p:nvSpPr>
        <p:spPr bwMode="hidden">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p>
        </p:txBody>
      </p:sp>
      <p:pic>
        <p:nvPicPr>
          <p:cNvPr id="4" name="Bild 3" descr="20150416 tum logo blau png final.png"/>
          <p:cNvPicPr>
            <a:picLocks noChangeAspect="1"/>
          </p:cNvPicPr>
          <p:nvPr/>
        </p:nvPicPr>
        <p:blipFill>
          <a:blip r:embed="rId4"/>
          <a:stretch>
            <a:fillRect/>
          </a:stretch>
        </p:blipFill>
        <p:spPr bwMode="black">
          <a:xfrm>
            <a:off x="8203040" y="324000"/>
            <a:ext cx="615273" cy="320288"/>
          </a:xfrm>
          <a:prstGeom prst="rect">
            <a:avLst/>
          </a:prstGeom>
        </p:spPr>
      </p:pic>
      <p:sp>
        <p:nvSpPr>
          <p:cNvPr id="7"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8"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85"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6"/>
          <p:cNvSpPr/>
          <p:nvPr/>
        </p:nvSpPr>
        <p:spPr bwMode="hidden">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solidFill>
                <a:schemeClr val="bg1"/>
              </a:solidFill>
            </a:endParaRPr>
          </a:p>
        </p:txBody>
      </p:sp>
      <p:pic>
        <p:nvPicPr>
          <p:cNvPr id="4" name="Bild 3" descr="20150416 tum logo blau png final.png"/>
          <p:cNvPicPr>
            <a:picLocks noChangeAspect="1"/>
          </p:cNvPicPr>
          <p:nvPr/>
        </p:nvPicPr>
        <p:blipFill>
          <a:blip r:embed="rId4"/>
          <a:stretch>
            <a:fillRect/>
          </a:stretch>
        </p:blipFill>
        <p:spPr bwMode="black">
          <a:xfrm>
            <a:off x="8203040" y="324000"/>
            <a:ext cx="615273" cy="320288"/>
          </a:xfrm>
          <a:prstGeom prst="rect">
            <a:avLst/>
          </a:prstGeom>
        </p:spPr>
      </p:pic>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98"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ArchiHotel — Reservation Handling &amp; Check-In</a:t>
            </a:r>
          </a:p>
        </p:txBody>
      </p:sp>
      <p:sp>
        <p:nvSpPr>
          <p:cNvPr id="3" name="Content Placeholder 2"/>
          <p:cNvSpPr>
            <a:spLocks noGrp="1"/>
          </p:cNvSpPr>
          <p:nvPr>
            <p:ph idx="10"/>
          </p:nvPr>
        </p:nvSpPr>
        <p:spPr/>
        <p:txBody>
          <a:bodyPr/>
          <a:lstStyle/>
          <a:p>
            <a:r>
              <a:t>Team C2F1G4 — Katrin Schwab · Soyeong Jeong · Fiona Aurelia · Angel Choi · Demir Eroglu</a:t>
            </a:r>
          </a:p>
          <a:p>
            <a:r>
              <a:t>Technical University of Munich — School of Computation, Information and Technology</a:t>
            </a:r>
          </a:p>
          <a:p>
            <a:r>
              <a:t>Enterprise Architecture Management and Reference Models — Case Study Final Presentation</a:t>
            </a:r>
          </a:p>
          <a:p>
            <a:r>
              <a:t>Heilbronn · Room C.0.44 · 06.07.2026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One layer per person — merged into one model</a:t>
            </a:r>
          </a:p>
        </p:txBody>
      </p:sp>
      <p:sp>
        <p:nvSpPr>
          <p:cNvPr id="4" name="Title 3"/>
          <p:cNvSpPr>
            <a:spLocks noGrp="1"/>
          </p:cNvSpPr>
          <p:nvPr>
            <p:ph type="title"/>
          </p:nvPr>
        </p:nvSpPr>
        <p:spPr/>
        <p:txBody>
          <a:bodyPr/>
          <a:lstStyle/>
          <a:p>
            <a:r>
              <a:t>Our EAM Team</a:t>
            </a:r>
          </a:p>
        </p:txBody>
      </p:sp>
      <p:sp>
        <p:nvSpPr>
          <p:cNvPr id="5" name="Text Placeholder 4"/>
          <p:cNvSpPr>
            <a:spLocks noGrp="1"/>
          </p:cNvSpPr>
          <p:nvPr>
            <p:ph type="body" idx="14" sz="quarter"/>
          </p:nvPr>
        </p:nvSpPr>
        <p:spPr/>
        <p:txBody>
          <a:bodyPr/>
          <a:lstStyle/>
          <a:p/>
        </p:txBody>
      </p:sp>
      <p:sp>
        <p:nvSpPr>
          <p:cNvPr id="6" name="Oval 5"/>
          <p:cNvSpPr/>
          <p:nvPr/>
        </p:nvSpPr>
        <p:spPr>
          <a:xfrm>
            <a:off x="713231" y="1600200"/>
            <a:ext cx="768096" cy="768096"/>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rPr>
              <a:t>KS</a:t>
            </a:r>
          </a:p>
        </p:txBody>
      </p:sp>
      <p:sp>
        <p:nvSpPr>
          <p:cNvPr id="7" name="TextBox 6"/>
          <p:cNvSpPr txBox="1"/>
          <p:nvPr/>
        </p:nvSpPr>
        <p:spPr>
          <a:xfrm>
            <a:off x="283463" y="2487168"/>
            <a:ext cx="1627632" cy="1371600"/>
          </a:xfrm>
          <a:prstGeom prst="rect">
            <a:avLst/>
          </a:prstGeom>
          <a:noFill/>
        </p:spPr>
        <p:txBody>
          <a:bodyPr wrap="square">
            <a:spAutoFit/>
          </a:bodyPr>
          <a:lstStyle/>
          <a:p>
            <a:pPr algn="ctr">
              <a:spcAft>
                <a:spcPts val="400"/>
              </a:spcAft>
            </a:pPr>
            <a:r>
              <a:rPr sz="1100" b="1">
                <a:solidFill>
                  <a:srgbClr val="20252A"/>
                </a:solidFill>
              </a:rPr>
              <a:t>Katrin Schwab</a:t>
            </a:r>
          </a:p>
          <a:p>
            <a:pPr algn="ctr">
              <a:spcAft>
                <a:spcPts val="400"/>
              </a:spcAft>
            </a:pPr>
            <a:r>
              <a:rPr sz="950">
                <a:solidFill>
                  <a:srgbClr val="606060"/>
                </a:solidFill>
              </a:rPr>
              <a:t>Abstract EA view · model QA &amp; integration</a:t>
            </a:r>
          </a:p>
        </p:txBody>
      </p:sp>
      <p:sp>
        <p:nvSpPr>
          <p:cNvPr id="8" name="Oval 7"/>
          <p:cNvSpPr/>
          <p:nvPr/>
        </p:nvSpPr>
        <p:spPr>
          <a:xfrm>
            <a:off x="2450591" y="1600200"/>
            <a:ext cx="768096" cy="768096"/>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rPr>
              <a:t>SJ</a:t>
            </a:r>
          </a:p>
        </p:txBody>
      </p:sp>
      <p:sp>
        <p:nvSpPr>
          <p:cNvPr id="9" name="TextBox 8"/>
          <p:cNvSpPr txBox="1"/>
          <p:nvPr/>
        </p:nvSpPr>
        <p:spPr>
          <a:xfrm>
            <a:off x="2020823" y="2487168"/>
            <a:ext cx="1627632" cy="1371600"/>
          </a:xfrm>
          <a:prstGeom prst="rect">
            <a:avLst/>
          </a:prstGeom>
          <a:noFill/>
        </p:spPr>
        <p:txBody>
          <a:bodyPr wrap="square">
            <a:spAutoFit/>
          </a:bodyPr>
          <a:lstStyle/>
          <a:p>
            <a:pPr algn="ctr">
              <a:spcAft>
                <a:spcPts val="400"/>
              </a:spcAft>
            </a:pPr>
            <a:r>
              <a:rPr sz="1100" b="1">
                <a:solidFill>
                  <a:srgbClr val="20252A"/>
                </a:solidFill>
              </a:rPr>
              <a:t>Soyeong Jeong</a:t>
            </a:r>
          </a:p>
          <a:p>
            <a:pPr algn="ctr">
              <a:spcAft>
                <a:spcPts val="400"/>
              </a:spcAft>
            </a:pPr>
            <a:r>
              <a:rPr sz="950">
                <a:solidFill>
                  <a:srgbClr val="606060"/>
                </a:solidFill>
              </a:rPr>
              <a:t>Business layer — Reservation &amp; Check-In</a:t>
            </a:r>
          </a:p>
        </p:txBody>
      </p:sp>
      <p:sp>
        <p:nvSpPr>
          <p:cNvPr id="10" name="Oval 9"/>
          <p:cNvSpPr/>
          <p:nvPr/>
        </p:nvSpPr>
        <p:spPr>
          <a:xfrm>
            <a:off x="4187951" y="1600200"/>
            <a:ext cx="768096" cy="768096"/>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rPr>
              <a:t>FA</a:t>
            </a:r>
          </a:p>
        </p:txBody>
      </p:sp>
      <p:sp>
        <p:nvSpPr>
          <p:cNvPr id="11" name="TextBox 10"/>
          <p:cNvSpPr txBox="1"/>
          <p:nvPr/>
        </p:nvSpPr>
        <p:spPr>
          <a:xfrm>
            <a:off x="3758183" y="2487168"/>
            <a:ext cx="1627632" cy="1371600"/>
          </a:xfrm>
          <a:prstGeom prst="rect">
            <a:avLst/>
          </a:prstGeom>
          <a:noFill/>
        </p:spPr>
        <p:txBody>
          <a:bodyPr wrap="square">
            <a:spAutoFit/>
          </a:bodyPr>
          <a:lstStyle/>
          <a:p>
            <a:pPr algn="ctr">
              <a:spcAft>
                <a:spcPts val="400"/>
              </a:spcAft>
            </a:pPr>
            <a:r>
              <a:rPr sz="1100" b="1">
                <a:solidFill>
                  <a:srgbClr val="20252A"/>
                </a:solidFill>
              </a:rPr>
              <a:t>Fiona Aurelia</a:t>
            </a:r>
          </a:p>
          <a:p>
            <a:pPr algn="ctr">
              <a:spcAft>
                <a:spcPts val="400"/>
              </a:spcAft>
            </a:pPr>
            <a:r>
              <a:rPr sz="950">
                <a:solidFill>
                  <a:srgbClr val="606060"/>
                </a:solidFill>
              </a:rPr>
              <a:t>Application layer — HMS internals</a:t>
            </a:r>
          </a:p>
        </p:txBody>
      </p:sp>
      <p:sp>
        <p:nvSpPr>
          <p:cNvPr id="12" name="Oval 11"/>
          <p:cNvSpPr/>
          <p:nvPr/>
        </p:nvSpPr>
        <p:spPr>
          <a:xfrm>
            <a:off x="5925311" y="1600200"/>
            <a:ext cx="768096" cy="768096"/>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rPr>
              <a:t>AC</a:t>
            </a:r>
          </a:p>
        </p:txBody>
      </p:sp>
      <p:sp>
        <p:nvSpPr>
          <p:cNvPr id="13" name="TextBox 12"/>
          <p:cNvSpPr txBox="1"/>
          <p:nvPr/>
        </p:nvSpPr>
        <p:spPr>
          <a:xfrm>
            <a:off x="5495543" y="2487168"/>
            <a:ext cx="1627632" cy="1371600"/>
          </a:xfrm>
          <a:prstGeom prst="rect">
            <a:avLst/>
          </a:prstGeom>
          <a:noFill/>
        </p:spPr>
        <p:txBody>
          <a:bodyPr wrap="square">
            <a:spAutoFit/>
          </a:bodyPr>
          <a:lstStyle/>
          <a:p>
            <a:pPr algn="ctr">
              <a:spcAft>
                <a:spcPts val="400"/>
              </a:spcAft>
            </a:pPr>
            <a:r>
              <a:rPr sz="1100" b="1">
                <a:solidFill>
                  <a:srgbClr val="20252A"/>
                </a:solidFill>
              </a:rPr>
              <a:t>Angel Choi</a:t>
            </a:r>
          </a:p>
          <a:p>
            <a:pPr algn="ctr">
              <a:spcAft>
                <a:spcPts val="400"/>
              </a:spcAft>
            </a:pPr>
            <a:r>
              <a:rPr sz="950">
                <a:solidFill>
                  <a:srgbClr val="606060"/>
                </a:solidFill>
              </a:rPr>
              <a:t>Cross-layer alignment &amp; consolidation</a:t>
            </a:r>
          </a:p>
        </p:txBody>
      </p:sp>
      <p:sp>
        <p:nvSpPr>
          <p:cNvPr id="14" name="Oval 13"/>
          <p:cNvSpPr/>
          <p:nvPr/>
        </p:nvSpPr>
        <p:spPr>
          <a:xfrm>
            <a:off x="7662671" y="1600200"/>
            <a:ext cx="768096" cy="768096"/>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2200" b="1">
                <a:solidFill>
                  <a:srgbClr val="FFFFFF"/>
                </a:solidFill>
              </a:rPr>
              <a:t>DE</a:t>
            </a:r>
          </a:p>
        </p:txBody>
      </p:sp>
      <p:sp>
        <p:nvSpPr>
          <p:cNvPr id="15" name="TextBox 14"/>
          <p:cNvSpPr txBox="1"/>
          <p:nvPr/>
        </p:nvSpPr>
        <p:spPr>
          <a:xfrm>
            <a:off x="7232903" y="2487168"/>
            <a:ext cx="1627632" cy="1371600"/>
          </a:xfrm>
          <a:prstGeom prst="rect">
            <a:avLst/>
          </a:prstGeom>
          <a:noFill/>
        </p:spPr>
        <p:txBody>
          <a:bodyPr wrap="square">
            <a:spAutoFit/>
          </a:bodyPr>
          <a:lstStyle/>
          <a:p>
            <a:pPr algn="ctr">
              <a:spcAft>
                <a:spcPts val="400"/>
              </a:spcAft>
            </a:pPr>
            <a:r>
              <a:rPr sz="1100" b="1">
                <a:solidFill>
                  <a:srgbClr val="20252A"/>
                </a:solidFill>
              </a:rPr>
              <a:t>Demir Eroglu</a:t>
            </a:r>
          </a:p>
          <a:p>
            <a:pPr algn="ctr">
              <a:spcAft>
                <a:spcPts val="400"/>
              </a:spcAft>
            </a:pPr>
            <a:r>
              <a:rPr sz="950">
                <a:solidFill>
                  <a:srgbClr val="606060"/>
                </a:solidFill>
              </a:rPr>
              <a:t>Technology layer — key-card stack</a:t>
            </a:r>
          </a:p>
        </p:txBody>
      </p:sp>
      <p:sp>
        <p:nvSpPr>
          <p:cNvPr id="16" name="TextBox 15"/>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17" name="TextBox 16"/>
          <p:cNvSpPr txBox="1"/>
          <p:nvPr/>
        </p:nvSpPr>
        <p:spPr>
          <a:xfrm>
            <a:off x="8321040" y="4864608"/>
            <a:ext cx="548640" cy="237744"/>
          </a:xfrm>
          <a:prstGeom prst="rect">
            <a:avLst/>
          </a:prstGeom>
          <a:noFill/>
        </p:spPr>
        <p:txBody>
          <a:bodyPr wrap="none">
            <a:spAutoFit/>
          </a:bodyPr>
          <a:lstStyle/>
          <a:p>
            <a:pPr algn="r"/>
            <a:r>
              <a:rPr sz="800">
                <a:solidFill>
                  <a:srgbClr val="606060"/>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A luxury hotel where “luxury feels effortless” — run on one Hotel Management System</a:t>
            </a:r>
          </a:p>
        </p:txBody>
      </p:sp>
      <p:sp>
        <p:nvSpPr>
          <p:cNvPr id="4" name="Title 3"/>
          <p:cNvSpPr>
            <a:spLocks noGrp="1"/>
          </p:cNvSpPr>
          <p:nvPr>
            <p:ph type="title"/>
          </p:nvPr>
        </p:nvSpPr>
        <p:spPr/>
        <p:txBody>
          <a:bodyPr/>
          <a:lstStyle/>
          <a:p>
            <a:r>
              <a:t>The Case: ArchiHotel's Services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502920" y="1874519"/>
            <a:ext cx="2057400" cy="178308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1874519"/>
            <a:ext cx="2057400" cy="329184"/>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150">
                <a:solidFill>
                  <a:srgbClr val="FFFFFF"/>
                </a:solidFill>
              </a:rPr>
              <a:t>Reservation Handling</a:t>
            </a:r>
          </a:p>
        </p:txBody>
      </p:sp>
      <p:sp>
        <p:nvSpPr>
          <p:cNvPr id="8" name="TextBox 7"/>
          <p:cNvSpPr txBox="1"/>
          <p:nvPr/>
        </p:nvSpPr>
        <p:spPr>
          <a:xfrm>
            <a:off x="576072" y="2258568"/>
            <a:ext cx="1911095" cy="1325880"/>
          </a:xfrm>
          <a:prstGeom prst="rect">
            <a:avLst/>
          </a:prstGeom>
          <a:noFill/>
        </p:spPr>
        <p:txBody>
          <a:bodyPr wrap="square">
            <a:spAutoFit/>
          </a:bodyPr>
          <a:lstStyle/>
          <a:p>
            <a:pPr>
              <a:spcAft>
                <a:spcPts val="300"/>
              </a:spcAft>
            </a:pPr>
            <a:r>
              <a:rPr sz="1050">
                <a:solidFill>
                  <a:srgbClr val="20252A"/>
                </a:solidFill>
              </a:rPr>
              <a:t>Website or external booking platforms</a:t>
            </a:r>
          </a:p>
          <a:p>
            <a:pPr>
              <a:spcAft>
                <a:spcPts val="300"/>
              </a:spcAft>
            </a:pPr>
            <a:r>
              <a:rPr sz="1050">
                <a:solidFill>
                  <a:srgbClr val="20252A"/>
                </a:solidFill>
              </a:rPr>
              <a:t>Availability · pricing · confirmation</a:t>
            </a:r>
          </a:p>
          <a:p>
            <a:pPr>
              <a:spcAft>
                <a:spcPts val="300"/>
              </a:spcAft>
            </a:pPr>
            <a:r>
              <a:rPr sz="1050">
                <a:solidFill>
                  <a:srgbClr val="20252A"/>
                </a:solidFill>
              </a:rPr>
              <a:t>Special requests before arrival</a:t>
            </a:r>
          </a:p>
        </p:txBody>
      </p:sp>
      <p:sp>
        <p:nvSpPr>
          <p:cNvPr id="9" name="Rounded Rectangle 8"/>
          <p:cNvSpPr/>
          <p:nvPr/>
        </p:nvSpPr>
        <p:spPr>
          <a:xfrm>
            <a:off x="2697480" y="1874519"/>
            <a:ext cx="2057400" cy="178308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697480" y="1874519"/>
            <a:ext cx="2057400" cy="329184"/>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150">
                <a:solidFill>
                  <a:srgbClr val="FFFFFF"/>
                </a:solidFill>
              </a:rPr>
              <a:t>Check-In / Check-Out</a:t>
            </a:r>
          </a:p>
        </p:txBody>
      </p:sp>
      <p:sp>
        <p:nvSpPr>
          <p:cNvPr id="11" name="TextBox 10"/>
          <p:cNvSpPr txBox="1"/>
          <p:nvPr/>
        </p:nvSpPr>
        <p:spPr>
          <a:xfrm>
            <a:off x="2770632" y="2258568"/>
            <a:ext cx="1911095" cy="1325880"/>
          </a:xfrm>
          <a:prstGeom prst="rect">
            <a:avLst/>
          </a:prstGeom>
          <a:noFill/>
        </p:spPr>
        <p:txBody>
          <a:bodyPr wrap="square">
            <a:spAutoFit/>
          </a:bodyPr>
          <a:lstStyle/>
          <a:p>
            <a:pPr>
              <a:spcAft>
                <a:spcPts val="300"/>
              </a:spcAft>
            </a:pPr>
            <a:r>
              <a:rPr sz="1050">
                <a:solidFill>
                  <a:srgbClr val="20252A"/>
                </a:solidFill>
              </a:rPr>
              <a:t>Identify reservation, verify identity</a:t>
            </a:r>
          </a:p>
          <a:p>
            <a:pPr>
              <a:spcAft>
                <a:spcPts val="300"/>
              </a:spcAft>
            </a:pPr>
            <a:r>
              <a:rPr sz="1050">
                <a:solidFill>
                  <a:srgbClr val="20252A"/>
                </a:solidFill>
              </a:rPr>
              <a:t>Key card issued &amp; configured</a:t>
            </a:r>
          </a:p>
          <a:p>
            <a:pPr>
              <a:spcAft>
                <a:spcPts val="300"/>
              </a:spcAft>
            </a:pPr>
            <a:r>
              <a:rPr sz="1050">
                <a:solidFill>
                  <a:srgbClr val="20252A"/>
                </a:solidFill>
              </a:rPr>
              <a:t>Open costs settled at departure</a:t>
            </a:r>
          </a:p>
        </p:txBody>
      </p:sp>
      <p:sp>
        <p:nvSpPr>
          <p:cNvPr id="12" name="Rounded Rectangle 11"/>
          <p:cNvSpPr/>
          <p:nvPr/>
        </p:nvSpPr>
        <p:spPr>
          <a:xfrm>
            <a:off x="4892040" y="1874519"/>
            <a:ext cx="2057400" cy="178308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892040" y="1874519"/>
            <a:ext cx="2057400" cy="329184"/>
          </a:xfrm>
          <a:prstGeom prst="roundRect">
            <a:avLst>
              <a:gd name="adj" fmla="val 50000"/>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150">
                <a:solidFill>
                  <a:srgbClr val="FFFFFF"/>
                </a:solidFill>
              </a:rPr>
              <a:t>Payment</a:t>
            </a:r>
          </a:p>
        </p:txBody>
      </p:sp>
      <p:sp>
        <p:nvSpPr>
          <p:cNvPr id="14" name="TextBox 13"/>
          <p:cNvSpPr txBox="1"/>
          <p:nvPr/>
        </p:nvSpPr>
        <p:spPr>
          <a:xfrm>
            <a:off x="4965192" y="2258568"/>
            <a:ext cx="1911095" cy="1325880"/>
          </a:xfrm>
          <a:prstGeom prst="rect">
            <a:avLst/>
          </a:prstGeom>
          <a:noFill/>
        </p:spPr>
        <p:txBody>
          <a:bodyPr wrap="square">
            <a:spAutoFit/>
          </a:bodyPr>
          <a:lstStyle/>
          <a:p>
            <a:pPr>
              <a:spcAft>
                <a:spcPts val="300"/>
              </a:spcAft>
            </a:pPr>
            <a:r>
              <a:rPr sz="1050">
                <a:solidFill>
                  <a:srgbClr val="20252A"/>
                </a:solidFill>
              </a:rPr>
              <a:t>External payment service provider</a:t>
            </a:r>
          </a:p>
          <a:p>
            <a:pPr>
              <a:spcAft>
                <a:spcPts val="300"/>
              </a:spcAft>
            </a:pPr>
            <a:r>
              <a:rPr sz="1050">
                <a:solidFill>
                  <a:srgbClr val="20252A"/>
                </a:solidFill>
              </a:rPr>
              <a:t>Open costs tracked centrally in the HMS</a:t>
            </a:r>
          </a:p>
        </p:txBody>
      </p:sp>
      <p:sp>
        <p:nvSpPr>
          <p:cNvPr id="15" name="Rounded Rectangle 14"/>
          <p:cNvSpPr/>
          <p:nvPr/>
        </p:nvSpPr>
        <p:spPr>
          <a:xfrm>
            <a:off x="7086600" y="1874519"/>
            <a:ext cx="2057400" cy="178308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1874519"/>
            <a:ext cx="2057400" cy="329184"/>
          </a:xfrm>
          <a:prstGeom prst="roundRect">
            <a:avLst>
              <a:gd name="adj" fmla="val 50000"/>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150">
                <a:solidFill>
                  <a:srgbClr val="FFFFFF"/>
                </a:solidFill>
              </a:rPr>
              <a:t>Daily Briefing &amp; Staff</a:t>
            </a:r>
          </a:p>
        </p:txBody>
      </p:sp>
      <p:sp>
        <p:nvSpPr>
          <p:cNvPr id="17" name="TextBox 16"/>
          <p:cNvSpPr txBox="1"/>
          <p:nvPr/>
        </p:nvSpPr>
        <p:spPr>
          <a:xfrm>
            <a:off x="7159752" y="2258568"/>
            <a:ext cx="1911095" cy="1325880"/>
          </a:xfrm>
          <a:prstGeom prst="rect">
            <a:avLst/>
          </a:prstGeom>
          <a:noFill/>
        </p:spPr>
        <p:txBody>
          <a:bodyPr wrap="square">
            <a:spAutoFit/>
          </a:bodyPr>
          <a:lstStyle/>
          <a:p>
            <a:pPr>
              <a:spcAft>
                <a:spcPts val="300"/>
              </a:spcAft>
            </a:pPr>
            <a:r>
              <a:rPr sz="1050">
                <a:solidFill>
                  <a:srgbClr val="20252A"/>
                </a:solidFill>
              </a:rPr>
              <a:t>Manager + heads align the day</a:t>
            </a:r>
          </a:p>
          <a:p>
            <a:pPr>
              <a:spcAft>
                <a:spcPts val="300"/>
              </a:spcAft>
            </a:pPr>
            <a:r>
              <a:rPr sz="1050">
                <a:solidFill>
                  <a:srgbClr val="20252A"/>
                </a:solidFill>
              </a:rPr>
              <a:t>Staff Portal pushes updates to phones</a:t>
            </a:r>
          </a:p>
        </p:txBody>
      </p:sp>
      <p:sp>
        <p:nvSpPr>
          <p:cNvPr id="18" name="Rounded Rectangle 17"/>
          <p:cNvSpPr/>
          <p:nvPr/>
        </p:nvSpPr>
        <p:spPr>
          <a:xfrm>
            <a:off x="384048" y="1572768"/>
            <a:ext cx="4526280" cy="2240280"/>
          </a:xfrm>
          <a:prstGeom prst="roundRect">
            <a:avLst>
              <a:gd name="adj" fmla="val 4000"/>
            </a:avLst>
          </a:prstGeom>
          <a:noFill/>
          <a:ln w="31750">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84048" y="3858768"/>
            <a:ext cx="2377440" cy="274320"/>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Our Focus Area — F1</a:t>
            </a:r>
          </a:p>
        </p:txBody>
      </p:sp>
      <p:sp>
        <p:nvSpPr>
          <p:cNvPr id="20" name="TextBox 19"/>
          <p:cNvSpPr txBox="1"/>
          <p:nvPr/>
        </p:nvSpPr>
        <p:spPr>
          <a:xfrm>
            <a:off x="4892040" y="3913632"/>
            <a:ext cx="4206240" cy="457200"/>
          </a:xfrm>
          <a:prstGeom prst="rect">
            <a:avLst/>
          </a:prstGeom>
          <a:noFill/>
        </p:spPr>
        <p:txBody>
          <a:bodyPr wrap="square">
            <a:spAutoFit/>
          </a:bodyPr>
          <a:lstStyle/>
          <a:p>
            <a:pPr algn="l">
              <a:spcAft>
                <a:spcPts val="400"/>
              </a:spcAft>
            </a:pPr>
            <a:r>
              <a:rPr sz="1000">
                <a:solidFill>
                  <a:srgbClr val="606060"/>
                </a:solidFill>
              </a:rPr>
              <a:t>Payment and briefing touch F1 — the guest journey crosses all of them.</a:t>
            </a:r>
          </a:p>
        </p:txBody>
      </p:sp>
      <p:sp>
        <p:nvSpPr>
          <p:cNvPr id="21" name="TextBox 20"/>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22" name="TextBox 21"/>
          <p:cNvSpPr txBox="1"/>
          <p:nvPr/>
        </p:nvSpPr>
        <p:spPr>
          <a:xfrm>
            <a:off x="8321040" y="4864608"/>
            <a:ext cx="548640" cy="237744"/>
          </a:xfrm>
          <a:prstGeom prst="rect">
            <a:avLst/>
          </a:prstGeom>
          <a:noFill/>
        </p:spPr>
        <p:txBody>
          <a:bodyPr wrap="none">
            <a:spAutoFit/>
          </a:bodyPr>
          <a:lstStyle/>
          <a:p>
            <a:pPr algn="r"/>
            <a:r>
              <a:rPr sz="800">
                <a:solidFill>
                  <a:srgbClr val="606060"/>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Don't read the boxes — watch the structure. 72 elements · 98 relationships on this view</a:t>
            </a:r>
          </a:p>
        </p:txBody>
      </p:sp>
      <p:sp>
        <p:nvSpPr>
          <p:cNvPr id="4" name="Title 3"/>
          <p:cNvSpPr>
            <a:spLocks noGrp="1"/>
          </p:cNvSpPr>
          <p:nvPr>
            <p:ph type="title"/>
          </p:nvPr>
        </p:nvSpPr>
        <p:spPr/>
        <p:txBody>
          <a:bodyPr/>
          <a:lstStyle/>
          <a:p>
            <a:r>
              <a:t>The Abstract EA Model — the Map</a:t>
            </a:r>
          </a:p>
        </p:txBody>
      </p:sp>
      <p:sp>
        <p:nvSpPr>
          <p:cNvPr id="5" name="Text Placeholder 4"/>
          <p:cNvSpPr>
            <a:spLocks noGrp="1"/>
          </p:cNvSpPr>
          <p:nvPr>
            <p:ph type="body" idx="14" sz="quarter"/>
          </p:nvPr>
        </p:nvSpPr>
        <p:spPr/>
        <p:txBody>
          <a:bodyPr/>
          <a:lstStyle/>
          <a:p/>
        </p:txBody>
      </p:sp>
      <p:sp>
        <p:nvSpPr>
          <p:cNvPr id="6" name="Rectangle 5"/>
          <p:cNvSpPr/>
          <p:nvPr/>
        </p:nvSpPr>
        <p:spPr>
          <a:xfrm>
            <a:off x="709695" y="1426464"/>
            <a:ext cx="5118569" cy="3493008"/>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bstract_full.png"/>
          <p:cNvPicPr>
            <a:picLocks noChangeAspect="1"/>
          </p:cNvPicPr>
          <p:nvPr/>
        </p:nvPicPr>
        <p:blipFill>
          <a:blip r:embed="rId2"/>
          <a:stretch>
            <a:fillRect/>
          </a:stretch>
        </p:blipFill>
        <p:spPr>
          <a:xfrm>
            <a:off x="727983" y="1444752"/>
            <a:ext cx="5081993" cy="3456432"/>
          </a:xfrm>
          <a:prstGeom prst="rect">
            <a:avLst/>
          </a:prstGeom>
        </p:spPr>
      </p:pic>
      <p:sp>
        <p:nvSpPr>
          <p:cNvPr id="8" name="Oval 7"/>
          <p:cNvSpPr/>
          <p:nvPr/>
        </p:nvSpPr>
        <p:spPr>
          <a:xfrm>
            <a:off x="6446520" y="1627632"/>
            <a:ext cx="146304" cy="146304"/>
          </a:xfrm>
          <a:prstGeom prst="ellipse">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56832" y="1545336"/>
            <a:ext cx="2331720" cy="822960"/>
          </a:xfrm>
          <a:prstGeom prst="rect">
            <a:avLst/>
          </a:prstGeom>
          <a:noFill/>
        </p:spPr>
        <p:txBody>
          <a:bodyPr wrap="square">
            <a:spAutoFit/>
          </a:bodyPr>
          <a:lstStyle/>
          <a:p>
            <a:pPr algn="l">
              <a:spcAft>
                <a:spcPts val="400"/>
              </a:spcAft>
            </a:pPr>
            <a:r>
              <a:rPr sz="1100" b="1">
                <a:solidFill>
                  <a:srgbClr val="20252A"/>
                </a:solidFill>
              </a:rPr>
              <a:t>Three ArchiMate layers</a:t>
            </a:r>
          </a:p>
          <a:p>
            <a:pPr algn="l">
              <a:spcAft>
                <a:spcPts val="400"/>
              </a:spcAft>
            </a:pPr>
            <a:r>
              <a:rPr sz="950">
                <a:solidFill>
                  <a:srgbClr val="606060"/>
                </a:solidFill>
              </a:rPr>
              <a:t>Business → Application → Technology</a:t>
            </a:r>
          </a:p>
        </p:txBody>
      </p:sp>
      <p:sp>
        <p:nvSpPr>
          <p:cNvPr id="10" name="Oval 9"/>
          <p:cNvSpPr/>
          <p:nvPr/>
        </p:nvSpPr>
        <p:spPr>
          <a:xfrm>
            <a:off x="6446520" y="2587751"/>
            <a:ext cx="146304" cy="146304"/>
          </a:xfrm>
          <a:prstGeom prst="ellipse">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6832" y="2505456"/>
            <a:ext cx="2331720" cy="822960"/>
          </a:xfrm>
          <a:prstGeom prst="rect">
            <a:avLst/>
          </a:prstGeom>
          <a:noFill/>
        </p:spPr>
        <p:txBody>
          <a:bodyPr wrap="square">
            <a:spAutoFit/>
          </a:bodyPr>
          <a:lstStyle/>
          <a:p>
            <a:pPr algn="l">
              <a:spcAft>
                <a:spcPts val="400"/>
              </a:spcAft>
            </a:pPr>
            <a:r>
              <a:rPr sz="1100" b="1">
                <a:solidFill>
                  <a:srgbClr val="20252A"/>
                </a:solidFill>
              </a:rPr>
              <a:t>Key stakeholders</a:t>
            </a:r>
          </a:p>
          <a:p>
            <a:pPr algn="l">
              <a:spcAft>
                <a:spcPts val="400"/>
              </a:spcAft>
            </a:pPr>
            <a:r>
              <a:rPr sz="950">
                <a:solidFill>
                  <a:srgbClr val="606060"/>
                </a:solidFill>
              </a:rPr>
              <a:t>Guest and Receptionist drive F1</a:t>
            </a:r>
          </a:p>
        </p:txBody>
      </p:sp>
      <p:sp>
        <p:nvSpPr>
          <p:cNvPr id="12" name="Oval 11"/>
          <p:cNvSpPr/>
          <p:nvPr/>
        </p:nvSpPr>
        <p:spPr>
          <a:xfrm>
            <a:off x="6446520" y="3547871"/>
            <a:ext cx="146304" cy="146304"/>
          </a:xfrm>
          <a:prstGeom prst="ellipse">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6832" y="3465575"/>
            <a:ext cx="2331720" cy="822960"/>
          </a:xfrm>
          <a:prstGeom prst="rect">
            <a:avLst/>
          </a:prstGeom>
          <a:noFill/>
        </p:spPr>
        <p:txBody>
          <a:bodyPr wrap="square">
            <a:spAutoFit/>
          </a:bodyPr>
          <a:lstStyle/>
          <a:p>
            <a:pPr algn="l">
              <a:spcAft>
                <a:spcPts val="400"/>
              </a:spcAft>
            </a:pPr>
            <a:r>
              <a:rPr sz="1100" b="1">
                <a:solidFill>
                  <a:srgbClr val="20252A"/>
                </a:solidFill>
              </a:rPr>
              <a:t>The convergence point</a:t>
            </a:r>
          </a:p>
          <a:p>
            <a:pPr algn="l">
              <a:spcAft>
                <a:spcPts val="400"/>
              </a:spcAft>
            </a:pPr>
            <a:r>
              <a:rPr sz="950">
                <a:solidFill>
                  <a:srgbClr val="606060"/>
                </a:solidFill>
              </a:rPr>
              <a:t>HMS on the AWS Cloud Server</a:t>
            </a:r>
          </a:p>
        </p:txBody>
      </p:sp>
      <p:sp>
        <p:nvSpPr>
          <p:cNvPr id="14" name="Rounded Rectangle 13"/>
          <p:cNvSpPr/>
          <p:nvPr/>
        </p:nvSpPr>
        <p:spPr>
          <a:xfrm>
            <a:off x="691407" y="1480761"/>
            <a:ext cx="5092128" cy="2297711"/>
          </a:xfrm>
          <a:prstGeom prst="roundRect">
            <a:avLst>
              <a:gd name="adj" fmla="val 6000"/>
            </a:avLst>
          </a:prstGeom>
          <a:noFill/>
          <a:ln w="25400">
            <a:solidFill>
              <a:srgbClr val="B09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1407" y="1544769"/>
            <a:ext cx="877824" cy="219456"/>
          </a:xfrm>
          <a:prstGeom prst="roundRect">
            <a:avLst>
              <a:gd name="adj" fmla="val 50000"/>
            </a:avLst>
          </a:prstGeom>
          <a:solidFill>
            <a:srgbClr val="B0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Business</a:t>
            </a:r>
          </a:p>
        </p:txBody>
      </p:sp>
      <p:sp>
        <p:nvSpPr>
          <p:cNvPr id="16" name="Rounded Rectangle 15"/>
          <p:cNvSpPr/>
          <p:nvPr/>
        </p:nvSpPr>
        <p:spPr>
          <a:xfrm>
            <a:off x="691407" y="3669028"/>
            <a:ext cx="5092128" cy="568458"/>
          </a:xfrm>
          <a:prstGeom prst="roundRect">
            <a:avLst>
              <a:gd name="adj" fmla="val 6000"/>
            </a:avLst>
          </a:prstGeom>
          <a:noFill/>
          <a:ln w="25400">
            <a:solidFill>
              <a:srgbClr val="1F6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1407" y="3733036"/>
            <a:ext cx="1138428" cy="219456"/>
          </a:xfrm>
          <a:prstGeom prst="roundRect">
            <a:avLst>
              <a:gd name="adj" fmla="val 50000"/>
            </a:avLst>
          </a:prstGeom>
          <a:solidFill>
            <a:srgbClr val="1F6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Application</a:t>
            </a:r>
          </a:p>
        </p:txBody>
      </p:sp>
      <p:sp>
        <p:nvSpPr>
          <p:cNvPr id="18" name="Rounded Rectangle 17"/>
          <p:cNvSpPr/>
          <p:nvPr/>
        </p:nvSpPr>
        <p:spPr>
          <a:xfrm>
            <a:off x="691407" y="4297061"/>
            <a:ext cx="5092128" cy="568458"/>
          </a:xfrm>
          <a:prstGeom prst="roundRect">
            <a:avLst>
              <a:gd name="adj" fmla="val 6000"/>
            </a:avLst>
          </a:prstGeom>
          <a:noFill/>
          <a:ln w="25400">
            <a:solidFill>
              <a:srgbClr val="2E8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1407" y="4361069"/>
            <a:ext cx="1051560" cy="219456"/>
          </a:xfrm>
          <a:prstGeom prst="roundRect">
            <a:avLst>
              <a:gd name="adj" fmla="val 50000"/>
            </a:avLst>
          </a:prstGeom>
          <a:solidFill>
            <a:srgbClr val="2E8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Technology</a:t>
            </a:r>
          </a:p>
        </p:txBody>
      </p:sp>
      <p:sp>
        <p:nvSpPr>
          <p:cNvPr id="20" name="Rounded Rectangle 19"/>
          <p:cNvSpPr/>
          <p:nvPr/>
        </p:nvSpPr>
        <p:spPr>
          <a:xfrm>
            <a:off x="764079" y="1770410"/>
            <a:ext cx="459383" cy="254269"/>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64079" y="1532666"/>
            <a:ext cx="713232" cy="219456"/>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Guest</a:t>
            </a:r>
          </a:p>
        </p:txBody>
      </p:sp>
      <p:sp>
        <p:nvSpPr>
          <p:cNvPr id="22" name="Rounded Rectangle 21"/>
          <p:cNvSpPr/>
          <p:nvPr/>
        </p:nvSpPr>
        <p:spPr>
          <a:xfrm>
            <a:off x="1140655" y="2727150"/>
            <a:ext cx="459383" cy="254269"/>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140655" y="2489406"/>
            <a:ext cx="1225296" cy="219456"/>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Receptionist</a:t>
            </a:r>
          </a:p>
        </p:txBody>
      </p:sp>
      <p:sp>
        <p:nvSpPr>
          <p:cNvPr id="24" name="Rounded Rectangle 23"/>
          <p:cNvSpPr/>
          <p:nvPr/>
        </p:nvSpPr>
        <p:spPr>
          <a:xfrm>
            <a:off x="2270890" y="3982872"/>
            <a:ext cx="459383" cy="254269"/>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270890" y="3745128"/>
            <a:ext cx="713232" cy="219456"/>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HMS</a:t>
            </a:r>
          </a:p>
        </p:txBody>
      </p:sp>
      <p:sp>
        <p:nvSpPr>
          <p:cNvPr id="26" name="Rounded Rectangle 25"/>
          <p:cNvSpPr/>
          <p:nvPr/>
        </p:nvSpPr>
        <p:spPr>
          <a:xfrm>
            <a:off x="2309513" y="4297061"/>
            <a:ext cx="459383" cy="254269"/>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309513" y="4059317"/>
            <a:ext cx="713232" cy="219456"/>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AWS</a:t>
            </a:r>
          </a:p>
        </p:txBody>
      </p:sp>
      <p:sp>
        <p:nvSpPr>
          <p:cNvPr id="38" name="TextBox 37"/>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39" name="TextBox 38"/>
          <p:cNvSpPr txBox="1"/>
          <p:nvPr/>
        </p:nvSpPr>
        <p:spPr>
          <a:xfrm>
            <a:off x="8321040" y="4864608"/>
            <a:ext cx="548640" cy="237744"/>
          </a:xfrm>
          <a:prstGeom prst="rect">
            <a:avLst/>
          </a:prstGeom>
          <a:noFill/>
        </p:spPr>
        <p:txBody>
          <a:bodyPr wrap="none">
            <a:spAutoFit/>
          </a:bodyPr>
          <a:lstStyle/>
          <a:p>
            <a:pPr algn="r"/>
            <a:r>
              <a:rPr sz="800">
                <a:solidFill>
                  <a:srgbClr val="606060"/>
                </a:solidFill>
              </a:rPr>
              <a:t>4</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14"/>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16"/>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2"/>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2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24"/>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25"/>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26"/>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Handle Reservation → Conduct Check-In/Out — the guest's pre-arrival to arrival journey</a:t>
            </a:r>
          </a:p>
        </p:txBody>
      </p:sp>
      <p:sp>
        <p:nvSpPr>
          <p:cNvPr id="4" name="Title 3"/>
          <p:cNvSpPr>
            <a:spLocks noGrp="1"/>
          </p:cNvSpPr>
          <p:nvPr>
            <p:ph type="title"/>
          </p:nvPr>
        </p:nvSpPr>
        <p:spPr/>
        <p:txBody>
          <a:bodyPr/>
          <a:lstStyle/>
          <a:p>
            <a:r>
              <a:t>Focus Area F1 — Where We Zoom In</a:t>
            </a:r>
          </a:p>
        </p:txBody>
      </p:sp>
      <p:sp>
        <p:nvSpPr>
          <p:cNvPr id="5" name="Text Placeholder 4"/>
          <p:cNvSpPr>
            <a:spLocks noGrp="1"/>
          </p:cNvSpPr>
          <p:nvPr>
            <p:ph type="body" idx="14" sz="quarter"/>
          </p:nvPr>
        </p:nvSpPr>
        <p:spPr/>
        <p:txBody>
          <a:bodyPr/>
          <a:lstStyle/>
          <a:p/>
        </p:txBody>
      </p:sp>
      <p:sp>
        <p:nvSpPr>
          <p:cNvPr id="6" name="Rectangle 5"/>
          <p:cNvSpPr/>
          <p:nvPr/>
        </p:nvSpPr>
        <p:spPr>
          <a:xfrm>
            <a:off x="709695" y="1426464"/>
            <a:ext cx="5118569" cy="3493008"/>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bstract_full.png"/>
          <p:cNvPicPr>
            <a:picLocks noChangeAspect="1"/>
          </p:cNvPicPr>
          <p:nvPr/>
        </p:nvPicPr>
        <p:blipFill>
          <a:blip r:embed="rId2"/>
          <a:stretch>
            <a:fillRect/>
          </a:stretch>
        </p:blipFill>
        <p:spPr>
          <a:xfrm>
            <a:off x="727983" y="1444752"/>
            <a:ext cx="5081993" cy="3456432"/>
          </a:xfrm>
          <a:prstGeom prst="rect">
            <a:avLst/>
          </a:prstGeom>
        </p:spPr>
      </p:pic>
      <p:sp>
        <p:nvSpPr>
          <p:cNvPr id="8" name="Rounded Rectangle 7"/>
          <p:cNvSpPr/>
          <p:nvPr/>
        </p:nvSpPr>
        <p:spPr>
          <a:xfrm>
            <a:off x="715800" y="1712687"/>
            <a:ext cx="2077998" cy="3104442"/>
          </a:xfrm>
          <a:prstGeom prst="roundRect">
            <a:avLst>
              <a:gd name="adj" fmla="val 6000"/>
            </a:avLst>
          </a:prstGeom>
          <a:noFill/>
          <a:ln w="3492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15800" y="1776695"/>
            <a:ext cx="2528316" cy="219456"/>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F1 — Reservation &amp; Check-In</a:t>
            </a:r>
          </a:p>
        </p:txBody>
      </p:sp>
      <p:sp>
        <p:nvSpPr>
          <p:cNvPr id="10" name="Oval 9"/>
          <p:cNvSpPr/>
          <p:nvPr/>
        </p:nvSpPr>
        <p:spPr>
          <a:xfrm>
            <a:off x="6400800" y="1600200"/>
            <a:ext cx="310896" cy="310896"/>
          </a:xfrm>
          <a:prstGeom prst="ellipse">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1</a:t>
            </a:r>
          </a:p>
        </p:txBody>
      </p:sp>
      <p:sp>
        <p:nvSpPr>
          <p:cNvPr id="11" name="TextBox 10"/>
          <p:cNvSpPr txBox="1"/>
          <p:nvPr/>
        </p:nvSpPr>
        <p:spPr>
          <a:xfrm>
            <a:off x="6812280" y="1563624"/>
            <a:ext cx="2194560" cy="822960"/>
          </a:xfrm>
          <a:prstGeom prst="rect">
            <a:avLst/>
          </a:prstGeom>
          <a:noFill/>
        </p:spPr>
        <p:txBody>
          <a:bodyPr wrap="square">
            <a:spAutoFit/>
          </a:bodyPr>
          <a:lstStyle/>
          <a:p>
            <a:pPr algn="l">
              <a:spcAft>
                <a:spcPts val="400"/>
              </a:spcAft>
            </a:pPr>
            <a:r>
              <a:rPr sz="1100" b="1">
                <a:solidFill>
                  <a:srgbClr val="20252A"/>
                </a:solidFill>
              </a:rPr>
              <a:t>Business layer</a:t>
            </a:r>
          </a:p>
          <a:p>
            <a:pPr algn="l">
              <a:spcAft>
                <a:spcPts val="400"/>
              </a:spcAft>
            </a:pPr>
            <a:r>
              <a:rPr sz="950">
                <a:solidFill>
                  <a:srgbClr val="606060"/>
                </a:solidFill>
              </a:rPr>
              <a:t>Who does what — processes &amp; objects</a:t>
            </a:r>
          </a:p>
        </p:txBody>
      </p:sp>
      <p:sp>
        <p:nvSpPr>
          <p:cNvPr id="12" name="Oval 11"/>
          <p:cNvSpPr/>
          <p:nvPr/>
        </p:nvSpPr>
        <p:spPr>
          <a:xfrm>
            <a:off x="6400800" y="2560320"/>
            <a:ext cx="310896" cy="310896"/>
          </a:xfrm>
          <a:prstGeom prst="ellipse">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2</a:t>
            </a:r>
          </a:p>
        </p:txBody>
      </p:sp>
      <p:sp>
        <p:nvSpPr>
          <p:cNvPr id="13" name="TextBox 12"/>
          <p:cNvSpPr txBox="1"/>
          <p:nvPr/>
        </p:nvSpPr>
        <p:spPr>
          <a:xfrm>
            <a:off x="6812280" y="2523744"/>
            <a:ext cx="2194560" cy="822960"/>
          </a:xfrm>
          <a:prstGeom prst="rect">
            <a:avLst/>
          </a:prstGeom>
          <a:noFill/>
        </p:spPr>
        <p:txBody>
          <a:bodyPr wrap="square">
            <a:spAutoFit/>
          </a:bodyPr>
          <a:lstStyle/>
          <a:p>
            <a:pPr algn="l">
              <a:spcAft>
                <a:spcPts val="400"/>
              </a:spcAft>
            </a:pPr>
            <a:r>
              <a:rPr sz="1100" b="1">
                <a:solidFill>
                  <a:srgbClr val="20252A"/>
                </a:solidFill>
              </a:rPr>
              <a:t>Application layer</a:t>
            </a:r>
          </a:p>
          <a:p>
            <a:pPr algn="l">
              <a:spcAft>
                <a:spcPts val="400"/>
              </a:spcAft>
            </a:pPr>
            <a:r>
              <a:rPr sz="950">
                <a:solidFill>
                  <a:srgbClr val="606060"/>
                </a:solidFill>
              </a:rPr>
              <a:t>Which systems support it — the HMS</a:t>
            </a:r>
          </a:p>
        </p:txBody>
      </p:sp>
      <p:sp>
        <p:nvSpPr>
          <p:cNvPr id="14" name="Oval 13"/>
          <p:cNvSpPr/>
          <p:nvPr/>
        </p:nvSpPr>
        <p:spPr>
          <a:xfrm>
            <a:off x="6400800" y="3520439"/>
            <a:ext cx="310896" cy="310896"/>
          </a:xfrm>
          <a:prstGeom prst="ellipse">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rPr>
              <a:t>3</a:t>
            </a:r>
          </a:p>
        </p:txBody>
      </p:sp>
      <p:sp>
        <p:nvSpPr>
          <p:cNvPr id="15" name="TextBox 14"/>
          <p:cNvSpPr txBox="1"/>
          <p:nvPr/>
        </p:nvSpPr>
        <p:spPr>
          <a:xfrm>
            <a:off x="6812280" y="3483863"/>
            <a:ext cx="2194560" cy="822960"/>
          </a:xfrm>
          <a:prstGeom prst="rect">
            <a:avLst/>
          </a:prstGeom>
          <a:noFill/>
        </p:spPr>
        <p:txBody>
          <a:bodyPr wrap="square">
            <a:spAutoFit/>
          </a:bodyPr>
          <a:lstStyle/>
          <a:p>
            <a:pPr algn="l">
              <a:spcAft>
                <a:spcPts val="400"/>
              </a:spcAft>
            </a:pPr>
            <a:r>
              <a:rPr sz="1100" b="1">
                <a:solidFill>
                  <a:srgbClr val="20252A"/>
                </a:solidFill>
              </a:rPr>
              <a:t>Technology layer</a:t>
            </a:r>
          </a:p>
          <a:p>
            <a:pPr algn="l">
              <a:spcAft>
                <a:spcPts val="400"/>
              </a:spcAft>
            </a:pPr>
            <a:r>
              <a:rPr sz="950">
                <a:solidFill>
                  <a:srgbClr val="606060"/>
                </a:solidFill>
              </a:rPr>
              <a:t>What it runs on — down to the door</a:t>
            </a:r>
          </a:p>
        </p:txBody>
      </p:sp>
      <p:sp>
        <p:nvSpPr>
          <p:cNvPr id="16" name="TextBox 15"/>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17" name="TextBox 16"/>
          <p:cNvSpPr txBox="1"/>
          <p:nvPr/>
        </p:nvSpPr>
        <p:spPr>
          <a:xfrm>
            <a:off x="8321040" y="4864608"/>
            <a:ext cx="548640" cy="237744"/>
          </a:xfrm>
          <a:prstGeom prst="rect">
            <a:avLst/>
          </a:prstGeom>
          <a:noFill/>
        </p:spPr>
        <p:txBody>
          <a:bodyPr wrap="none">
            <a:spAutoFit/>
          </a:bodyPr>
          <a:lstStyle/>
          <a:p>
            <a:pPr algn="r"/>
            <a:r>
              <a:rPr sz="800">
                <a:solidFill>
                  <a:srgbClr val="606060"/>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One abstract process becomes seven concrete steps</a:t>
            </a:r>
          </a:p>
        </p:txBody>
      </p:sp>
      <p:sp>
        <p:nvSpPr>
          <p:cNvPr id="4" name="Title 3"/>
          <p:cNvSpPr>
            <a:spLocks noGrp="1"/>
          </p:cNvSpPr>
          <p:nvPr>
            <p:ph type="title"/>
          </p:nvPr>
        </p:nvSpPr>
        <p:spPr/>
        <p:txBody>
          <a:bodyPr/>
          <a:lstStyle/>
          <a:p>
            <a:r>
              <a:t>F1 Business Layer — Reservation</a:t>
            </a:r>
          </a:p>
        </p:txBody>
      </p:sp>
      <p:sp>
        <p:nvSpPr>
          <p:cNvPr id="5" name="Text Placeholder 4"/>
          <p:cNvSpPr>
            <a:spLocks noGrp="1"/>
          </p:cNvSpPr>
          <p:nvPr>
            <p:ph type="body" idx="14" sz="quarter"/>
          </p:nvPr>
        </p:nvSpPr>
        <p:spPr/>
        <p:txBody>
          <a:bodyPr/>
          <a:lstStyle/>
          <a:p/>
        </p:txBody>
      </p:sp>
      <p:sp>
        <p:nvSpPr>
          <p:cNvPr id="6" name="Rectangle 5"/>
          <p:cNvSpPr/>
          <p:nvPr/>
        </p:nvSpPr>
        <p:spPr>
          <a:xfrm>
            <a:off x="256031" y="1547419"/>
            <a:ext cx="8631936" cy="3104793"/>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iz_reservation.png"/>
          <p:cNvPicPr>
            <a:picLocks noChangeAspect="1"/>
          </p:cNvPicPr>
          <p:nvPr/>
        </p:nvPicPr>
        <p:blipFill>
          <a:blip r:embed="rId2"/>
          <a:stretch>
            <a:fillRect/>
          </a:stretch>
        </p:blipFill>
        <p:spPr>
          <a:xfrm>
            <a:off x="274320" y="1565707"/>
            <a:ext cx="8595360" cy="3068217"/>
          </a:xfrm>
          <a:prstGeom prst="rect">
            <a:avLst/>
          </a:prstGeom>
        </p:spPr>
      </p:pic>
      <p:sp>
        <p:nvSpPr>
          <p:cNvPr id="8" name="Rounded Rectangle 7"/>
          <p:cNvSpPr/>
          <p:nvPr/>
        </p:nvSpPr>
        <p:spPr>
          <a:xfrm>
            <a:off x="1050132" y="1739482"/>
            <a:ext cx="1117651" cy="646175"/>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50132" y="1501738"/>
            <a:ext cx="713232" cy="219456"/>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Guest</a:t>
            </a:r>
          </a:p>
        </p:txBody>
      </p:sp>
      <p:sp>
        <p:nvSpPr>
          <p:cNvPr id="10" name="Rounded Rectangle 9"/>
          <p:cNvSpPr/>
          <p:nvPr/>
        </p:nvSpPr>
        <p:spPr>
          <a:xfrm>
            <a:off x="1006611" y="2827502"/>
            <a:ext cx="7660279" cy="943568"/>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6611" y="2589758"/>
            <a:ext cx="2615184" cy="219456"/>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Handle Reservation — 7 steps</a:t>
            </a:r>
          </a:p>
        </p:txBody>
      </p:sp>
      <p:sp>
        <p:nvSpPr>
          <p:cNvPr id="12" name="Rounded Rectangle 11"/>
          <p:cNvSpPr/>
          <p:nvPr/>
        </p:nvSpPr>
        <p:spPr>
          <a:xfrm>
            <a:off x="5315171" y="2174690"/>
            <a:ext cx="2249192" cy="718710"/>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15171" y="1936946"/>
            <a:ext cx="790956" cy="219456"/>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Payment</a:t>
            </a:r>
          </a:p>
        </p:txBody>
      </p:sp>
      <p:sp>
        <p:nvSpPr>
          <p:cNvPr id="14" name="Rounded Rectangle 13"/>
          <p:cNvSpPr/>
          <p:nvPr/>
        </p:nvSpPr>
        <p:spPr>
          <a:xfrm>
            <a:off x="361052" y="4002564"/>
            <a:ext cx="8508935" cy="646175"/>
          </a:xfrm>
          <a:prstGeom prst="roundRect">
            <a:avLst>
              <a:gd name="adj" fmla="val 6000"/>
            </a:avLst>
          </a:prstGeom>
          <a:noFill/>
          <a:ln w="28575">
            <a:solidFill>
              <a:srgbClr val="B09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1052" y="3764820"/>
            <a:ext cx="1572768" cy="219456"/>
          </a:xfrm>
          <a:prstGeom prst="roundRect">
            <a:avLst>
              <a:gd name="adj" fmla="val 50000"/>
            </a:avLst>
          </a:prstGeom>
          <a:solidFill>
            <a:srgbClr val="B0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Business objects</a:t>
            </a:r>
          </a:p>
        </p:txBody>
      </p:sp>
      <p:sp>
        <p:nvSpPr>
          <p:cNvPr id="28" name="TextBox 27"/>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29" name="TextBox 28"/>
          <p:cNvSpPr txBox="1"/>
          <p:nvPr/>
        </p:nvSpPr>
        <p:spPr>
          <a:xfrm>
            <a:off x="8321040" y="4864608"/>
            <a:ext cx="548640" cy="237744"/>
          </a:xfrm>
          <a:prstGeom prst="rect">
            <a:avLst/>
          </a:prstGeom>
          <a:noFill/>
        </p:spPr>
        <p:txBody>
          <a:bodyPr wrap="none">
            <a:spAutoFit/>
          </a:bodyPr>
          <a:lstStyle/>
          <a:p>
            <a:pPr algn="r"/>
            <a:r>
              <a:rPr sz="800">
                <a:solidFill>
                  <a:srgbClr val="606060"/>
                </a:solidFill>
              </a:rPr>
              <a:t>6</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The Receptionist turns a reservation into an open door</a:t>
            </a:r>
          </a:p>
        </p:txBody>
      </p:sp>
      <p:sp>
        <p:nvSpPr>
          <p:cNvPr id="4" name="Title 3"/>
          <p:cNvSpPr>
            <a:spLocks noGrp="1"/>
          </p:cNvSpPr>
          <p:nvPr>
            <p:ph type="title"/>
          </p:nvPr>
        </p:nvSpPr>
        <p:spPr/>
        <p:txBody>
          <a:bodyPr/>
          <a:lstStyle/>
          <a:p>
            <a:r>
              <a:t>F1 Business Layer — Check-In</a:t>
            </a:r>
          </a:p>
        </p:txBody>
      </p:sp>
      <p:sp>
        <p:nvSpPr>
          <p:cNvPr id="5" name="Text Placeholder 4"/>
          <p:cNvSpPr>
            <a:spLocks noGrp="1"/>
          </p:cNvSpPr>
          <p:nvPr>
            <p:ph type="body" idx="14" sz="quarter"/>
          </p:nvPr>
        </p:nvSpPr>
        <p:spPr/>
        <p:txBody>
          <a:bodyPr/>
          <a:lstStyle/>
          <a:p/>
        </p:txBody>
      </p:sp>
      <p:sp>
        <p:nvSpPr>
          <p:cNvPr id="6" name="Rectangle 5"/>
          <p:cNvSpPr/>
          <p:nvPr/>
        </p:nvSpPr>
        <p:spPr>
          <a:xfrm>
            <a:off x="2515088" y="1463040"/>
            <a:ext cx="6171222" cy="3310128"/>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iz_checkin.png"/>
          <p:cNvPicPr>
            <a:picLocks noChangeAspect="1"/>
          </p:cNvPicPr>
          <p:nvPr/>
        </p:nvPicPr>
        <p:blipFill>
          <a:blip r:embed="rId2"/>
          <a:stretch>
            <a:fillRect/>
          </a:stretch>
        </p:blipFill>
        <p:spPr>
          <a:xfrm>
            <a:off x="2533376" y="1481328"/>
            <a:ext cx="6134646" cy="3273552"/>
          </a:xfrm>
          <a:prstGeom prst="rect">
            <a:avLst/>
          </a:prstGeom>
        </p:spPr>
      </p:pic>
      <p:sp>
        <p:nvSpPr>
          <p:cNvPr id="8" name="Rounded Rectangle 7"/>
          <p:cNvSpPr/>
          <p:nvPr/>
        </p:nvSpPr>
        <p:spPr>
          <a:xfrm>
            <a:off x="2611662" y="1564834"/>
            <a:ext cx="824972" cy="485609"/>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11662" y="2059587"/>
            <a:ext cx="1225296" cy="219456"/>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Receptionist</a:t>
            </a:r>
          </a:p>
        </p:txBody>
      </p:sp>
      <p:sp>
        <p:nvSpPr>
          <p:cNvPr id="10" name="Rounded Rectangle 9"/>
          <p:cNvSpPr/>
          <p:nvPr/>
        </p:nvSpPr>
        <p:spPr>
          <a:xfrm>
            <a:off x="4016104" y="2003396"/>
            <a:ext cx="2829827" cy="1086021"/>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016104" y="1765652"/>
            <a:ext cx="790956" cy="219456"/>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3 steps</a:t>
            </a:r>
          </a:p>
        </p:txBody>
      </p:sp>
      <p:sp>
        <p:nvSpPr>
          <p:cNvPr id="12" name="Rounded Rectangle 11"/>
          <p:cNvSpPr/>
          <p:nvPr/>
        </p:nvSpPr>
        <p:spPr>
          <a:xfrm>
            <a:off x="6840652" y="2316655"/>
            <a:ext cx="824972" cy="485609"/>
          </a:xfrm>
          <a:prstGeom prst="roundRect">
            <a:avLst>
              <a:gd name="adj" fmla="val 6000"/>
            </a:avLst>
          </a:prstGeom>
          <a:noFill/>
          <a:ln w="28575">
            <a:solidFill>
              <a:srgbClr val="006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40652" y="2078911"/>
            <a:ext cx="790956" cy="219456"/>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Service</a:t>
            </a:r>
          </a:p>
        </p:txBody>
      </p:sp>
      <p:sp>
        <p:nvSpPr>
          <p:cNvPr id="14" name="Rounded Rectangle 13"/>
          <p:cNvSpPr/>
          <p:nvPr/>
        </p:nvSpPr>
        <p:spPr>
          <a:xfrm>
            <a:off x="6647476" y="4258858"/>
            <a:ext cx="1639444" cy="527376"/>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647476" y="4021114"/>
            <a:ext cx="2441448" cy="219456"/>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Payment settles open costs</a:t>
            </a:r>
          </a:p>
        </p:txBody>
      </p:sp>
      <p:sp>
        <p:nvSpPr>
          <p:cNvPr id="28" name="TextBox 27"/>
          <p:cNvSpPr txBox="1"/>
          <p:nvPr/>
        </p:nvSpPr>
        <p:spPr>
          <a:xfrm>
            <a:off x="274320" y="1600200"/>
            <a:ext cx="1920240" cy="3017520"/>
          </a:xfrm>
          <a:prstGeom prst="rect">
            <a:avLst/>
          </a:prstGeom>
          <a:noFill/>
        </p:spPr>
        <p:txBody>
          <a:bodyPr wrap="square">
            <a:spAutoFit/>
          </a:bodyPr>
          <a:lstStyle/>
          <a:p>
            <a:pPr algn="l">
              <a:spcAft>
                <a:spcPts val="400"/>
              </a:spcAft>
            </a:pPr>
            <a:r>
              <a:rPr sz="1050">
                <a:solidFill>
                  <a:srgbClr val="20252A"/>
                </a:solidFill>
              </a:rPr>
              <a:t>The Receptionist is assigned to the whole process.</a:t>
            </a:r>
          </a:p>
          <a:p>
            <a:pPr algn="l">
              <a:spcAft>
                <a:spcPts val="400"/>
              </a:spcAft>
            </a:pPr>
            <a:r>
              <a:rPr sz="1050">
                <a:solidFill>
                  <a:srgbClr val="20252A"/>
                </a:solidFill>
              </a:rPr>
              <a:t>Identify Reservation → Verify Guest Identity → Issue and Configure Key Card.</a:t>
            </a:r>
          </a:p>
          <a:p>
            <a:pPr algn="l">
              <a:spcAft>
                <a:spcPts val="400"/>
              </a:spcAft>
            </a:pPr>
            <a:r>
              <a:rPr sz="1050">
                <a:solidFill>
                  <a:srgbClr val="20252A"/>
                </a:solidFill>
              </a:rPr>
              <a:t>Realises the Check-In/Out Service the guest sees.</a:t>
            </a:r>
          </a:p>
          <a:p>
            <a:pPr algn="l">
              <a:spcAft>
                <a:spcPts val="400"/>
              </a:spcAft>
            </a:pPr>
            <a:r>
              <a:rPr sz="1050">
                <a:solidFill>
                  <a:srgbClr val="20252A"/>
                </a:solidFill>
              </a:rPr>
              <a:t>Open costs settle via the Payment Service.</a:t>
            </a:r>
          </a:p>
        </p:txBody>
      </p:sp>
      <p:sp>
        <p:nvSpPr>
          <p:cNvPr id="29" name="TextBox 28"/>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30" name="TextBox 29"/>
          <p:cNvSpPr txBox="1"/>
          <p:nvPr/>
        </p:nvSpPr>
        <p:spPr>
          <a:xfrm>
            <a:off x="8321040" y="4864608"/>
            <a:ext cx="548640" cy="237744"/>
          </a:xfrm>
          <a:prstGeom prst="rect">
            <a:avLst/>
          </a:prstGeom>
          <a:noFill/>
        </p:spPr>
        <p:txBody>
          <a:bodyPr wrap="none">
            <a:spAutoFit/>
          </a:bodyPr>
          <a:lstStyle/>
          <a:p>
            <a:pPr algn="r"/>
            <a:r>
              <a:rPr sz="800">
                <a:solidFill>
                  <a:srgbClr val="606060"/>
                </a:solidFill>
              </a:rPr>
              <a:t>7</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The abstract view hid this: functions, services, events and data objects</a:t>
            </a:r>
          </a:p>
        </p:txBody>
      </p:sp>
      <p:sp>
        <p:nvSpPr>
          <p:cNvPr id="4" name="Title 3"/>
          <p:cNvSpPr>
            <a:spLocks noGrp="1"/>
          </p:cNvSpPr>
          <p:nvPr>
            <p:ph type="title"/>
          </p:nvPr>
        </p:nvSpPr>
        <p:spPr/>
        <p:txBody>
          <a:bodyPr/>
          <a:lstStyle/>
          <a:p>
            <a:r>
              <a:t>F1 Application Layer — Inside the HMS</a:t>
            </a:r>
          </a:p>
        </p:txBody>
      </p:sp>
      <p:sp>
        <p:nvSpPr>
          <p:cNvPr id="5" name="Text Placeholder 4"/>
          <p:cNvSpPr>
            <a:spLocks noGrp="1"/>
          </p:cNvSpPr>
          <p:nvPr>
            <p:ph type="body" idx="14" sz="quarter"/>
          </p:nvPr>
        </p:nvSpPr>
        <p:spPr/>
        <p:txBody>
          <a:bodyPr/>
          <a:lstStyle/>
          <a:p/>
        </p:txBody>
      </p:sp>
      <p:sp>
        <p:nvSpPr>
          <p:cNvPr id="6" name="Rectangle 5"/>
          <p:cNvSpPr/>
          <p:nvPr/>
        </p:nvSpPr>
        <p:spPr>
          <a:xfrm>
            <a:off x="730900" y="1463040"/>
            <a:ext cx="7682199" cy="3236976"/>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_layer.png"/>
          <p:cNvPicPr>
            <a:picLocks noChangeAspect="1"/>
          </p:cNvPicPr>
          <p:nvPr/>
        </p:nvPicPr>
        <p:blipFill>
          <a:blip r:embed="rId2"/>
          <a:stretch>
            <a:fillRect/>
          </a:stretch>
        </p:blipFill>
        <p:spPr>
          <a:xfrm>
            <a:off x="749188" y="1481328"/>
            <a:ext cx="7645623" cy="3200400"/>
          </a:xfrm>
          <a:prstGeom prst="rect">
            <a:avLst/>
          </a:prstGeom>
        </p:spPr>
      </p:pic>
      <p:sp>
        <p:nvSpPr>
          <p:cNvPr id="8" name="Rounded Rectangle 7"/>
          <p:cNvSpPr/>
          <p:nvPr/>
        </p:nvSpPr>
        <p:spPr>
          <a:xfrm>
            <a:off x="3519487" y="2998773"/>
            <a:ext cx="731703" cy="390381"/>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19487" y="2761029"/>
            <a:ext cx="2180844" cy="219456"/>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Hotel Management System</a:t>
            </a:r>
          </a:p>
        </p:txBody>
      </p:sp>
      <p:sp>
        <p:nvSpPr>
          <p:cNvPr id="10" name="Rounded Rectangle 9"/>
          <p:cNvSpPr/>
          <p:nvPr/>
        </p:nvSpPr>
        <p:spPr>
          <a:xfrm>
            <a:off x="2603940" y="1601358"/>
            <a:ext cx="731703" cy="390381"/>
          </a:xfrm>
          <a:prstGeom prst="roundRect">
            <a:avLst>
              <a:gd name="adj" fmla="val 6000"/>
            </a:avLst>
          </a:prstGeom>
          <a:noFill/>
          <a:ln w="28575">
            <a:solidFill>
              <a:srgbClr val="0065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03940" y="1363614"/>
            <a:ext cx="2180844" cy="219456"/>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Services exposed upward</a:t>
            </a:r>
          </a:p>
        </p:txBody>
      </p:sp>
      <p:sp>
        <p:nvSpPr>
          <p:cNvPr id="12" name="Rounded Rectangle 11"/>
          <p:cNvSpPr/>
          <p:nvPr/>
        </p:nvSpPr>
        <p:spPr>
          <a:xfrm>
            <a:off x="2126088" y="2348252"/>
            <a:ext cx="1374192" cy="390381"/>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26088" y="2110508"/>
            <a:ext cx="1138428" cy="219456"/>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Event chain</a:t>
            </a:r>
          </a:p>
        </p:txBody>
      </p:sp>
      <p:sp>
        <p:nvSpPr>
          <p:cNvPr id="14" name="Rounded Rectangle 13"/>
          <p:cNvSpPr/>
          <p:nvPr/>
        </p:nvSpPr>
        <p:spPr>
          <a:xfrm>
            <a:off x="2559769" y="4299813"/>
            <a:ext cx="651392" cy="390381"/>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559769" y="4062069"/>
            <a:ext cx="2651760" cy="219456"/>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Data object realises Reservation</a:t>
            </a:r>
          </a:p>
        </p:txBody>
      </p:sp>
      <p:sp>
        <p:nvSpPr>
          <p:cNvPr id="28" name="TextBox 27"/>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29" name="TextBox 28"/>
          <p:cNvSpPr txBox="1"/>
          <p:nvPr/>
        </p:nvSpPr>
        <p:spPr>
          <a:xfrm>
            <a:off x="8321040" y="4864608"/>
            <a:ext cx="548640" cy="237744"/>
          </a:xfrm>
          <a:prstGeom prst="rect">
            <a:avLst/>
          </a:prstGeom>
          <a:noFill/>
        </p:spPr>
        <p:txBody>
          <a:bodyPr wrap="none">
            <a:spAutoFit/>
          </a:bodyPr>
          <a:lstStyle/>
          <a:p>
            <a:pPr algn="r"/>
            <a:r>
              <a:rPr sz="800">
                <a:solidFill>
                  <a:srgbClr val="606060"/>
                </a:solidFill>
              </a:rPr>
              <a:t>8</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How a reservation made online becomes a door that opens</a:t>
            </a:r>
          </a:p>
        </p:txBody>
      </p:sp>
      <p:sp>
        <p:nvSpPr>
          <p:cNvPr id="4" name="Title 3"/>
          <p:cNvSpPr>
            <a:spLocks noGrp="1"/>
          </p:cNvSpPr>
          <p:nvPr>
            <p:ph type="title"/>
          </p:nvPr>
        </p:nvSpPr>
        <p:spPr/>
        <p:txBody>
          <a:bodyPr/>
          <a:lstStyle/>
          <a:p>
            <a:r>
              <a:t>F1 Technology Layer — Down to the Door</a:t>
            </a:r>
          </a:p>
        </p:txBody>
      </p:sp>
      <p:sp>
        <p:nvSpPr>
          <p:cNvPr id="5" name="Text Placeholder 4"/>
          <p:cNvSpPr>
            <a:spLocks noGrp="1"/>
          </p:cNvSpPr>
          <p:nvPr>
            <p:ph type="body" idx="14" sz="quarter"/>
          </p:nvPr>
        </p:nvSpPr>
        <p:spPr/>
        <p:txBody>
          <a:bodyPr/>
          <a:lstStyle/>
          <a:p/>
        </p:txBody>
      </p:sp>
      <p:sp>
        <p:nvSpPr>
          <p:cNvPr id="6" name="Rectangle 5"/>
          <p:cNvSpPr/>
          <p:nvPr/>
        </p:nvSpPr>
        <p:spPr>
          <a:xfrm>
            <a:off x="1213027" y="1463040"/>
            <a:ext cx="6717945" cy="3236976"/>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ch_layer.png"/>
          <p:cNvPicPr>
            <a:picLocks noChangeAspect="1"/>
          </p:cNvPicPr>
          <p:nvPr/>
        </p:nvPicPr>
        <p:blipFill>
          <a:blip r:embed="rId2"/>
          <a:stretch>
            <a:fillRect/>
          </a:stretch>
        </p:blipFill>
        <p:spPr>
          <a:xfrm>
            <a:off x="1231315" y="1481328"/>
            <a:ext cx="6681369" cy="3200400"/>
          </a:xfrm>
          <a:prstGeom prst="rect">
            <a:avLst/>
          </a:prstGeom>
        </p:spPr>
      </p:pic>
      <p:sp>
        <p:nvSpPr>
          <p:cNvPr id="8" name="Rounded Rectangle 7"/>
          <p:cNvSpPr/>
          <p:nvPr/>
        </p:nvSpPr>
        <p:spPr>
          <a:xfrm>
            <a:off x="3948129" y="1972604"/>
            <a:ext cx="757932" cy="448830"/>
          </a:xfrm>
          <a:prstGeom prst="roundRect">
            <a:avLst>
              <a:gd name="adj" fmla="val 6000"/>
            </a:avLst>
          </a:prstGeom>
          <a:noFill/>
          <a:ln w="28575">
            <a:solidFill>
              <a:srgbClr val="E3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48129" y="1734860"/>
            <a:ext cx="1572768" cy="219456"/>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Door Card Reader</a:t>
            </a:r>
          </a:p>
        </p:txBody>
      </p:sp>
      <p:sp>
        <p:nvSpPr>
          <p:cNvPr id="10" name="Rounded Rectangle 9"/>
          <p:cNvSpPr/>
          <p:nvPr/>
        </p:nvSpPr>
        <p:spPr>
          <a:xfrm>
            <a:off x="2231421" y="1944071"/>
            <a:ext cx="1447469" cy="2503173"/>
          </a:xfrm>
          <a:prstGeom prst="roundRect">
            <a:avLst>
              <a:gd name="adj" fmla="val 6000"/>
            </a:avLst>
          </a:prstGeom>
          <a:noFill/>
          <a:ln w="28575">
            <a:solidFill>
              <a:srgbClr val="C4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1421" y="1706327"/>
            <a:ext cx="1659636" cy="219456"/>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Grant Room Access</a:t>
            </a:r>
          </a:p>
        </p:txBody>
      </p:sp>
      <p:sp>
        <p:nvSpPr>
          <p:cNvPr id="12" name="Rounded Rectangle 11"/>
          <p:cNvSpPr/>
          <p:nvPr/>
        </p:nvSpPr>
        <p:spPr>
          <a:xfrm>
            <a:off x="1375445" y="2914177"/>
            <a:ext cx="757932" cy="848286"/>
          </a:xfrm>
          <a:prstGeom prst="roundRect">
            <a:avLst>
              <a:gd name="adj" fmla="val 6000"/>
            </a:avLst>
          </a:prstGeom>
          <a:noFill/>
          <a:ln w="28575">
            <a:solidFill>
              <a:srgbClr val="6A3D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75445" y="2676433"/>
            <a:ext cx="964692" cy="219456"/>
          </a:xfrm>
          <a:prstGeom prst="roundRect">
            <a:avLst>
              <a:gd name="adj" fmla="val 50000"/>
            </a:avLst>
          </a:prstGeom>
          <a:solidFill>
            <a:srgbClr val="6A3D9A"/>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Artifacts</a:t>
            </a:r>
          </a:p>
        </p:txBody>
      </p:sp>
      <p:sp>
        <p:nvSpPr>
          <p:cNvPr id="14" name="Rounded Rectangle 13"/>
          <p:cNvSpPr/>
          <p:nvPr/>
        </p:nvSpPr>
        <p:spPr>
          <a:xfrm>
            <a:off x="4461714" y="3470562"/>
            <a:ext cx="2431842" cy="620025"/>
          </a:xfrm>
          <a:prstGeom prst="roundRect">
            <a:avLst>
              <a:gd name="adj" fmla="val 6000"/>
            </a:avLst>
          </a:prstGeom>
          <a:noFill/>
          <a:ln w="28575">
            <a:solidFill>
              <a:srgbClr val="2E8B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61714" y="4099732"/>
            <a:ext cx="1225296" cy="219456"/>
          </a:xfrm>
          <a:prstGeom prst="roundRect">
            <a:avLst>
              <a:gd name="adj" fmla="val 50000"/>
            </a:avLst>
          </a:prstGeom>
          <a:solidFill>
            <a:srgbClr val="2E8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RFID · Wi-Fi</a:t>
            </a:r>
          </a:p>
        </p:txBody>
      </p:sp>
      <p:sp>
        <p:nvSpPr>
          <p:cNvPr id="16" name="Rounded Rectangle 15"/>
          <p:cNvSpPr/>
          <p:nvPr/>
        </p:nvSpPr>
        <p:spPr>
          <a:xfrm>
            <a:off x="4176389" y="4255207"/>
            <a:ext cx="757932" cy="448830"/>
          </a:xfrm>
          <a:prstGeom prst="roundRect">
            <a:avLst>
              <a:gd name="adj" fmla="val 6000"/>
            </a:avLst>
          </a:prstGeom>
          <a:noFill/>
          <a:ln w="28575">
            <a:solidFill>
              <a:srgbClr val="B09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176389" y="4713181"/>
            <a:ext cx="877824" cy="219456"/>
          </a:xfrm>
          <a:prstGeom prst="roundRect">
            <a:avLst>
              <a:gd name="adj" fmla="val 50000"/>
            </a:avLst>
          </a:prstGeom>
          <a:solidFill>
            <a:srgbClr val="B09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ctr"/>
            <a:r>
              <a:rPr sz="1000" b="1">
                <a:solidFill>
                  <a:srgbClr val="FFFFFF"/>
                </a:solidFill>
              </a:rPr>
              <a:t>Key Card</a:t>
            </a:r>
          </a:p>
        </p:txBody>
      </p:sp>
      <p:sp>
        <p:nvSpPr>
          <p:cNvPr id="34" name="TextBox 33"/>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35" name="TextBox 34"/>
          <p:cNvSpPr txBox="1"/>
          <p:nvPr/>
        </p:nvSpPr>
        <p:spPr>
          <a:xfrm>
            <a:off x="8321040" y="4864608"/>
            <a:ext cx="548640" cy="237744"/>
          </a:xfrm>
          <a:prstGeom prst="rect">
            <a:avLst/>
          </a:prstGeom>
          <a:noFill/>
        </p:spPr>
        <p:txBody>
          <a:bodyPr wrap="none">
            <a:spAutoFit/>
          </a:bodyPr>
          <a:lstStyle/>
          <a:p>
            <a:pPr algn="r"/>
            <a:r>
              <a:rPr sz="800">
                <a:solidFill>
                  <a:srgbClr val="606060"/>
                </a:solidFill>
              </a:rPr>
              <a:t>9</a:t>
            </a:r>
          </a:p>
        </p:txBody>
      </p:sp>
    </p:spTree>
  </p:cSld>
  <p:clrMapOvr>
    <a:masterClrMapping/>
  </p:clrMapOvr>
  <p:timing>
    <p:tnLst>
      <p:par>
        <p:cTn id="1"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2"/>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1" grpId="0"/>
      <p:bldP spid="12" grpId="0"/>
      <p:bldP spid="13" grpId="0"/>
      <p:bldP spid="14" grpId="0"/>
      <p:bldP spid="15" grpId="0"/>
      <p:bldP spid="16" grpId="0"/>
      <p:bldP spid="17"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Reflection — Value &amp; Limitations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411480" y="1508760"/>
            <a:ext cx="4069080" cy="310896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1508760"/>
            <a:ext cx="4069080" cy="329184"/>
          </a:xfrm>
          <a:prstGeom prst="roundRect">
            <a:avLst>
              <a:gd name="adj" fmla="val 50000"/>
            </a:avLst>
          </a:prstGeom>
          <a:solidFill>
            <a:srgbClr val="2E8B2E"/>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300">
                <a:solidFill>
                  <a:srgbClr val="FFFFFF"/>
                </a:solidFill>
              </a:rPr>
              <a:t>Value of the EA model</a:t>
            </a:r>
          </a:p>
        </p:txBody>
      </p:sp>
      <p:sp>
        <p:nvSpPr>
          <p:cNvPr id="8" name="TextBox 7"/>
          <p:cNvSpPr txBox="1"/>
          <p:nvPr/>
        </p:nvSpPr>
        <p:spPr>
          <a:xfrm>
            <a:off x="484632" y="1892807"/>
            <a:ext cx="3922776" cy="2651760"/>
          </a:xfrm>
          <a:prstGeom prst="rect">
            <a:avLst/>
          </a:prstGeom>
          <a:noFill/>
        </p:spPr>
        <p:txBody>
          <a:bodyPr wrap="square">
            <a:spAutoFit/>
          </a:bodyPr>
          <a:lstStyle/>
          <a:p>
            <a:pPr>
              <a:spcAft>
                <a:spcPts val="300"/>
              </a:spcAft>
            </a:pPr>
            <a:r>
              <a:rPr sz="1150">
                <a:solidFill>
                  <a:srgbClr val="20252A"/>
                </a:solidFill>
              </a:rPr>
              <a:t>Transparency across 5+ cooperating systems — one shared picture instead of tribal knowledge</a:t>
            </a:r>
          </a:p>
          <a:p>
            <a:pPr>
              <a:spcAft>
                <a:spcPts val="300"/>
              </a:spcAft>
            </a:pPr>
            <a:r>
              <a:rPr sz="1150">
                <a:solidFill>
                  <a:srgbClr val="20252A"/>
                </a:solidFill>
              </a:rPr>
              <a:t>Impact analysis becomes concrete: “what breaks if the HMS is down?” — trace the serving arrows</a:t>
            </a:r>
          </a:p>
          <a:p>
            <a:pPr>
              <a:spcAft>
                <a:spcPts val="300"/>
              </a:spcAft>
            </a:pPr>
            <a:r>
              <a:rPr sz="1150">
                <a:solidFill>
                  <a:srgbClr val="20252A"/>
                </a:solidFill>
              </a:rPr>
              <a:t>Onboarding: a new receptionist or developer sees where their work sits in the whole</a:t>
            </a:r>
          </a:p>
        </p:txBody>
      </p:sp>
      <p:sp>
        <p:nvSpPr>
          <p:cNvPr id="9" name="Rounded Rectangle 8"/>
          <p:cNvSpPr/>
          <p:nvPr/>
        </p:nvSpPr>
        <p:spPr>
          <a:xfrm>
            <a:off x="4663440" y="1508760"/>
            <a:ext cx="4069080" cy="310896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508760"/>
            <a:ext cx="4069080" cy="329184"/>
          </a:xfrm>
          <a:prstGeom prst="roundRect">
            <a:avLst>
              <a:gd name="adj" fmla="val 50000"/>
            </a:avLst>
          </a:prstGeom>
          <a:solidFill>
            <a:srgbClr val="C4000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300">
                <a:solidFill>
                  <a:srgbClr val="FFFFFF"/>
                </a:solidFill>
              </a:rPr>
              <a:t>Limitations</a:t>
            </a:r>
          </a:p>
        </p:txBody>
      </p:sp>
      <p:sp>
        <p:nvSpPr>
          <p:cNvPr id="11" name="TextBox 10"/>
          <p:cNvSpPr txBox="1"/>
          <p:nvPr/>
        </p:nvSpPr>
        <p:spPr>
          <a:xfrm>
            <a:off x="4736592" y="1892807"/>
            <a:ext cx="3922776" cy="2651760"/>
          </a:xfrm>
          <a:prstGeom prst="rect">
            <a:avLst/>
          </a:prstGeom>
          <a:noFill/>
        </p:spPr>
        <p:txBody>
          <a:bodyPr wrap="square">
            <a:spAutoFit/>
          </a:bodyPr>
          <a:lstStyle/>
          <a:p>
            <a:pPr>
              <a:spcAft>
                <a:spcPts val="300"/>
              </a:spcAft>
            </a:pPr>
            <a:r>
              <a:rPr sz="1150">
                <a:solidFill>
                  <a:srgbClr val="20252A"/>
                </a:solidFill>
              </a:rPr>
              <a:t>A point-in-time snapshot — no processes for keeping it current (governance)</a:t>
            </a:r>
          </a:p>
          <a:p>
            <a:pPr>
              <a:spcAft>
                <a:spcPts val="300"/>
              </a:spcAft>
            </a:pPr>
            <a:r>
              <a:rPr sz="1150">
                <a:solidFill>
                  <a:srgbClr val="20252A"/>
                </a:solidFill>
              </a:rPr>
              <a:t>No quantities or SLAs: one AWS box says nothing about capacity or failover</a:t>
            </a:r>
          </a:p>
          <a:p>
            <a:pPr>
              <a:spcAft>
                <a:spcPts val="300"/>
              </a:spcAft>
            </a:pPr>
            <a:r>
              <a:rPr sz="1150">
                <a:solidFill>
                  <a:srgbClr val="20252A"/>
                </a:solidFill>
              </a:rPr>
              <a:t>Every abstraction choice hides detail — In-Room Equipment collapses many devices</a:t>
            </a:r>
          </a:p>
        </p:txBody>
      </p:sp>
      <p:sp>
        <p:nvSpPr>
          <p:cNvPr id="12" name="TextBox 11"/>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13" name="TextBox 12"/>
          <p:cNvSpPr txBox="1"/>
          <p:nvPr/>
        </p:nvSpPr>
        <p:spPr>
          <a:xfrm>
            <a:off x="8321040" y="4864608"/>
            <a:ext cx="548640" cy="237744"/>
          </a:xfrm>
          <a:prstGeom prst="rect">
            <a:avLst/>
          </a:prstGeom>
          <a:noFill/>
        </p:spPr>
        <p:txBody>
          <a:bodyPr wrap="none">
            <a:spAutoFit/>
          </a:bodyPr>
          <a:lstStyle/>
          <a:p>
            <a:pPr algn="r"/>
            <a:r>
              <a:rPr sz="800">
                <a:solidFill>
                  <a:srgbClr val="606060"/>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Reflection — Missing Information &amp; Challenges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411480" y="1508760"/>
            <a:ext cx="4069080" cy="310896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1508760"/>
            <a:ext cx="4069080" cy="329184"/>
          </a:xfrm>
          <a:prstGeom prst="roundRect">
            <a:avLst>
              <a:gd name="adj" fmla="val 50000"/>
            </a:avLst>
          </a:prstGeom>
          <a:solidFill>
            <a:srgbClr val="E37A0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300">
                <a:solidFill>
                  <a:srgbClr val="FFFFFF"/>
                </a:solidFill>
              </a:rPr>
              <a:t>Missing in the case material</a:t>
            </a:r>
          </a:p>
        </p:txBody>
      </p:sp>
      <p:sp>
        <p:nvSpPr>
          <p:cNvPr id="8" name="TextBox 7"/>
          <p:cNvSpPr txBox="1"/>
          <p:nvPr/>
        </p:nvSpPr>
        <p:spPr>
          <a:xfrm>
            <a:off x="484632" y="1892807"/>
            <a:ext cx="3922776" cy="2651760"/>
          </a:xfrm>
          <a:prstGeom prst="rect">
            <a:avLst/>
          </a:prstGeom>
          <a:noFill/>
        </p:spPr>
        <p:txBody>
          <a:bodyPr wrap="square">
            <a:spAutoFit/>
          </a:bodyPr>
          <a:lstStyle/>
          <a:p>
            <a:pPr>
              <a:spcAft>
                <a:spcPts val="300"/>
              </a:spcAft>
            </a:pPr>
            <a:r>
              <a:rPr sz="1150">
                <a:solidFill>
                  <a:srgbClr val="20252A"/>
                </a:solidFill>
              </a:rPr>
              <a:t>No infrastructure specs for the reservation side — hosting had to stay abstract</a:t>
            </a:r>
          </a:p>
          <a:p>
            <a:pPr>
              <a:spcAft>
                <a:spcPts val="300"/>
              </a:spcAft>
            </a:pPr>
            <a:r>
              <a:rPr sz="1150">
                <a:solidFill>
                  <a:srgbClr val="20252A"/>
                </a:solidFill>
              </a:rPr>
              <a:t>Interfaces to external booking platforms are underspecified</a:t>
            </a:r>
          </a:p>
          <a:p>
            <a:pPr>
              <a:spcAft>
                <a:spcPts val="300"/>
              </a:spcAft>
            </a:pPr>
            <a:r>
              <a:rPr sz="1150">
                <a:solidFill>
                  <a:srgbClr val="20252A"/>
                </a:solidFill>
              </a:rPr>
              <a:t>No failure or volume data — capacity questions can't be answered from the model</a:t>
            </a:r>
          </a:p>
        </p:txBody>
      </p:sp>
      <p:sp>
        <p:nvSpPr>
          <p:cNvPr id="9" name="Rounded Rectangle 8"/>
          <p:cNvSpPr/>
          <p:nvPr/>
        </p:nvSpPr>
        <p:spPr>
          <a:xfrm>
            <a:off x="4663440" y="1508760"/>
            <a:ext cx="4069080" cy="310896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508760"/>
            <a:ext cx="4069080" cy="329184"/>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300">
                <a:solidFill>
                  <a:srgbClr val="FFFFFF"/>
                </a:solidFill>
              </a:rPr>
              <a:t>Our real challenges</a:t>
            </a:r>
          </a:p>
        </p:txBody>
      </p:sp>
      <p:sp>
        <p:nvSpPr>
          <p:cNvPr id="11" name="TextBox 10"/>
          <p:cNvSpPr txBox="1"/>
          <p:nvPr/>
        </p:nvSpPr>
        <p:spPr>
          <a:xfrm>
            <a:off x="4736592" y="1892807"/>
            <a:ext cx="3922776" cy="2651760"/>
          </a:xfrm>
          <a:prstGeom prst="rect">
            <a:avLst/>
          </a:prstGeom>
          <a:noFill/>
        </p:spPr>
        <p:txBody>
          <a:bodyPr wrap="square">
            <a:spAutoFit/>
          </a:bodyPr>
          <a:lstStyle/>
          <a:p>
            <a:pPr>
              <a:spcAft>
                <a:spcPts val="300"/>
              </a:spcAft>
            </a:pPr>
            <a:r>
              <a:rPr sz="1150">
                <a:solidFill>
                  <a:srgbClr val="20252A"/>
                </a:solidFill>
              </a:rPr>
              <a:t>Choosing the abstraction level — when is a box one system or five?</a:t>
            </a:r>
          </a:p>
          <a:p>
            <a:pPr>
              <a:spcAft>
                <a:spcPts val="300"/>
              </a:spcAft>
            </a:pPr>
            <a:r>
              <a:rPr sz="1150">
                <a:solidFill>
                  <a:srgbClr val="20252A"/>
                </a:solidFill>
              </a:rPr>
              <a:t>Keeping abstract and detailed views consistent while both evolved</a:t>
            </a:r>
          </a:p>
          <a:p>
            <a:pPr>
              <a:spcAft>
                <a:spcPts val="300"/>
              </a:spcAft>
            </a:pPr>
            <a:r>
              <a:rPr sz="1150">
                <a:solidFill>
                  <a:srgbClr val="20252A"/>
                </a:solidFill>
              </a:rPr>
              <a:t>Parallel modelling with coArchi: merge conflicts and duplicate elements — we merged 11 duplicates late</a:t>
            </a:r>
          </a:p>
        </p:txBody>
      </p:sp>
      <p:sp>
        <p:nvSpPr>
          <p:cNvPr id="12" name="TextBox 11"/>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13" name="TextBox 12"/>
          <p:cNvSpPr txBox="1"/>
          <p:nvPr/>
        </p:nvSpPr>
        <p:spPr>
          <a:xfrm>
            <a:off x="8321040" y="4864608"/>
            <a:ext cx="548640" cy="237744"/>
          </a:xfrm>
          <a:prstGeom prst="rect">
            <a:avLst/>
          </a:prstGeom>
          <a:noFill/>
        </p:spPr>
        <p:txBody>
          <a:bodyPr wrap="none">
            <a:spAutoFit/>
          </a:bodyPr>
          <a:lstStyle/>
          <a:p>
            <a:pPr algn="r"/>
            <a:r>
              <a:rPr sz="800">
                <a:solidFill>
                  <a:srgbClr val="606060"/>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Detailed — F1 Reservation &amp; Check-In · 86 objects · 160 connections on the view</a:t>
            </a:r>
          </a:p>
        </p:txBody>
      </p:sp>
      <p:sp>
        <p:nvSpPr>
          <p:cNvPr id="4" name="Title 3"/>
          <p:cNvSpPr>
            <a:spLocks noGrp="1"/>
          </p:cNvSpPr>
          <p:nvPr>
            <p:ph type="title"/>
          </p:nvPr>
        </p:nvSpPr>
        <p:spPr/>
        <p:txBody>
          <a:bodyPr/>
          <a:lstStyle/>
          <a:p>
            <a:r>
              <a:t>Backup — Detailed View, Complete</a:t>
            </a:r>
          </a:p>
        </p:txBody>
      </p:sp>
      <p:sp>
        <p:nvSpPr>
          <p:cNvPr id="5" name="Text Placeholder 4"/>
          <p:cNvSpPr>
            <a:spLocks noGrp="1"/>
          </p:cNvSpPr>
          <p:nvPr>
            <p:ph type="body" idx="14" sz="quarter"/>
          </p:nvPr>
        </p:nvSpPr>
        <p:spPr/>
        <p:txBody>
          <a:bodyPr/>
          <a:lstStyle/>
          <a:p/>
        </p:txBody>
      </p:sp>
      <p:sp>
        <p:nvSpPr>
          <p:cNvPr id="6" name="Rectangle 5"/>
          <p:cNvSpPr/>
          <p:nvPr/>
        </p:nvSpPr>
        <p:spPr>
          <a:xfrm>
            <a:off x="3312768" y="1463040"/>
            <a:ext cx="2701342" cy="3438144"/>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tailed_full.png"/>
          <p:cNvPicPr>
            <a:picLocks noChangeAspect="1"/>
          </p:cNvPicPr>
          <p:nvPr/>
        </p:nvPicPr>
        <p:blipFill>
          <a:blip r:embed="rId2"/>
          <a:stretch>
            <a:fillRect/>
          </a:stretch>
        </p:blipFill>
        <p:spPr>
          <a:xfrm>
            <a:off x="3331056" y="1481328"/>
            <a:ext cx="2664766" cy="3401568"/>
          </a:xfrm>
          <a:prstGeom prst="rect">
            <a:avLst/>
          </a:prstGeom>
        </p:spPr>
      </p:pic>
      <p:sp>
        <p:nvSpPr>
          <p:cNvPr id="8" name="TextBox 7"/>
          <p:cNvSpPr txBox="1"/>
          <p:nvPr/>
        </p:nvSpPr>
        <p:spPr>
          <a:xfrm>
            <a:off x="320040" y="1645920"/>
            <a:ext cx="1920240" cy="2743200"/>
          </a:xfrm>
          <a:prstGeom prst="rect">
            <a:avLst/>
          </a:prstGeom>
          <a:noFill/>
        </p:spPr>
        <p:txBody>
          <a:bodyPr wrap="square">
            <a:spAutoFit/>
          </a:bodyPr>
          <a:lstStyle/>
          <a:p>
            <a:pPr algn="l">
              <a:spcAft>
                <a:spcPts val="400"/>
              </a:spcAft>
            </a:pPr>
            <a:r>
              <a:rPr sz="1050">
                <a:solidFill>
                  <a:srgbClr val="20252A"/>
                </a:solidFill>
              </a:rPr>
              <a:t>All three layers in one view.</a:t>
            </a:r>
          </a:p>
          <a:p>
            <a:pPr algn="l">
              <a:spcAft>
                <a:spcPts val="400"/>
              </a:spcAft>
            </a:pPr>
            <a:r>
              <a:rPr sz="1050">
                <a:solidFill>
                  <a:srgbClr val="20252A"/>
                </a:solidFill>
              </a:rPr>
              <a:t>Business on top, application centre, technology at the bottom.</a:t>
            </a:r>
          </a:p>
          <a:p>
            <a:pPr algn="l">
              <a:spcAft>
                <a:spcPts val="400"/>
              </a:spcAft>
            </a:pPr>
            <a:r>
              <a:rPr sz="1050">
                <a:solidFill>
                  <a:srgbClr val="20252A"/>
                </a:solidFill>
              </a:rPr>
              <a:t>PDF export in the submission shows it at full resolution.</a:t>
            </a:r>
          </a:p>
        </p:txBody>
      </p:sp>
      <p:sp>
        <p:nvSpPr>
          <p:cNvPr id="9" name="TextBox 8"/>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10" name="TextBox 9"/>
          <p:cNvSpPr txBox="1"/>
          <p:nvPr/>
        </p:nvSpPr>
        <p:spPr>
          <a:xfrm>
            <a:off x="8321040" y="4864608"/>
            <a:ext cx="548640" cy="237744"/>
          </a:xfrm>
          <a:prstGeom prst="rect">
            <a:avLst/>
          </a:prstGeom>
          <a:noFill/>
        </p:spPr>
        <p:txBody>
          <a:bodyPr wrap="none">
            <a:spAutoFit/>
          </a:bodyPr>
          <a:lstStyle/>
          <a:p>
            <a:pPr algn="r"/>
            <a:r>
              <a:rPr sz="800">
                <a:solidFill>
                  <a:srgbClr val="606060"/>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a:r>
              <a:t>Abstract — ArchiHotel EA · all services · 72 objects · 98 connections on the view</a:t>
            </a:r>
          </a:p>
        </p:txBody>
      </p:sp>
      <p:sp>
        <p:nvSpPr>
          <p:cNvPr id="4" name="Title 3"/>
          <p:cNvSpPr>
            <a:spLocks noGrp="1"/>
          </p:cNvSpPr>
          <p:nvPr>
            <p:ph type="title"/>
          </p:nvPr>
        </p:nvSpPr>
        <p:spPr/>
        <p:txBody>
          <a:bodyPr/>
          <a:lstStyle/>
          <a:p>
            <a:r>
              <a:t>Backup — Abstract View, Complete</a:t>
            </a:r>
          </a:p>
        </p:txBody>
      </p:sp>
      <p:sp>
        <p:nvSpPr>
          <p:cNvPr id="5" name="Text Placeholder 4"/>
          <p:cNvSpPr>
            <a:spLocks noGrp="1"/>
          </p:cNvSpPr>
          <p:nvPr>
            <p:ph type="body" idx="14" sz="quarter"/>
          </p:nvPr>
        </p:nvSpPr>
        <p:spPr/>
        <p:txBody>
          <a:bodyPr/>
          <a:lstStyle/>
          <a:p/>
        </p:txBody>
      </p:sp>
      <p:sp>
        <p:nvSpPr>
          <p:cNvPr id="6" name="Rectangle 5"/>
          <p:cNvSpPr/>
          <p:nvPr/>
        </p:nvSpPr>
        <p:spPr>
          <a:xfrm>
            <a:off x="2053048" y="1463040"/>
            <a:ext cx="5037903" cy="3438144"/>
          </a:xfrm>
          <a:prstGeom prst="rect">
            <a:avLst/>
          </a:prstGeom>
          <a:solidFill>
            <a:srgbClr val="FFFFFF"/>
          </a:solidFill>
          <a:ln w="6350">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bstract_full.png"/>
          <p:cNvPicPr>
            <a:picLocks noChangeAspect="1"/>
          </p:cNvPicPr>
          <p:nvPr/>
        </p:nvPicPr>
        <p:blipFill>
          <a:blip r:embed="rId2"/>
          <a:stretch>
            <a:fillRect/>
          </a:stretch>
        </p:blipFill>
        <p:spPr>
          <a:xfrm>
            <a:off x="2071336" y="1481328"/>
            <a:ext cx="5001327" cy="3401568"/>
          </a:xfrm>
          <a:prstGeom prst="rect">
            <a:avLst/>
          </a:prstGeom>
        </p:spPr>
      </p:pic>
      <p:sp>
        <p:nvSpPr>
          <p:cNvPr id="8" name="TextBox 7"/>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9" name="TextBox 8"/>
          <p:cNvSpPr txBox="1"/>
          <p:nvPr/>
        </p:nvSpPr>
        <p:spPr>
          <a:xfrm>
            <a:off x="8321040" y="4864608"/>
            <a:ext cx="548640" cy="237744"/>
          </a:xfrm>
          <a:prstGeom prst="rect">
            <a:avLst/>
          </a:prstGeom>
          <a:noFill/>
        </p:spPr>
        <p:txBody>
          <a:bodyPr wrap="none">
            <a:spAutoFit/>
          </a:bodyPr>
          <a:lstStyle/>
          <a:p>
            <a:pPr algn="r"/>
            <a:r>
              <a:rPr sz="800">
                <a:solidFill>
                  <a:srgbClr val="606060"/>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Backup — Model Facts</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411480" y="1508760"/>
            <a:ext cx="4069080" cy="310896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11480" y="1508760"/>
            <a:ext cx="4069080" cy="329184"/>
          </a:xfrm>
          <a:prstGeom prst="roundRect">
            <a:avLst>
              <a:gd name="adj" fmla="val 50000"/>
            </a:avLst>
          </a:prstGeom>
          <a:solidFill>
            <a:srgbClr val="0065BD"/>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300">
                <a:solidFill>
                  <a:srgbClr val="FFFFFF"/>
                </a:solidFill>
              </a:rPr>
              <a:t>The model</a:t>
            </a:r>
          </a:p>
        </p:txBody>
      </p:sp>
      <p:sp>
        <p:nvSpPr>
          <p:cNvPr id="8" name="TextBox 7"/>
          <p:cNvSpPr txBox="1"/>
          <p:nvPr/>
        </p:nvSpPr>
        <p:spPr>
          <a:xfrm>
            <a:off x="484632" y="1892807"/>
            <a:ext cx="3922776" cy="2651760"/>
          </a:xfrm>
          <a:prstGeom prst="rect">
            <a:avLst/>
          </a:prstGeom>
          <a:noFill/>
        </p:spPr>
        <p:txBody>
          <a:bodyPr wrap="square">
            <a:spAutoFit/>
          </a:bodyPr>
          <a:lstStyle/>
          <a:p>
            <a:pPr>
              <a:spcAft>
                <a:spcPts val="300"/>
              </a:spcAft>
            </a:pPr>
            <a:r>
              <a:rPr sz="1150">
                <a:solidFill>
                  <a:srgbClr val="20252A"/>
                </a:solidFill>
              </a:rPr>
              <a:t>One .archimate file · two views (as required)</a:t>
            </a:r>
          </a:p>
          <a:p>
            <a:pPr>
              <a:spcAft>
                <a:spcPts val="300"/>
              </a:spcAft>
            </a:pPr>
            <a:r>
              <a:rPr sz="1150">
                <a:solidFill>
                  <a:srgbClr val="20252A"/>
                </a:solidFill>
              </a:rPr>
              <a:t>Abstract view: 72 objects, 98 connections</a:t>
            </a:r>
          </a:p>
          <a:p>
            <a:pPr>
              <a:spcAft>
                <a:spcPts val="300"/>
              </a:spcAft>
            </a:pPr>
            <a:r>
              <a:rPr sz="1150">
                <a:solidFill>
                  <a:srgbClr val="20252A"/>
                </a:solidFill>
              </a:rPr>
              <a:t>Detailed F1 view: 86 objects, 160 connections</a:t>
            </a:r>
          </a:p>
          <a:p>
            <a:pPr>
              <a:spcAft>
                <a:spcPts val="300"/>
              </a:spcAft>
            </a:pPr>
            <a:r>
              <a:rPr sz="1150">
                <a:solidFill>
                  <a:srgbClr val="20252A"/>
                </a:solidFill>
              </a:rPr>
              <a:t>Naming: noun phrases for structure, verb phrases for behaviour</a:t>
            </a:r>
          </a:p>
        </p:txBody>
      </p:sp>
      <p:sp>
        <p:nvSpPr>
          <p:cNvPr id="9" name="Rounded Rectangle 8"/>
          <p:cNvSpPr/>
          <p:nvPr/>
        </p:nvSpPr>
        <p:spPr>
          <a:xfrm>
            <a:off x="4663440" y="1508760"/>
            <a:ext cx="4069080" cy="3108960"/>
          </a:xfrm>
          <a:prstGeom prst="roundRect">
            <a:avLst>
              <a:gd name="adj" fmla="val 5000"/>
            </a:avLst>
          </a:prstGeom>
          <a:solidFill>
            <a:srgbClr val="F6F9FC"/>
          </a:solidFill>
          <a:ln w="9525">
            <a:solidFill>
              <a:srgbClr val="D0D8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1508760"/>
            <a:ext cx="4069080" cy="329184"/>
          </a:xfrm>
          <a:prstGeom prst="roundRect">
            <a:avLst>
              <a:gd name="adj" fmla="val 50000"/>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12700" bIns="12700"/>
          <a:lstStyle/>
          <a:p>
            <a:pPr algn="ctr"/>
            <a:r>
              <a:rPr b="1" sz="1300">
                <a:solidFill>
                  <a:srgbClr val="FFFFFF"/>
                </a:solidFill>
              </a:rPr>
              <a:t>Tooling &amp; workflow</a:t>
            </a:r>
          </a:p>
        </p:txBody>
      </p:sp>
      <p:sp>
        <p:nvSpPr>
          <p:cNvPr id="11" name="TextBox 10"/>
          <p:cNvSpPr txBox="1"/>
          <p:nvPr/>
        </p:nvSpPr>
        <p:spPr>
          <a:xfrm>
            <a:off x="4736592" y="1892807"/>
            <a:ext cx="3922776" cy="2651760"/>
          </a:xfrm>
          <a:prstGeom prst="rect">
            <a:avLst/>
          </a:prstGeom>
          <a:noFill/>
        </p:spPr>
        <p:txBody>
          <a:bodyPr wrap="square">
            <a:spAutoFit/>
          </a:bodyPr>
          <a:lstStyle/>
          <a:p>
            <a:pPr>
              <a:spcAft>
                <a:spcPts val="300"/>
              </a:spcAft>
            </a:pPr>
            <a:r>
              <a:rPr sz="1150">
                <a:solidFill>
                  <a:srgbClr val="20252A"/>
                </a:solidFill>
              </a:rPr>
              <a:t>Archi + coArchi plugin, shared GitHub repository</a:t>
            </a:r>
          </a:p>
          <a:p>
            <a:pPr>
              <a:spcAft>
                <a:spcPts val="300"/>
              </a:spcAft>
            </a:pPr>
            <a:r>
              <a:rPr sz="1150">
                <a:solidFill>
                  <a:srgbClr val="20252A"/>
                </a:solidFill>
              </a:rPr>
              <a:t>One layer per person, weekly alignment on the cross-layer relationships</a:t>
            </a:r>
          </a:p>
          <a:p>
            <a:pPr>
              <a:spcAft>
                <a:spcPts val="300"/>
              </a:spcAft>
            </a:pPr>
            <a:r>
              <a:rPr sz="1150">
                <a:solidFill>
                  <a:srgbClr val="20252A"/>
                </a:solidFill>
              </a:rPr>
              <a:t>Independent model audit before submission (fix PRs merged)</a:t>
            </a:r>
          </a:p>
        </p:txBody>
      </p:sp>
      <p:sp>
        <p:nvSpPr>
          <p:cNvPr id="12" name="TextBox 11"/>
          <p:cNvSpPr txBox="1"/>
          <p:nvPr/>
        </p:nvSpPr>
        <p:spPr>
          <a:xfrm>
            <a:off x="310896" y="4864608"/>
            <a:ext cx="6949440" cy="237744"/>
          </a:xfrm>
          <a:prstGeom prst="rect">
            <a:avLst/>
          </a:prstGeom>
          <a:noFill/>
        </p:spPr>
        <p:txBody>
          <a:bodyPr wrap="none">
            <a:spAutoFit/>
          </a:bodyPr>
          <a:lstStyle/>
          <a:p>
            <a:r>
              <a:rPr sz="800">
                <a:solidFill>
                  <a:srgbClr val="606060"/>
                </a:solidFill>
              </a:rPr>
              <a:t>Schwab · Jeong · Aurelia · Choi · Eroglu — EAM Case Study ArchiHotel · C2F1G4</a:t>
            </a:r>
          </a:p>
        </p:txBody>
      </p:sp>
      <p:sp>
        <p:nvSpPr>
          <p:cNvPr id="13" name="TextBox 12"/>
          <p:cNvSpPr txBox="1"/>
          <p:nvPr/>
        </p:nvSpPr>
        <p:spPr>
          <a:xfrm>
            <a:off x="8321040" y="4864608"/>
            <a:ext cx="548640" cy="237744"/>
          </a:xfrm>
          <a:prstGeom prst="rect">
            <a:avLst/>
          </a:prstGeom>
          <a:noFill/>
        </p:spPr>
        <p:txBody>
          <a:bodyPr wrap="none">
            <a:spAutoFit/>
          </a:bodyPr>
          <a:lstStyle/>
          <a:p>
            <a:pPr algn="r"/>
            <a:r>
              <a:rPr sz="800">
                <a:solidFill>
                  <a:srgbClr val="606060"/>
                </a:solidFill>
              </a:rPr>
              <a:t>15</a:t>
            </a:r>
          </a:p>
        </p:txBody>
      </p:sp>
    </p:spTree>
  </p:cSld>
  <p:clrMapOvr>
    <a:masterClrMapping/>
  </p:clrMapOvr>
</p:sld>
</file>

<file path=ppt/theme/theme1.xml><?xml version="1.0" encoding="utf-8"?>
<a:theme xmlns:a="http://schemas.openxmlformats.org/drawingml/2006/main" name="Titel 1">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F39E7027-915F-7341-A9EA-C8CBFD2E8FA2}"/>
    </a:ext>
  </a:extLst>
</a:theme>
</file>

<file path=ppt/theme/theme2.xml><?xml version="1.0" encoding="utf-8"?>
<a:theme xmlns:a="http://schemas.openxmlformats.org/drawingml/2006/main" name="Title Blan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itel 2">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BD7862EB-E8D6-994B-BBF4-6CC3FFF92DD2}"/>
    </a:ext>
  </a:extLst>
</a:theme>
</file>

<file path=ppt/theme/theme4.xml><?xml version="1.0" encoding="utf-8"?>
<a:theme xmlns:a="http://schemas.openxmlformats.org/drawingml/2006/main" name="Titel 3">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16AD8073-F55B-9144-802C-46456E9E217B}"/>
    </a:ext>
  </a:extLst>
</a:theme>
</file>

<file path=ppt/theme/theme5.xml><?xml version="1.0" encoding="utf-8"?>
<a:theme xmlns:a="http://schemas.openxmlformats.org/drawingml/2006/main" name="Inhalt">
  <a:themeElements>
    <a:clrScheme name="TUM">
      <a:dk1>
        <a:sysClr val="windowText" lastClr="000000"/>
      </a:dk1>
      <a:lt1>
        <a:sysClr val="window" lastClr="FFFFFF"/>
      </a:lt1>
      <a:dk2>
        <a:srgbClr val="003359"/>
      </a:dk2>
      <a:lt2>
        <a:srgbClr val="0065BD"/>
      </a:lt2>
      <a:accent1>
        <a:srgbClr val="005293"/>
      </a:accent1>
      <a:accent2>
        <a:srgbClr val="64A0C8"/>
      </a:accent2>
      <a:accent3>
        <a:srgbClr val="98C6EA"/>
      </a:accent3>
      <a:accent4>
        <a:srgbClr val="A2AD00"/>
      </a:accent4>
      <a:accent5>
        <a:srgbClr val="E37222"/>
      </a:accent5>
      <a:accent6>
        <a:srgbClr val="DAD7CB"/>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741D405E-8307-9B40-9F97-3F5DAC837EF3}"/>
    </a:ext>
  </a:extLst>
</a:theme>
</file>

<file path=ppt/theme/theme6.xml><?xml version="1.0" encoding="utf-8"?>
<a:theme xmlns:a="http://schemas.openxmlformats.org/drawingml/2006/main" name="Kapiteltrenner blau">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4BFAB656-7532-6C41-9541-858AFF7D6765}"/>
    </a:ext>
  </a:extLst>
</a:theme>
</file>

<file path=ppt/theme/theme7.xml><?xml version="1.0" encoding="utf-8"?>
<a:theme xmlns:a="http://schemas.openxmlformats.org/drawingml/2006/main" name="Kapiteltrenner schwarz">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A724F04A-1212-AA4C-B6F1-157BE88DDFD7}"/>
    </a:ext>
  </a:extLst>
</a:theme>
</file>

<file path=ppt/theme/theme8.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TUM_Praesentation_p_v1_16-9 (5)</Template>
  <TotalTime>263</TotalTime>
  <Words>1084</Words>
  <Application>Microsoft Office PowerPoint</Application>
  <PresentationFormat>On-screen Show (16:9)</PresentationFormat>
  <Paragraphs>150</Paragraphs>
  <Slides>27</Slides>
  <Notes>1</Notes>
  <HiddenSlides>0</HiddenSlides>
  <MMClips>0</MMClips>
  <ScaleCrop>false</ScaleCrop>
  <HeadingPairs>
    <vt:vector size="6" baseType="variant">
      <vt:variant>
        <vt:lpstr>Fonts Used</vt:lpstr>
      </vt:variant>
      <vt:variant>
        <vt:i4>5</vt:i4>
      </vt:variant>
      <vt:variant>
        <vt:lpstr>Theme</vt:lpstr>
      </vt:variant>
      <vt:variant>
        <vt:i4>7</vt:i4>
      </vt:variant>
      <vt:variant>
        <vt:lpstr>Slide Titles</vt:lpstr>
      </vt:variant>
      <vt:variant>
        <vt:i4>27</vt:i4>
      </vt:variant>
    </vt:vector>
  </HeadingPairs>
  <TitlesOfParts>
    <vt:vector size="39" baseType="lpstr">
      <vt:lpstr>Arial</vt:lpstr>
      <vt:lpstr>Calibri</vt:lpstr>
      <vt:lpstr>Courier New</vt:lpstr>
      <vt:lpstr>Symbol</vt:lpstr>
      <vt:lpstr>Wingdings</vt:lpstr>
      <vt:lpstr>Titel 1</vt:lpstr>
      <vt:lpstr>Title Blank</vt:lpstr>
      <vt:lpstr>Titel 2</vt:lpstr>
      <vt:lpstr>Titel 3</vt:lpstr>
      <vt:lpstr>Inhalt</vt:lpstr>
      <vt:lpstr>Kapiteltrenner blau</vt:lpstr>
      <vt:lpstr>Kapiteltrenner schwarz</vt:lpstr>
      <vt:lpstr>PowerPoint Presentation</vt:lpstr>
      <vt:lpstr>PowerPoint Presentation</vt:lpstr>
      <vt:lpstr>PowerPoint Presentation</vt:lpstr>
      <vt:lpstr>PowerPoint Presentation</vt:lpstr>
      <vt:lpstr>PowerPoint Presentation</vt:lpstr>
      <vt:lpstr>Title Page</vt:lpstr>
      <vt:lpstr>Contents</vt:lpstr>
      <vt:lpstr>Slide Master</vt:lpstr>
      <vt:lpstr>Gültigkeit der Masterfolien</vt:lpstr>
      <vt:lpstr>Grundlage der Masterfolien</vt:lpstr>
      <vt:lpstr>Schrift</vt:lpstr>
      <vt:lpstr>Farben</vt:lpstr>
      <vt:lpstr>Texte</vt:lpstr>
      <vt:lpstr>Bilder - Allgemein</vt:lpstr>
      <vt:lpstr>Aufzählung</vt:lpstr>
      <vt:lpstr>Bilder</vt:lpstr>
      <vt:lpstr>Bilder</vt:lpstr>
      <vt:lpstr>Bilder</vt:lpstr>
      <vt:lpstr>Bilder</vt:lpstr>
      <vt:lpstr>Bilder</vt:lpstr>
      <vt:lpstr>Nicht formatfüllende Bilder</vt:lpstr>
      <vt:lpstr>Bilder Format füllend - maximale Bildgröße</vt:lpstr>
      <vt:lpstr>Nicht Format füllende Bilder</vt:lpstr>
      <vt:lpstr>Tabelle – Beispiel 1</vt:lpstr>
      <vt:lpstr>Tabelle – Beispiel 2</vt:lpstr>
      <vt:lpstr>Diagramme – Beispiel 1</vt:lpstr>
      <vt:lpstr>Diagramme</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Wei Tian</dc:creator>
  <cp:lastModifiedBy>Wei Tian</cp:lastModifiedBy>
  <cp:revision>10</cp:revision>
  <cp:lastPrinted>2015-07-30T14:04:45Z</cp:lastPrinted>
  <dcterms:created xsi:type="dcterms:W3CDTF">2020-10-03T23:03:33Z</dcterms:created>
  <dcterms:modified xsi:type="dcterms:W3CDTF">2022-10-26T18:06:39Z</dcterms:modified>
</cp:coreProperties>
</file>