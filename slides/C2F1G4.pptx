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3" r:id="rId1"/>
    <p:sldMasterId id="2147483722" r:id="rId2"/>
    <p:sldMasterId id="2147483668" r:id="rId3"/>
    <p:sldMasterId id="2147483674" r:id="rId4"/>
    <p:sldMasterId id="2147483648" r:id="rId5"/>
    <p:sldMasterId id="2147483684" r:id="rId6"/>
    <p:sldMasterId id="2147483697" r:id="rId7"/>
  </p:sldMasterIdLst>
  <p:notesMasterIdLst>
    <p:notesMasterId r:id="rId35"/>
  </p:notesMasterIdLst>
  <p:handoutMasterIdLst>
    <p:handoutMasterId r:id="rId36"/>
  </p:handout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 id="268" r:id="rId27"/>
    <p:sldId id="269" r:id="rId28"/>
    <p:sldId id="270" r:id="rId29"/>
    <p:sldId id="271" r:id="rId30"/>
  </p:sldIdLst>
  <p:sldSz cx="9144000" cy="5143500" type="screen16x9"/>
  <p:notesSz cx="9925050" cy="6665913"/>
  <p:defaultTex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4" userDrawn="1">
          <p15:clr>
            <a:srgbClr val="A4A3A4"/>
          </p15:clr>
        </p15:guide>
        <p15:guide id="2" pos="2880">
          <p15:clr>
            <a:srgbClr val="A4A3A4"/>
          </p15:clr>
        </p15:guide>
        <p15:guide id="3" orient="horz" pos="1620">
          <p15:clr>
            <a:srgbClr val="A4A3A4"/>
          </p15:clr>
        </p15:guide>
      </p15:sldGuideLst>
    </p:ext>
    <p:ext uri="{2D200454-40CA-4A62-9FC3-DE9A4176ACB9}">
      <p15:notesGuideLst xmlns:p15="http://schemas.microsoft.com/office/powerpoint/2012/main">
        <p15:guide id="1" orient="horz" pos="2100">
          <p15:clr>
            <a:srgbClr val="A4A3A4"/>
          </p15:clr>
        </p15:guide>
        <p15:guide id="2" pos="312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9999"/>
    <a:srgbClr val="98C6EA"/>
    <a:srgbClr val="0052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5CF61DF-608A-4863-8EEB-B13EAF41BFD5}" v="328" dt="2020-10-04T01:50:20.975"/>
  </p1510:revLst>
</p1510:revInfo>
</file>

<file path=ppt/tableStyles.xml><?xml version="1.0" encoding="utf-8"?>
<a:tblStyleLst xmlns:a="http://schemas.openxmlformats.org/drawingml/2006/main" def="{2D5ABB26-0587-4C30-8999-92F81FD0307C}">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E269D01E-BC32-4049-B463-5C60D7B0CCD2}" styleName="Designformatvorlage 2 - Akz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D083AE6-46FA-4A59-8FB0-9F97EB10719F}" styleName="Helle Formatvorlage 3 - Akz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EC20E35-A176-4012-BC5E-935CFFF8708E}" styleName="Mittlere Formatvorlag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C4B1156A-380E-4F78-BDF5-A606A8083BF9}" styleName="Mittlere Formatvorlage 4 - Akz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74C1A8A3-306A-4EB7-A6B1-4F7E0EB9C5D6}" styleName="Mittlere Formatvorlage 3 - Akz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939" autoAdjust="0"/>
    <p:restoredTop sz="88272" autoAdjust="0"/>
  </p:normalViewPr>
  <p:slideViewPr>
    <p:cSldViewPr snapToGrid="0">
      <p:cViewPr varScale="1">
        <p:scale>
          <a:sx n="58" d="100"/>
          <a:sy n="58" d="100"/>
        </p:scale>
        <p:origin x="62" y="62"/>
      </p:cViewPr>
      <p:guideLst>
        <p:guide orient="horz" pos="2164"/>
        <p:guide pos="2880"/>
        <p:guide orient="horz" pos="1620"/>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131" d="100"/>
          <a:sy n="131" d="100"/>
        </p:scale>
        <p:origin x="-810" y="-96"/>
      </p:cViewPr>
      <p:guideLst>
        <p:guide orient="horz" pos="2100"/>
        <p:guide pos="3126"/>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5" Type="http://schemas.openxmlformats.org/officeDocument/2006/relationships/notesMaster" Target="notesMasters/notesMaster1.xml"/><Relationship Id="rId36" Type="http://schemas.openxmlformats.org/officeDocument/2006/relationships/handoutMaster" Target="handoutMasters/handout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dirty="0"/>
          </a:p>
        </p:txBody>
      </p:sp>
      <p:sp>
        <p:nvSpPr>
          <p:cNvPr id="3" name="Datumsplatzhalter 2"/>
          <p:cNvSpPr>
            <a:spLocks noGrp="1"/>
          </p:cNvSpPr>
          <p:nvPr>
            <p:ph type="dt" sz="quarter"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Arial" pitchFamily="34" charset="0"/>
                <a:cs typeface="Arial" pitchFamily="34" charset="0"/>
              </a:defRPr>
            </a:lvl1pPr>
          </a:lstStyle>
          <a:p>
            <a:pPr>
              <a:defRPr/>
            </a:pPr>
            <a:fld id="{20751376-2EB8-4403-B858-305A8AAA6B01}" type="datetimeFigureOut">
              <a:rPr lang="en-GB"/>
              <a:pPr>
                <a:defRPr/>
              </a:pPr>
              <a:t>26/10/2022</a:t>
            </a:fld>
            <a:endParaRPr lang="en-GB" dirty="0"/>
          </a:p>
        </p:txBody>
      </p:sp>
      <p:sp>
        <p:nvSpPr>
          <p:cNvPr id="4" name="Fußzeilenplatzhalter 3"/>
          <p:cNvSpPr>
            <a:spLocks noGrp="1"/>
          </p:cNvSpPr>
          <p:nvPr>
            <p:ph type="ftr" sz="quarter" idx="2"/>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5" name="Foliennummernplatzhalter 4"/>
          <p:cNvSpPr>
            <a:spLocks noGrp="1"/>
          </p:cNvSpPr>
          <p:nvPr>
            <p:ph type="sldNum" sz="quarter" idx="3"/>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Arial" pitchFamily="34" charset="0"/>
                <a:cs typeface="Arial" pitchFamily="34" charset="0"/>
              </a:defRPr>
            </a:lvl1pPr>
          </a:lstStyle>
          <a:p>
            <a:pPr>
              <a:defRPr/>
            </a:pPr>
            <a:fld id="{62C15F7A-46C6-4AD2-BFEC-842DCCCC19C4}" type="slidenum">
              <a:rPr lang="en-GB"/>
              <a:pPr>
                <a:defRPr/>
              </a:pPr>
              <a:t>‹#›</a:t>
            </a:fld>
            <a:endParaRPr lang="en-GB"/>
          </a:p>
        </p:txBody>
      </p:sp>
    </p:spTree>
    <p:extLst>
      <p:ext uri="{BB962C8B-B14F-4D97-AF65-F5344CB8AC3E}">
        <p14:creationId xmlns:p14="http://schemas.microsoft.com/office/powerpoint/2010/main" val="28290957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3" name="Datumsplatzhalter 2"/>
          <p:cNvSpPr>
            <a:spLocks noGrp="1"/>
          </p:cNvSpPr>
          <p:nvPr>
            <p:ph type="dt"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mn-lt"/>
                <a:cs typeface="+mn-cs"/>
              </a:defRPr>
            </a:lvl1pPr>
          </a:lstStyle>
          <a:p>
            <a:pPr>
              <a:defRPr/>
            </a:pPr>
            <a:fld id="{89C46BC9-2C9E-4670-A85A-6A588BA2D405}" type="datetimeFigureOut">
              <a:rPr lang="en-GB"/>
              <a:pPr>
                <a:defRPr/>
              </a:pPr>
              <a:t>26/10/2022</a:t>
            </a:fld>
            <a:endParaRPr lang="en-GB"/>
          </a:p>
        </p:txBody>
      </p:sp>
      <p:sp>
        <p:nvSpPr>
          <p:cNvPr id="4" name="Folienbildplatzhalter 3"/>
          <p:cNvSpPr>
            <a:spLocks noGrp="1" noRot="1" noChangeAspect="1"/>
          </p:cNvSpPr>
          <p:nvPr>
            <p:ph type="sldImg" idx="2"/>
          </p:nvPr>
        </p:nvSpPr>
        <p:spPr>
          <a:xfrm>
            <a:off x="2740025" y="500063"/>
            <a:ext cx="4445000" cy="2500312"/>
          </a:xfrm>
          <a:prstGeom prst="rect">
            <a:avLst/>
          </a:prstGeom>
          <a:noFill/>
          <a:ln w="12700">
            <a:solidFill>
              <a:prstClr val="black"/>
            </a:solidFill>
          </a:ln>
        </p:spPr>
        <p:txBody>
          <a:bodyPr vert="horz" lIns="90708" tIns="45354" rIns="90708" bIns="45354" rtlCol="0" anchor="ctr"/>
          <a:lstStyle/>
          <a:p>
            <a:pPr lvl="0"/>
            <a:endParaRPr lang="en-GB" noProof="0"/>
          </a:p>
        </p:txBody>
      </p:sp>
      <p:sp>
        <p:nvSpPr>
          <p:cNvPr id="5" name="Notizenplatzhalter 4"/>
          <p:cNvSpPr>
            <a:spLocks noGrp="1"/>
          </p:cNvSpPr>
          <p:nvPr>
            <p:ph type="body" sz="quarter" idx="3"/>
          </p:nvPr>
        </p:nvSpPr>
        <p:spPr>
          <a:xfrm>
            <a:off x="992506" y="3166309"/>
            <a:ext cx="7940040" cy="2999661"/>
          </a:xfrm>
          <a:prstGeom prst="rect">
            <a:avLst/>
          </a:prstGeom>
        </p:spPr>
        <p:txBody>
          <a:bodyPr vert="horz" wrap="square" lIns="90708" tIns="45354" rIns="90708" bIns="45354" numCol="1" anchor="t" anchorCtr="0" compatLnSpc="1">
            <a:prstTxWarp prst="textNoShape">
              <a:avLst/>
            </a:prstTxWarp>
            <a:normAutofit/>
          </a:bodyPr>
          <a:lstStyle/>
          <a:p>
            <a:pPr lvl="0"/>
            <a:r>
              <a:rPr lang="de-DE" dirty="0"/>
              <a:t>Textmasterformate durch Klicken bearbeiten</a:t>
            </a:r>
          </a:p>
          <a:p>
            <a:pPr lvl="1"/>
            <a:r>
              <a:rPr lang="de-DE" dirty="0"/>
              <a:t>Zweite Ebene</a:t>
            </a:r>
          </a:p>
          <a:p>
            <a:pPr lvl="2"/>
            <a:r>
              <a:rPr lang="de-DE" dirty="0"/>
              <a:t>Dritte Ebene</a:t>
            </a:r>
          </a:p>
          <a:p>
            <a:pPr lvl="3"/>
            <a:r>
              <a:rPr lang="de-DE" dirty="0"/>
              <a:t>Vierte Ebene</a:t>
            </a:r>
          </a:p>
          <a:p>
            <a:pPr lvl="4"/>
            <a:r>
              <a:rPr lang="de-DE" dirty="0"/>
              <a:t>Fünfte Ebene</a:t>
            </a:r>
            <a:endParaRPr lang="en-GB" dirty="0"/>
          </a:p>
        </p:txBody>
      </p:sp>
      <p:sp>
        <p:nvSpPr>
          <p:cNvPr id="6" name="Fußzeilenplatzhalter 5"/>
          <p:cNvSpPr>
            <a:spLocks noGrp="1"/>
          </p:cNvSpPr>
          <p:nvPr>
            <p:ph type="ftr" sz="quarter" idx="4"/>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7" name="Foliennummernplatzhalter 6"/>
          <p:cNvSpPr>
            <a:spLocks noGrp="1"/>
          </p:cNvSpPr>
          <p:nvPr>
            <p:ph type="sldNum" sz="quarter" idx="5"/>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mn-lt"/>
                <a:cs typeface="+mn-cs"/>
              </a:defRPr>
            </a:lvl1pPr>
          </a:lstStyle>
          <a:p>
            <a:pPr>
              <a:defRPr/>
            </a:pPr>
            <a:fld id="{00AFC6D0-44D5-4EB7-828F-6F464F83D79A}" type="slidenum">
              <a:rPr lang="en-GB"/>
              <a:pPr>
                <a:defRPr/>
              </a:pPr>
              <a:t>‹#›</a:t>
            </a:fld>
            <a:endParaRPr lang="en-GB"/>
          </a:p>
        </p:txBody>
      </p:sp>
    </p:spTree>
    <p:extLst>
      <p:ext uri="{BB962C8B-B14F-4D97-AF65-F5344CB8AC3E}">
        <p14:creationId xmlns:p14="http://schemas.microsoft.com/office/powerpoint/2010/main" val="2297997308"/>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pitchFamily="34" charset="0"/>
        <a:ea typeface="+mn-ea"/>
        <a:cs typeface="Arial" pitchFamily="34" charset="0"/>
      </a:defRPr>
    </a:lvl1pPr>
    <a:lvl2pPr marL="182563" indent="-182563" algn="l" rtl="0" fontAlgn="base">
      <a:spcBef>
        <a:spcPct val="30000"/>
      </a:spcBef>
      <a:spcAft>
        <a:spcPct val="0"/>
      </a:spcAft>
      <a:buFont typeface="Arial" charset="0"/>
      <a:buChar char="•"/>
      <a:defRPr sz="1200" kern="1200">
        <a:solidFill>
          <a:schemeClr val="tx1"/>
        </a:solidFill>
        <a:latin typeface="+mn-lt"/>
        <a:ea typeface="+mn-ea"/>
        <a:cs typeface="Arial" charset="0"/>
      </a:defRPr>
    </a:lvl2pPr>
    <a:lvl3pPr marL="355600" indent="-173038" algn="l" rtl="0" fontAlgn="base">
      <a:spcBef>
        <a:spcPct val="30000"/>
      </a:spcBef>
      <a:spcAft>
        <a:spcPct val="0"/>
      </a:spcAft>
      <a:buFont typeface="Symbol" pitchFamily="18" charset="2"/>
      <a:buChar char="-"/>
      <a:defRPr sz="1200" kern="1200">
        <a:solidFill>
          <a:schemeClr val="tx1"/>
        </a:solidFill>
        <a:latin typeface="+mn-lt"/>
        <a:ea typeface="+mn-ea"/>
        <a:cs typeface="Arial" charset="0"/>
      </a:defRPr>
    </a:lvl3pPr>
    <a:lvl4pPr marL="538163" indent="-182563" algn="l" rtl="0" fontAlgn="base">
      <a:spcBef>
        <a:spcPct val="30000"/>
      </a:spcBef>
      <a:spcAft>
        <a:spcPct val="0"/>
      </a:spcAft>
      <a:buFont typeface="Courier New" pitchFamily="49" charset="0"/>
      <a:buChar char="o"/>
      <a:defRPr sz="1200" kern="1200">
        <a:solidFill>
          <a:schemeClr val="tx1"/>
        </a:solidFill>
        <a:latin typeface="+mn-lt"/>
        <a:ea typeface="+mn-ea"/>
        <a:cs typeface="Arial" charset="0"/>
      </a:defRPr>
    </a:lvl4pPr>
    <a:lvl5pPr marL="720725" indent="-182563" algn="l" rtl="0" fontAlgn="base">
      <a:spcBef>
        <a:spcPct val="30000"/>
      </a:spcBef>
      <a:spcAft>
        <a:spcPct val="0"/>
      </a:spcAft>
      <a:buFont typeface="Wingdings" pitchFamily="2" charset="2"/>
      <a:buChar char="§"/>
      <a:defRPr sz="1200" kern="1200">
        <a:solidFill>
          <a:schemeClr val="tx1"/>
        </a:solidFill>
        <a:latin typeface="+mn-lt"/>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Katrin (P1), about 15 seconds.</a:t>
            </a:r>
          </a:p>
          <a:p>
            <a:r>
              <a:t>Hook: "At ArchiHotel, luxury feels effortless. But behind the desk, five systems have to cooperate for every single check-in." Say the team name, then move straight on. VERIFY the name spellings before submission, the roster comes from repo commits.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Katrin (P1), about 20 seconds.</a:t>
            </a:r>
          </a:p>
          <a:p>
            <a:r>
              <a:t>One sentence: we split the model one layer per person. Angel kept the layers consistent with each other, and Katrin owned the abstract view and the final quality pass. This sets up the reflection answer on how we worked. Photos can replace the initials if the team prefers.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Katrin (P1), about 45 seconds.</a:t>
            </a:r>
          </a:p>
          <a:p>
            <a:r>
              <a:t>Walk the four services: a guest books, arrives and checks in, pays, and every morning the staff aligns on one shared picture. All of it runs on the Hotel Management System. Point at the red box: our focus area F1 covers reservation handling and check-in, the guest journey from booking to arrival. Payment touches it too. Hand over to Angel.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Angel (P2), about 90 seconds.</a:t>
            </a:r>
          </a:p>
          <a:p>
            <a:r>
              <a:t>Say it explicitly: "Don't try to read this. It's the map." CLICK 1: the three layer bands, business in yellow, application in blue, technology in green. CLICK 2: the key stakeholders, the Guest at the top left and the Receptionist who runs check-in. CLICK 3: everything converges on the Hotel Management System, hosted on the AWS Cloud Server. That server is the technology backbone. Name the main services along the top: reservation, check-in and check-out, daily briefing, room access. Hand over to Soyeong.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Soyeong (P3), about 45 seconds.</a:t>
            </a:r>
          </a:p>
          <a:p>
            <a:r>
              <a:t>Same map, now with the F1 slice boxed in red: the chain from Handle Reservation to Conduct Check-In/Out, the services above them, and the application and technology support below. "We'll zoom into this in three steps: business, application, technology."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Soyeong (P3), about 75 seconds.</a:t>
            </a:r>
          </a:p>
          <a:p>
            <a:r>
              <a:t>CLICK 1: the Guest triggers everything, through the website or an external booking platform. CLICK 2: walk the chain: Submit Reservation Request, Verify Room Availability, Calculate Total Price, Confirm and Allocate Room, Process Payment, Submit Special Request, Add Reservation to Arrival Schedule. CLICK 3: payment is its own business service, delivered by the External Payment Service. CLICK 4: every step reads or writes a business object, from Reservation to Arrival Schedule.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Soyeong, then Fiona (P3/P4), about 75 seconds.</a:t>
            </a:r>
          </a:p>
          <a:p>
            <a:r>
              <a:t>CLICK 1: the Receptionist is assigned to the whole Conduct Check-In/Out process. CLICK 2: three steps: Identify Reservation, Verify Guest Identity, Issue and Configure Key Card. CLICK 3: together they realize the Check-In/Out Service the guest experiences. CLICK 4: open costs settle through the Payment service, backed by the external provider. Handover line: "So much for the people. Now the systems underneath." Fiona takes over.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Fiona (P4), about 90 seconds.</a:t>
            </a:r>
          </a:p>
          <a:p>
            <a:r>
              <a:t>CLICK 1: the HMS is the central component. Its functions are modeled explicitly: Check Room Availability, Calculate Pricing, Reserve Room, Issue Key Card. CLICK 2: those functions are exposed upward as application services like Reservation Management, Check-In and Key Verification. Each one serves a business process from the previous slides. CLICK 3: application events chain the flow: Reservation Request Received, Availability Confirmed, Reservation Approved, Payment Confirmed, Check In Completed. CLICK 4: pick one realization example and explain the pattern: the Reservation data object is the digital record behind the Reservation business object. Guest profile, pricing and room status follow the same pattern.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Demir (P5), about 90 seconds.</a:t>
            </a:r>
          </a:p>
          <a:p>
            <a:r>
              <a:t>CLICK 1: the guest taps the key card and the Door Card Reader detects it. CLICK 2: the Grant Room Access chain runs: Detect Card, Read Access Rights, Verify Authorization, Unlock Door, Activate Room Circuit. CLICK 3: the Door System Software reads the Access Rights artifact and writes the Access Log. CLICK 4: communication is modeled explicitly: the RFID path to the card, hotel Wi-Fi and Internet up to the AWS-hosted HMS. CLICK 5: close the loop: "This is how a reservation made online becomes a door that opens."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Demir, then Katrin (P5/P1), about 60 seconds.</a:t>
            </a:r>
          </a:p>
          <a:p>
            <a:r>
              <a:t>Value: the model gives one shared picture across more than five systems, supports impact analysis (walk one example: HMS down, which services stop?), and speeds up onboarding. Limitations: it's an as-is snapshot with no governance process, it has no quantities or SLAs, and every abstraction choice hides detail on purpose.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Katrin (P1), about 60 seconds.</a:t>
            </a:r>
          </a:p>
          <a:p>
            <a:r>
              <a:t>Missing: infrastructure specs for the reservation side, the interfaces to external booking platforms, and any failure or volume data. Challenges, use the real ones: choosing the abstraction level, keeping the two views consistent while both evolved, and coArchi merge conflicts from modeling in parallel. We hit that one for real and merged eleven duplicate elements late. The kickoff literally warns about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Katrin (P1), about 30 seconds.</a:t>
            </a:r>
          </a:p>
          <a:p>
            <a:r>
              <a:t>Recap in three sentences: we modeled reservation handling and check-in across all three ArchiMate layers, everything converges on the HMS, and the model's value is transparency and impact analysis, with the limits of a snapshot. Thank the audience. KEEP THIS SLIDE UP during the discussion. Everyone stays up front, they will ask each member something.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backup, 5 minutes of discussion. Following slides: full detailed view, full abstract view, model facts.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complete detailed view for zoom-in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complete abstract view. Useful for questions about the other focus areas, like briefing, laundry or transfer.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numbers and workflow facts for the discussion.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8338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2"/>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718550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Start">
    <p:spTree>
      <p:nvGrpSpPr>
        <p:cNvPr id="1" name=""/>
        <p:cNvGrpSpPr/>
        <p:nvPr/>
      </p:nvGrpSpPr>
      <p:grpSpPr>
        <a:xfrm>
          <a:off x="0" y="0"/>
          <a:ext cx="0" cy="0"/>
          <a:chOff x="0" y="0"/>
          <a:chExt cx="0" cy="0"/>
        </a:xfrm>
      </p:grpSpPr>
      <p:pic>
        <p:nvPicPr>
          <p:cNvPr id="2" name="Bild 4" descr="TUM_Glockenturm.tif">
            <a:extLst>
              <a:ext uri="{FF2B5EF4-FFF2-40B4-BE49-F238E27FC236}">
                <a16:creationId xmlns:a16="http://schemas.microsoft.com/office/drawing/2014/main" id="{3DC659F7-0024-9FCB-D753-C693EDA7779B}"/>
              </a:ext>
            </a:extLst>
          </p:cNvPr>
          <p:cNvPicPr>
            <a:picLocks noChangeAspect="1"/>
          </p:cNvPicPr>
          <p:nvPr userDrawn="1"/>
        </p:nvPicPr>
        <p:blipFill>
          <a:blip r:embed="rId2"/>
          <a:stretch>
            <a:fillRect/>
          </a:stretch>
        </p:blipFill>
        <p:spPr>
          <a:xfrm>
            <a:off x="4975215" y="1476375"/>
            <a:ext cx="3819542" cy="3333750"/>
          </a:xfrm>
          <a:prstGeom prst="rect">
            <a:avLst/>
          </a:prstGeom>
        </p:spPr>
      </p:pic>
      <p:sp>
        <p:nvSpPr>
          <p:cNvPr id="12" name="Titel 1"/>
          <p:cNvSpPr>
            <a:spLocks noGrp="1"/>
          </p:cNvSpPr>
          <p:nvPr>
            <p:ph type="title" hasCustomPrompt="1"/>
          </p:nvPr>
        </p:nvSpPr>
        <p:spPr>
          <a:xfrm>
            <a:off x="319090" y="972000"/>
            <a:ext cx="8508999" cy="38338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2"/>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3981830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38583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bg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chemeClr val="bg1"/>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5" name="Foliennummernplatzhalter 4"/>
          <p:cNvSpPr>
            <a:spLocks noGrp="1"/>
          </p:cNvSpPr>
          <p:nvPr>
            <p:ph type="sldNum" sz="quarter" idx="12"/>
          </p:nvPr>
        </p:nvSpPr>
        <p:spPr/>
        <p:txBody>
          <a:bodyPr/>
          <a:lstStyle>
            <a:lvl1pPr>
              <a:defRPr>
                <a:solidFill>
                  <a:schemeClr val="bg1"/>
                </a:solidFill>
              </a:defRPr>
            </a:lvl1p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71855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bg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chemeClr val="bg1"/>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5" name="Foliennummernplatzhalter 4"/>
          <p:cNvSpPr>
            <a:spLocks noGrp="1"/>
          </p:cNvSpPr>
          <p:nvPr>
            <p:ph type="sldNum" sz="quarter" idx="12"/>
          </p:nvPr>
        </p:nvSpPr>
        <p:spPr/>
        <p:txBody>
          <a:bodyPr/>
          <a:lstStyle>
            <a:lvl1pPr>
              <a:defRPr>
                <a:solidFill>
                  <a:schemeClr val="bg1"/>
                </a:solidFill>
              </a:defRPr>
            </a:lvl1pPr>
          </a:lstStyle>
          <a:p>
            <a:fld id="{CE58CB1E-F828-4F11-99E0-327109AF9DA4}" type="slidenum">
              <a:rPr lang="de-DE" smtClean="0"/>
              <a:pPr/>
              <a:t>‹#›</a:t>
            </a:fld>
            <a:endParaRPr lang="de-DE" dirty="0"/>
          </a:p>
        </p:txBody>
      </p:sp>
      <p:sp>
        <p:nvSpPr>
          <p:cNvPr id="2" name="Textfeld 10">
            <a:extLst>
              <a:ext uri="{FF2B5EF4-FFF2-40B4-BE49-F238E27FC236}">
                <a16:creationId xmlns:a16="http://schemas.microsoft.com/office/drawing/2014/main" id="{154976A3-D458-EBF9-B242-F3440F1111AF}"/>
              </a:ext>
            </a:extLst>
          </p:cNvPr>
          <p:cNvSpPr txBox="1"/>
          <p:nvPr userDrawn="1"/>
        </p:nvSpPr>
        <p:spPr>
          <a:xfrm>
            <a:off x="319506" y="321468"/>
            <a:ext cx="7160425" cy="346249"/>
          </a:xfrm>
          <a:prstGeom prst="rect">
            <a:avLst/>
          </a:prstGeom>
          <a:noFill/>
        </p:spPr>
        <p:txBody>
          <a:bodyPr wrap="square" lIns="0" tIns="0" rIns="0" bIns="0" rtlCol="0">
            <a:spAutoFit/>
          </a:bodyPr>
          <a:lstStyle/>
          <a:p>
            <a:pPr>
              <a:lnSpc>
                <a:spcPts val="900"/>
              </a:lnSpc>
            </a:pPr>
            <a:r>
              <a:rPr lang="en-US" sz="800" dirty="0">
                <a:solidFill>
                  <a:schemeClr val="bg1"/>
                </a:solidFill>
                <a:latin typeface="+mn-lt"/>
              </a:rPr>
              <a:t>Chair of High-Power Converter Systems</a:t>
            </a:r>
            <a:endParaRPr lang="de-DE" sz="800" kern="1200" dirty="0">
              <a:solidFill>
                <a:schemeClr val="bg1"/>
              </a:solidFill>
              <a:latin typeface="+mn-lt"/>
              <a:ea typeface="+mn-ea"/>
              <a:cs typeface="Arial" charset="0"/>
            </a:endParaRPr>
          </a:p>
          <a:p>
            <a:pPr>
              <a:lnSpc>
                <a:spcPts val="900"/>
              </a:lnSpc>
            </a:pPr>
            <a:r>
              <a:rPr lang="en-US" sz="800" kern="1200" dirty="0">
                <a:solidFill>
                  <a:schemeClr val="bg1"/>
                </a:solidFill>
                <a:latin typeface="+mn-lt"/>
                <a:ea typeface="+mn-ea"/>
                <a:cs typeface="Arial" charset="0"/>
              </a:rPr>
              <a:t>TUM School of Engineering and Design</a:t>
            </a:r>
            <a:endParaRPr lang="de-DE" sz="800" kern="1200" dirty="0">
              <a:solidFill>
                <a:schemeClr val="bg1"/>
              </a:solidFill>
              <a:latin typeface="+mn-lt"/>
              <a:ea typeface="+mn-ea"/>
              <a:cs typeface="Arial" charset="0"/>
            </a:endParaRPr>
          </a:p>
          <a:p>
            <a:pPr>
              <a:lnSpc>
                <a:spcPts val="900"/>
              </a:lnSpc>
            </a:pPr>
            <a:r>
              <a:rPr lang="de-DE" sz="800" baseline="0" dirty="0">
                <a:solidFill>
                  <a:schemeClr val="bg1"/>
                </a:solidFill>
                <a:latin typeface="+mn-lt"/>
              </a:rPr>
              <a:t>Technical University of Munich</a:t>
            </a:r>
            <a:endParaRPr lang="de-DE" sz="800" dirty="0">
              <a:solidFill>
                <a:schemeClr val="bg1"/>
              </a:solidFill>
              <a:latin typeface="+mn-lt"/>
            </a:endParaRPr>
          </a:p>
        </p:txBody>
      </p:sp>
    </p:spTree>
    <p:extLst>
      <p:ext uri="{BB962C8B-B14F-4D97-AF65-F5344CB8AC3E}">
        <p14:creationId xmlns:p14="http://schemas.microsoft.com/office/powerpoint/2010/main" val="13904144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rgbClr val="000000"/>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1"/>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718550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tart">
    <p:spTree>
      <p:nvGrpSpPr>
        <p:cNvPr id="1" name=""/>
        <p:cNvGrpSpPr/>
        <p:nvPr/>
      </p:nvGrpSpPr>
      <p:grpSpPr>
        <a:xfrm>
          <a:off x="0" y="0"/>
          <a:ext cx="0" cy="0"/>
          <a:chOff x="0" y="0"/>
          <a:chExt cx="0" cy="0"/>
        </a:xfrm>
      </p:grpSpPr>
      <p:pic>
        <p:nvPicPr>
          <p:cNvPr id="2" name="Bild 4" descr="TUM_Glockenturm.tif">
            <a:extLst>
              <a:ext uri="{FF2B5EF4-FFF2-40B4-BE49-F238E27FC236}">
                <a16:creationId xmlns:a16="http://schemas.microsoft.com/office/drawing/2014/main" id="{186CB456-4823-F0CE-7635-2DF9E971C75F}"/>
              </a:ext>
            </a:extLst>
          </p:cNvPr>
          <p:cNvPicPr>
            <a:picLocks noChangeAspect="1"/>
          </p:cNvPicPr>
          <p:nvPr userDrawn="1"/>
        </p:nvPicPr>
        <p:blipFill>
          <a:blip r:embed="rId2"/>
          <a:stretch>
            <a:fillRect/>
          </a:stretch>
        </p:blipFill>
        <p:spPr>
          <a:xfrm>
            <a:off x="4975215" y="1476375"/>
            <a:ext cx="3819542" cy="3333750"/>
          </a:xfrm>
          <a:prstGeom prst="rect">
            <a:avLst/>
          </a:prstGeom>
        </p:spPr>
      </p:pic>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rgbClr val="000000"/>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1"/>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6604248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8" name="Foliennummernplatzhalter 7"/>
          <p:cNvSpPr>
            <a:spLocks noGrp="1"/>
          </p:cNvSpPr>
          <p:nvPr>
            <p:ph type="sldNum" sz="quarter" idx="12"/>
          </p:nvPr>
        </p:nvSpPr>
        <p:spPr/>
        <p:txBody>
          <a:bodyPr/>
          <a:lstStyle/>
          <a:p>
            <a:fld id="{CE58CB1E-F828-4F11-99E0-327109AF9DA4}" type="slidenum">
              <a:rPr lang="de-DE" smtClean="0"/>
              <a:pPr/>
              <a:t>‹#›</a:t>
            </a:fld>
            <a:endParaRPr lang="de-DE" dirty="0"/>
          </a:p>
        </p:txBody>
      </p:sp>
      <p:sp>
        <p:nvSpPr>
          <p:cNvPr id="9" name="Titel 1">
            <a:extLst>
              <a:ext uri="{FF2B5EF4-FFF2-40B4-BE49-F238E27FC236}">
                <a16:creationId xmlns:a16="http://schemas.microsoft.com/office/drawing/2014/main" id="{05AABF3B-2112-4303-BACC-C389E81E7384}"/>
              </a:ext>
            </a:extLst>
          </p:cNvPr>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Tree>
    <p:extLst>
      <p:ext uri="{BB962C8B-B14F-4D97-AF65-F5344CB8AC3E}">
        <p14:creationId xmlns:p14="http://schemas.microsoft.com/office/powerpoint/2010/main" val="171855092"/>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
    <p:spTree>
      <p:nvGrpSpPr>
        <p:cNvPr id="1" name=""/>
        <p:cNvGrpSpPr/>
        <p:nvPr/>
      </p:nvGrpSpPr>
      <p:grpSpPr>
        <a:xfrm>
          <a:off x="0" y="0"/>
          <a:ext cx="0" cy="0"/>
          <a:chOff x="0" y="0"/>
          <a:chExt cx="0" cy="0"/>
        </a:xfrm>
      </p:grpSpPr>
      <p:sp>
        <p:nvSpPr>
          <p:cNvPr id="10" name="Titel 1"/>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marL="0" indent="0">
              <a:lnSpc>
                <a:spcPts val="3200"/>
              </a:lnSpc>
              <a:defRPr lang="de-DE" sz="2500" noProof="0" dirty="0">
                <a:solidFill>
                  <a:schemeClr val="tx1"/>
                </a:solidFill>
              </a:defRPr>
            </a:lvl1pPr>
          </a:lstStyle>
          <a:p>
            <a:pPr lvl="0"/>
            <a:r>
              <a:rPr lang="de-DE" noProof="0" dirty="0"/>
              <a:t>Titel durch Klicken bearbeiten</a:t>
            </a:r>
          </a:p>
        </p:txBody>
      </p:sp>
      <p:sp>
        <p:nvSpPr>
          <p:cNvPr id="5" name="Foliennummernplatzhalter 4"/>
          <p:cNvSpPr>
            <a:spLocks noGrp="1"/>
          </p:cNvSpPr>
          <p:nvPr>
            <p:ph type="sldNum" sz="quarter" idx="11"/>
          </p:nvPr>
        </p:nvSpPr>
        <p:spPr/>
        <p:txBody>
          <a:bodyPr lIns="0" rIns="0"/>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p:nvSpPr>
          <p:cNvPr id="19" name="Text Placeholder 18">
            <a:extLst>
              <a:ext uri="{FF2B5EF4-FFF2-40B4-BE49-F238E27FC236}">
                <a16:creationId xmlns:a16="http://schemas.microsoft.com/office/drawing/2014/main" id="{740E7229-04EE-4764-BC7E-F87916F4FA64}"/>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218394874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Inhalt">
    <p:spTree>
      <p:nvGrpSpPr>
        <p:cNvPr id="1" name=""/>
        <p:cNvGrpSpPr/>
        <p:nvPr/>
      </p:nvGrpSpPr>
      <p:grpSpPr>
        <a:xfrm>
          <a:off x="0" y="0"/>
          <a:ext cx="0" cy="0"/>
          <a:chOff x="0" y="0"/>
          <a:chExt cx="0" cy="0"/>
        </a:xfrm>
      </p:grpSpPr>
      <p:sp>
        <p:nvSpPr>
          <p:cNvPr id="10" name="Titel 1"/>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marL="0" indent="0">
              <a:lnSpc>
                <a:spcPts val="3200"/>
              </a:lnSpc>
              <a:defRPr lang="de-DE" sz="2500" noProof="0" dirty="0">
                <a:solidFill>
                  <a:schemeClr val="tx1"/>
                </a:solidFill>
              </a:defRPr>
            </a:lvl1pPr>
          </a:lstStyle>
          <a:p>
            <a:pPr lvl="0"/>
            <a:r>
              <a:rPr lang="de-DE" noProof="0" dirty="0"/>
              <a:t>Titel durch Klicken bearbeiten</a:t>
            </a:r>
          </a:p>
        </p:txBody>
      </p:sp>
      <p:sp>
        <p:nvSpPr>
          <p:cNvPr id="5" name="Foliennummernplatzhalter 4"/>
          <p:cNvSpPr>
            <a:spLocks noGrp="1"/>
          </p:cNvSpPr>
          <p:nvPr>
            <p:ph type="sldNum" sz="quarter" idx="11"/>
          </p:nvPr>
        </p:nvSpPr>
        <p:spPr/>
        <p:txBody>
          <a:bodyPr lIns="0" rIns="0"/>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Tree>
    <p:extLst>
      <p:ext uri="{BB962C8B-B14F-4D97-AF65-F5344CB8AC3E}">
        <p14:creationId xmlns:p14="http://schemas.microsoft.com/office/powerpoint/2010/main" val="13072660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785785"/>
            <a:ext cx="8508999" cy="290051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9090" y="1222525"/>
            <a:ext cx="8508999" cy="505304"/>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20912513-725A-7B3D-7236-D9DF537BD47D}"/>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2183948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785785"/>
            <a:ext cx="8508999" cy="290051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9090" y="1222525"/>
            <a:ext cx="8508999" cy="505304"/>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4660904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506687"/>
            <a:ext cx="8508999" cy="3179614"/>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1161" y="936839"/>
            <a:ext cx="8508999" cy="497688"/>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42731150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222525"/>
            <a:ext cx="8508999" cy="346377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293133E1-5289-7056-E483-775294333E78}"/>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85514792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222525"/>
            <a:ext cx="8508999" cy="346377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244030576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11" name="Inhaltsplatzhalter 2"/>
          <p:cNvSpPr>
            <a:spLocks noGrp="1"/>
          </p:cNvSpPr>
          <p:nvPr>
            <p:ph idx="14" hasCustomPrompt="1"/>
          </p:nvPr>
        </p:nvSpPr>
        <p:spPr>
          <a:xfrm>
            <a:off x="311162"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3" name="Inhaltsplatzhalter 2"/>
          <p:cNvSpPr>
            <a:spLocks noGrp="1"/>
          </p:cNvSpPr>
          <p:nvPr>
            <p:ph idx="15" hasCustomPrompt="1"/>
          </p:nvPr>
        </p:nvSpPr>
        <p:spPr>
          <a:xfrm>
            <a:off x="4647179"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6" name="Foliennummernplatzhalter 5"/>
          <p:cNvSpPr>
            <a:spLocks noGrp="1"/>
          </p:cNvSpPr>
          <p:nvPr>
            <p:ph type="sldNum" sz="quarter" idx="16"/>
          </p:nvPr>
        </p:nvSpPr>
        <p:spPr/>
        <p:txBody>
          <a:bodyPr/>
          <a:lstStyle/>
          <a:p>
            <a:fld id="{CE58CB1E-F828-4F11-99E0-327109AF9DA4}" type="slidenum">
              <a:rPr lang="de-DE" smtClean="0"/>
              <a:pPr/>
              <a:t>‹#›</a:t>
            </a:fld>
            <a:endParaRPr lang="de-DE" dirty="0"/>
          </a:p>
        </p:txBody>
      </p:sp>
      <p:sp>
        <p:nvSpPr>
          <p:cNvPr id="8" name="Fußzeilenplatzhalter 7"/>
          <p:cNvSpPr>
            <a:spLocks noGrp="1"/>
          </p:cNvSpPr>
          <p:nvPr>
            <p:ph type="ftr" sz="quarter" idx="17"/>
          </p:nvPr>
        </p:nvSpPr>
        <p:spPr/>
        <p:txBody>
          <a:bodyPr/>
          <a:lstStyle/>
          <a:p>
            <a:r>
              <a:rPr lang="de-DE" dirty="0"/>
              <a:t>Dr. rer. nat. Erika Mustermann (TUM) | kann beliebig erweitert werden | Infos mit Strich trennen</a:t>
            </a:r>
            <a:endParaRPr lang="en-US" dirty="0"/>
          </a:p>
        </p:txBody>
      </p:sp>
      <p:sp>
        <p:nvSpPr>
          <p:cNvPr id="7" name="Titel 1">
            <a:extLst>
              <a:ext uri="{FF2B5EF4-FFF2-40B4-BE49-F238E27FC236}">
                <a16:creationId xmlns:a16="http://schemas.microsoft.com/office/drawing/2014/main" id="{C820FC66-B1DF-47A9-8103-CDCC8883639F}"/>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E9EB89DB-0FCB-44DF-1F96-9A2EDDD7D265}"/>
              </a:ext>
            </a:extLst>
          </p:cNvPr>
          <p:cNvSpPr>
            <a:spLocks noGrp="1"/>
          </p:cNvSpPr>
          <p:nvPr>
            <p:ph type="body" sz="quarter" idx="18"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346290140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zwei Inhalte">
    <p:spTree>
      <p:nvGrpSpPr>
        <p:cNvPr id="1" name=""/>
        <p:cNvGrpSpPr/>
        <p:nvPr/>
      </p:nvGrpSpPr>
      <p:grpSpPr>
        <a:xfrm>
          <a:off x="0" y="0"/>
          <a:ext cx="0" cy="0"/>
          <a:chOff x="0" y="0"/>
          <a:chExt cx="0" cy="0"/>
        </a:xfrm>
      </p:grpSpPr>
      <p:sp>
        <p:nvSpPr>
          <p:cNvPr id="11" name="Inhaltsplatzhalter 2"/>
          <p:cNvSpPr>
            <a:spLocks noGrp="1"/>
          </p:cNvSpPr>
          <p:nvPr>
            <p:ph idx="14" hasCustomPrompt="1"/>
          </p:nvPr>
        </p:nvSpPr>
        <p:spPr>
          <a:xfrm>
            <a:off x="311162"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3" name="Inhaltsplatzhalter 2"/>
          <p:cNvSpPr>
            <a:spLocks noGrp="1"/>
          </p:cNvSpPr>
          <p:nvPr>
            <p:ph idx="15" hasCustomPrompt="1"/>
          </p:nvPr>
        </p:nvSpPr>
        <p:spPr>
          <a:xfrm>
            <a:off x="4647179"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6" name="Foliennummernplatzhalter 5"/>
          <p:cNvSpPr>
            <a:spLocks noGrp="1"/>
          </p:cNvSpPr>
          <p:nvPr>
            <p:ph type="sldNum" sz="quarter" idx="16"/>
          </p:nvPr>
        </p:nvSpPr>
        <p:spPr/>
        <p:txBody>
          <a:bodyPr/>
          <a:lstStyle/>
          <a:p>
            <a:fld id="{CE58CB1E-F828-4F11-99E0-327109AF9DA4}" type="slidenum">
              <a:rPr lang="de-DE" smtClean="0"/>
              <a:pPr/>
              <a:t>‹#›</a:t>
            </a:fld>
            <a:endParaRPr lang="de-DE" dirty="0"/>
          </a:p>
        </p:txBody>
      </p:sp>
      <p:sp>
        <p:nvSpPr>
          <p:cNvPr id="8" name="Fußzeilenplatzhalter 7"/>
          <p:cNvSpPr>
            <a:spLocks noGrp="1"/>
          </p:cNvSpPr>
          <p:nvPr>
            <p:ph type="ftr" sz="quarter" idx="17"/>
          </p:nvPr>
        </p:nvSpPr>
        <p:spPr/>
        <p:txBody>
          <a:bodyPr/>
          <a:lstStyle/>
          <a:p>
            <a:r>
              <a:rPr lang="de-DE" dirty="0"/>
              <a:t>Dr. rer. nat. Erika Mustermann (TUM) | kann beliebig erweitert werden | Infos mit Strich trennen</a:t>
            </a:r>
            <a:endParaRPr lang="en-US" dirty="0"/>
          </a:p>
        </p:txBody>
      </p:sp>
      <p:sp>
        <p:nvSpPr>
          <p:cNvPr id="7" name="Titel 1">
            <a:extLst>
              <a:ext uri="{FF2B5EF4-FFF2-40B4-BE49-F238E27FC236}">
                <a16:creationId xmlns:a16="http://schemas.microsoft.com/office/drawing/2014/main" id="{C820FC66-B1DF-47A9-8103-CDCC8883639F}"/>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20068467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Zwei Inhalte + Text">
    <p:spTree>
      <p:nvGrpSpPr>
        <p:cNvPr id="1" name=""/>
        <p:cNvGrpSpPr/>
        <p:nvPr/>
      </p:nvGrpSpPr>
      <p:grpSpPr>
        <a:xfrm>
          <a:off x="0" y="0"/>
          <a:ext cx="0" cy="0"/>
          <a:chOff x="0" y="0"/>
          <a:chExt cx="0" cy="0"/>
        </a:xfrm>
      </p:grpSpPr>
      <p:sp>
        <p:nvSpPr>
          <p:cNvPr id="18" name="Textplatzhalter 7"/>
          <p:cNvSpPr>
            <a:spLocks noGrp="1"/>
          </p:cNvSpPr>
          <p:nvPr>
            <p:ph type="body" sz="quarter" idx="13"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88333" cy="2924750"/>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38677" y="1771077"/>
            <a:ext cx="4180392" cy="2924750"/>
          </a:xfrm>
          <a:prstGeom prst="rect">
            <a:avLst/>
          </a:prstGeom>
        </p:spPr>
        <p:txBody>
          <a:bodyPr/>
          <a:lstStyle>
            <a:lvl1pPr>
              <a:lnSpc>
                <a:spcPct val="114000"/>
              </a:lnSpc>
              <a:defRPr sz="1400"/>
            </a:lvl1pPr>
          </a:lstStyle>
          <a:p>
            <a:endParaRPr lang="de-DE" dirty="0"/>
          </a:p>
        </p:txBody>
      </p:sp>
      <p:sp>
        <p:nvSpPr>
          <p:cNvPr id="15" name="Titel 1">
            <a:extLst>
              <a:ext uri="{FF2B5EF4-FFF2-40B4-BE49-F238E27FC236}">
                <a16:creationId xmlns:a16="http://schemas.microsoft.com/office/drawing/2014/main" id="{82BEFDB1-C0BE-4875-BD7E-86FDD31F7CD3}"/>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9AEF4677-339F-8CA2-B0ED-473D9EA817FC}"/>
              </a:ext>
            </a:extLst>
          </p:cNvPr>
          <p:cNvSpPr>
            <a:spLocks noGrp="1"/>
          </p:cNvSpPr>
          <p:nvPr>
            <p:ph type="body" sz="quarter" idx="19"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11150819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Zwei Inhalte + Text">
    <p:spTree>
      <p:nvGrpSpPr>
        <p:cNvPr id="1" name=""/>
        <p:cNvGrpSpPr/>
        <p:nvPr/>
      </p:nvGrpSpPr>
      <p:grpSpPr>
        <a:xfrm>
          <a:off x="0" y="0"/>
          <a:ext cx="0" cy="0"/>
          <a:chOff x="0" y="0"/>
          <a:chExt cx="0" cy="0"/>
        </a:xfrm>
      </p:grpSpPr>
      <p:sp>
        <p:nvSpPr>
          <p:cNvPr id="18" name="Textplatzhalter 7"/>
          <p:cNvSpPr>
            <a:spLocks noGrp="1"/>
          </p:cNvSpPr>
          <p:nvPr>
            <p:ph type="body" sz="quarter" idx="13"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88333" cy="2924750"/>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38677" y="1771077"/>
            <a:ext cx="4180392" cy="2924750"/>
          </a:xfrm>
          <a:prstGeom prst="rect">
            <a:avLst/>
          </a:prstGeom>
        </p:spPr>
        <p:txBody>
          <a:bodyPr/>
          <a:lstStyle>
            <a:lvl1pPr>
              <a:lnSpc>
                <a:spcPct val="114000"/>
              </a:lnSpc>
              <a:defRPr sz="1400"/>
            </a:lvl1pPr>
          </a:lstStyle>
          <a:p>
            <a:endParaRPr lang="de-DE" dirty="0"/>
          </a:p>
        </p:txBody>
      </p:sp>
      <p:sp>
        <p:nvSpPr>
          <p:cNvPr id="15" name="Titel 1">
            <a:extLst>
              <a:ext uri="{FF2B5EF4-FFF2-40B4-BE49-F238E27FC236}">
                <a16:creationId xmlns:a16="http://schemas.microsoft.com/office/drawing/2014/main" id="{82BEFDB1-C0BE-4875-BD7E-86FDD31F7CD3}"/>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10456574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Zwei Inhalte + Text (Hintergrund)">
    <p:spTree>
      <p:nvGrpSpPr>
        <p:cNvPr id="1" name=""/>
        <p:cNvGrpSpPr/>
        <p:nvPr/>
      </p:nvGrpSpPr>
      <p:grpSpPr>
        <a:xfrm>
          <a:off x="0" y="0"/>
          <a:ext cx="0" cy="0"/>
          <a:chOff x="0" y="0"/>
          <a:chExt cx="0" cy="0"/>
        </a:xfrm>
      </p:grpSpPr>
      <p:sp>
        <p:nvSpPr>
          <p:cNvPr id="9" name="Rechteck 8"/>
          <p:cNvSpPr/>
          <p:nvPr userDrawn="1"/>
        </p:nvSpPr>
        <p:spPr bwMode="auto">
          <a:xfrm>
            <a:off x="0" y="2152650"/>
            <a:ext cx="9144000" cy="2990850"/>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r" eaLnBrk="0" hangingPunct="0"/>
            <a:endParaRPr lang="de-DE" sz="1000">
              <a:latin typeface="Arial" pitchFamily="34" charset="0"/>
            </a:endParaRP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97858" cy="2934274"/>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1771076"/>
            <a:ext cx="4180392" cy="2915225"/>
          </a:xfrm>
          <a:prstGeom prst="rect">
            <a:avLst/>
          </a:prstGeom>
        </p:spPr>
        <p:txBody>
          <a:bodyPr/>
          <a:lstStyle>
            <a:lvl1pPr>
              <a:lnSpc>
                <a:spcPct val="114000"/>
              </a:lnSpc>
              <a:defRPr sz="1400"/>
            </a:lvl1pPr>
          </a:lstStyle>
          <a:p>
            <a:endParaRPr lang="de-DE" dirty="0"/>
          </a:p>
        </p:txBody>
      </p:sp>
      <p:sp>
        <p:nvSpPr>
          <p:cNvPr id="10" name="Textplatzhalter 7"/>
          <p:cNvSpPr>
            <a:spLocks noGrp="1"/>
          </p:cNvSpPr>
          <p:nvPr>
            <p:ph type="body" sz="quarter" idx="19"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5" name="Titel 1">
            <a:extLst>
              <a:ext uri="{FF2B5EF4-FFF2-40B4-BE49-F238E27FC236}">
                <a16:creationId xmlns:a16="http://schemas.microsoft.com/office/drawing/2014/main" id="{D4303ED8-136B-40E2-A690-FE4668647E77}"/>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B396E02D-F2E0-1B1F-A258-256C442E5359}"/>
              </a:ext>
            </a:extLst>
          </p:cNvPr>
          <p:cNvSpPr>
            <a:spLocks noGrp="1"/>
          </p:cNvSpPr>
          <p:nvPr>
            <p:ph type="body" sz="quarter" idx="20"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1115081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Zwei Inhalte + Text (Hintergrund)">
    <p:spTree>
      <p:nvGrpSpPr>
        <p:cNvPr id="1" name=""/>
        <p:cNvGrpSpPr/>
        <p:nvPr/>
      </p:nvGrpSpPr>
      <p:grpSpPr>
        <a:xfrm>
          <a:off x="0" y="0"/>
          <a:ext cx="0" cy="0"/>
          <a:chOff x="0" y="0"/>
          <a:chExt cx="0" cy="0"/>
        </a:xfrm>
      </p:grpSpPr>
      <p:sp>
        <p:nvSpPr>
          <p:cNvPr id="9" name="Rechteck 8"/>
          <p:cNvSpPr/>
          <p:nvPr userDrawn="1"/>
        </p:nvSpPr>
        <p:spPr bwMode="auto">
          <a:xfrm>
            <a:off x="0" y="1771076"/>
            <a:ext cx="9144000" cy="3372424"/>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r" eaLnBrk="0" hangingPunct="0"/>
            <a:endParaRPr lang="de-DE" sz="1000">
              <a:latin typeface="Arial" pitchFamily="34" charset="0"/>
            </a:endParaRP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97858" cy="2934274"/>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1771076"/>
            <a:ext cx="4180392" cy="2915225"/>
          </a:xfrm>
          <a:prstGeom prst="rect">
            <a:avLst/>
          </a:prstGeom>
        </p:spPr>
        <p:txBody>
          <a:bodyPr/>
          <a:lstStyle>
            <a:lvl1pPr>
              <a:lnSpc>
                <a:spcPct val="114000"/>
              </a:lnSpc>
              <a:defRPr sz="1400"/>
            </a:lvl1pPr>
          </a:lstStyle>
          <a:p>
            <a:endParaRPr lang="de-DE" dirty="0"/>
          </a:p>
        </p:txBody>
      </p:sp>
      <p:sp>
        <p:nvSpPr>
          <p:cNvPr id="10" name="Textplatzhalter 7"/>
          <p:cNvSpPr>
            <a:spLocks noGrp="1"/>
          </p:cNvSpPr>
          <p:nvPr>
            <p:ph type="body" sz="quarter" idx="19"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5" name="Titel 1">
            <a:extLst>
              <a:ext uri="{FF2B5EF4-FFF2-40B4-BE49-F238E27FC236}">
                <a16:creationId xmlns:a16="http://schemas.microsoft.com/office/drawing/2014/main" id="{D4303ED8-136B-40E2-A690-FE4668647E77}"/>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37029002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oße Bilder">
    <p:spTree>
      <p:nvGrpSpPr>
        <p:cNvPr id="1" name=""/>
        <p:cNvGrpSpPr/>
        <p:nvPr/>
      </p:nvGrpSpPr>
      <p:grpSpPr>
        <a:xfrm>
          <a:off x="0" y="0"/>
          <a:ext cx="0" cy="0"/>
          <a:chOff x="0" y="0"/>
          <a:chExt cx="0" cy="0"/>
        </a:xfrm>
      </p:grpSpPr>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9" name="Bildplatzhalter 8"/>
          <p:cNvSpPr>
            <a:spLocks noGrp="1"/>
          </p:cNvSpPr>
          <p:nvPr>
            <p:ph type="pic" sz="quarter" idx="17"/>
          </p:nvPr>
        </p:nvSpPr>
        <p:spPr>
          <a:xfrm>
            <a:off x="0" y="1771076"/>
            <a:ext cx="9144000" cy="3367344"/>
          </a:xfrm>
          <a:prstGeom prst="rect">
            <a:avLst/>
          </a:prstGeom>
        </p:spPr>
        <p:txBody>
          <a:bodyPr/>
          <a:lstStyle>
            <a:lvl1pPr>
              <a:defRPr sz="1400"/>
            </a:lvl1pPr>
          </a:lstStyle>
          <a:p>
            <a:endParaRPr lang="de-DE" dirty="0"/>
          </a:p>
        </p:txBody>
      </p:sp>
      <p:sp>
        <p:nvSpPr>
          <p:cNvPr id="8" name="Textplatzhalter 7"/>
          <p:cNvSpPr>
            <a:spLocks noGrp="1"/>
          </p:cNvSpPr>
          <p:nvPr>
            <p:ph type="body" sz="quarter" idx="18"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0" name="Titel 1">
            <a:extLst>
              <a:ext uri="{FF2B5EF4-FFF2-40B4-BE49-F238E27FC236}">
                <a16:creationId xmlns:a16="http://schemas.microsoft.com/office/drawing/2014/main" id="{B1164939-4755-42C9-9079-2B5AE284E2E6}"/>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5FE9A9B3-89BF-F3DC-FA80-DEDD36A47285}"/>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1115081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große Bilder">
    <p:spTree>
      <p:nvGrpSpPr>
        <p:cNvPr id="1" name=""/>
        <p:cNvGrpSpPr/>
        <p:nvPr/>
      </p:nvGrpSpPr>
      <p:grpSpPr>
        <a:xfrm>
          <a:off x="0" y="0"/>
          <a:ext cx="0" cy="0"/>
          <a:chOff x="0" y="0"/>
          <a:chExt cx="0" cy="0"/>
        </a:xfrm>
      </p:grpSpPr>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9" name="Bildplatzhalter 8"/>
          <p:cNvSpPr>
            <a:spLocks noGrp="1"/>
          </p:cNvSpPr>
          <p:nvPr>
            <p:ph type="pic" sz="quarter" idx="17"/>
          </p:nvPr>
        </p:nvSpPr>
        <p:spPr>
          <a:xfrm>
            <a:off x="0" y="1771076"/>
            <a:ext cx="9144000" cy="3367344"/>
          </a:xfrm>
          <a:prstGeom prst="rect">
            <a:avLst/>
          </a:prstGeom>
        </p:spPr>
        <p:txBody>
          <a:bodyPr/>
          <a:lstStyle>
            <a:lvl1pPr>
              <a:defRPr sz="1400"/>
            </a:lvl1pPr>
          </a:lstStyle>
          <a:p>
            <a:endParaRPr lang="de-DE" dirty="0"/>
          </a:p>
        </p:txBody>
      </p:sp>
      <p:sp>
        <p:nvSpPr>
          <p:cNvPr id="8" name="Textplatzhalter 7"/>
          <p:cNvSpPr>
            <a:spLocks noGrp="1"/>
          </p:cNvSpPr>
          <p:nvPr>
            <p:ph type="body" sz="quarter" idx="18"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0" name="Titel 1">
            <a:extLst>
              <a:ext uri="{FF2B5EF4-FFF2-40B4-BE49-F238E27FC236}">
                <a16:creationId xmlns:a16="http://schemas.microsoft.com/office/drawing/2014/main" id="{B1164939-4755-42C9-9079-2B5AE284E2E6}"/>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2611215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ilder formatfüllend">
    <p:spTree>
      <p:nvGrpSpPr>
        <p:cNvPr id="1" name=""/>
        <p:cNvGrpSpPr/>
        <p:nvPr/>
      </p:nvGrpSpPr>
      <p:grpSpPr>
        <a:xfrm>
          <a:off x="0" y="0"/>
          <a:ext cx="0" cy="0"/>
          <a:chOff x="0" y="0"/>
          <a:chExt cx="0" cy="0"/>
        </a:xfrm>
      </p:grpSpPr>
      <p:sp>
        <p:nvSpPr>
          <p:cNvPr id="8" name="Bildplatzhalter 2"/>
          <p:cNvSpPr>
            <a:spLocks noGrp="1"/>
          </p:cNvSpPr>
          <p:nvPr>
            <p:ph type="pic" sz="quarter" idx="14" hasCustomPrompt="1"/>
          </p:nvPr>
        </p:nvSpPr>
        <p:spPr>
          <a:xfrm>
            <a:off x="0" y="1222524"/>
            <a:ext cx="9144000" cy="3920975"/>
          </a:xfrm>
          <a:prstGeom prst="rect">
            <a:avLst/>
          </a:prstGeom>
        </p:spPr>
        <p:txBody>
          <a:bodyPr/>
          <a:lstStyle>
            <a:lvl1pPr>
              <a:lnSpc>
                <a:spcPct val="114000"/>
              </a:lnSpc>
              <a:defRPr sz="1400"/>
            </a:lvl1pPr>
          </a:lstStyle>
          <a:p>
            <a:endParaRPr lang="de-DE" dirty="0"/>
          </a:p>
        </p:txBody>
      </p:sp>
      <p:sp>
        <p:nvSpPr>
          <p:cNvPr id="6" name="Foliennummernplatzhalter 5"/>
          <p:cNvSpPr>
            <a:spLocks noGrp="1"/>
          </p:cNvSpPr>
          <p:nvPr>
            <p:ph type="sldNum" sz="quarter" idx="15"/>
          </p:nvPr>
        </p:nvSpPr>
        <p:spPr/>
        <p:txBody>
          <a:bodyPr/>
          <a:lstStyle/>
          <a:p>
            <a:fld id="{CE58CB1E-F828-4F11-99E0-327109AF9DA4}" type="slidenum">
              <a:rPr lang="de-DE" smtClean="0"/>
              <a:pPr/>
              <a:t>‹#›</a:t>
            </a:fld>
            <a:endParaRPr lang="de-DE" dirty="0"/>
          </a:p>
        </p:txBody>
      </p:sp>
      <p:sp>
        <p:nvSpPr>
          <p:cNvPr id="10" name="Fußzeilenplatzhalter 9"/>
          <p:cNvSpPr>
            <a:spLocks noGrp="1"/>
          </p:cNvSpPr>
          <p:nvPr>
            <p:ph type="ftr" sz="quarter" idx="16"/>
          </p:nvPr>
        </p:nvSpPr>
        <p:spPr/>
        <p:txBody>
          <a:bodyPr/>
          <a:lstStyle/>
          <a:p>
            <a:r>
              <a:rPr lang="de-DE" dirty="0"/>
              <a:t>Dr. rer. nat. Erika Mustermann (TUM) | kann beliebig erweitert werden | Infos mit Strich trennen</a:t>
            </a:r>
            <a:endParaRPr lang="en-US" dirty="0"/>
          </a:p>
        </p:txBody>
      </p:sp>
      <p:sp>
        <p:nvSpPr>
          <p:cNvPr id="14" name="Titel 1">
            <a:extLst>
              <a:ext uri="{FF2B5EF4-FFF2-40B4-BE49-F238E27FC236}">
                <a16:creationId xmlns:a16="http://schemas.microsoft.com/office/drawing/2014/main" id="{6F6AFFF9-3343-4B1B-8898-C1F255D03160}"/>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FB6134F2-2761-390F-47D1-C1565FBC87CA}"/>
              </a:ext>
            </a:extLst>
          </p:cNvPr>
          <p:cNvSpPr>
            <a:spLocks noGrp="1"/>
          </p:cNvSpPr>
          <p:nvPr>
            <p:ph type="body" sz="quarter" idx="17"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425798737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Bilder formatfüllend">
    <p:spTree>
      <p:nvGrpSpPr>
        <p:cNvPr id="1" name=""/>
        <p:cNvGrpSpPr/>
        <p:nvPr/>
      </p:nvGrpSpPr>
      <p:grpSpPr>
        <a:xfrm>
          <a:off x="0" y="0"/>
          <a:ext cx="0" cy="0"/>
          <a:chOff x="0" y="0"/>
          <a:chExt cx="0" cy="0"/>
        </a:xfrm>
      </p:grpSpPr>
      <p:sp>
        <p:nvSpPr>
          <p:cNvPr id="8" name="Bildplatzhalter 2"/>
          <p:cNvSpPr>
            <a:spLocks noGrp="1"/>
          </p:cNvSpPr>
          <p:nvPr>
            <p:ph type="pic" sz="quarter" idx="14" hasCustomPrompt="1"/>
          </p:nvPr>
        </p:nvSpPr>
        <p:spPr>
          <a:xfrm>
            <a:off x="0" y="1222524"/>
            <a:ext cx="9144000" cy="3920975"/>
          </a:xfrm>
          <a:prstGeom prst="rect">
            <a:avLst/>
          </a:prstGeom>
        </p:spPr>
        <p:txBody>
          <a:bodyPr/>
          <a:lstStyle>
            <a:lvl1pPr>
              <a:lnSpc>
                <a:spcPct val="114000"/>
              </a:lnSpc>
              <a:defRPr sz="1400"/>
            </a:lvl1pPr>
          </a:lstStyle>
          <a:p>
            <a:endParaRPr lang="de-DE" dirty="0"/>
          </a:p>
        </p:txBody>
      </p:sp>
      <p:sp>
        <p:nvSpPr>
          <p:cNvPr id="6" name="Foliennummernplatzhalter 5"/>
          <p:cNvSpPr>
            <a:spLocks noGrp="1"/>
          </p:cNvSpPr>
          <p:nvPr>
            <p:ph type="sldNum" sz="quarter" idx="15"/>
          </p:nvPr>
        </p:nvSpPr>
        <p:spPr/>
        <p:txBody>
          <a:bodyPr/>
          <a:lstStyle/>
          <a:p>
            <a:fld id="{CE58CB1E-F828-4F11-99E0-327109AF9DA4}" type="slidenum">
              <a:rPr lang="de-DE" smtClean="0"/>
              <a:pPr/>
              <a:t>‹#›</a:t>
            </a:fld>
            <a:endParaRPr lang="de-DE" dirty="0"/>
          </a:p>
        </p:txBody>
      </p:sp>
      <p:sp>
        <p:nvSpPr>
          <p:cNvPr id="10" name="Fußzeilenplatzhalter 9"/>
          <p:cNvSpPr>
            <a:spLocks noGrp="1"/>
          </p:cNvSpPr>
          <p:nvPr>
            <p:ph type="ftr" sz="quarter" idx="16"/>
          </p:nvPr>
        </p:nvSpPr>
        <p:spPr/>
        <p:txBody>
          <a:bodyPr/>
          <a:lstStyle/>
          <a:p>
            <a:r>
              <a:rPr lang="de-DE" dirty="0"/>
              <a:t>Dr. rer. nat. Erika Mustermann (TUM) | kann beliebig erweitert werden | Infos mit Strich trennen</a:t>
            </a:r>
            <a:endParaRPr lang="en-US" dirty="0"/>
          </a:p>
        </p:txBody>
      </p:sp>
      <p:sp>
        <p:nvSpPr>
          <p:cNvPr id="14" name="Titel 1">
            <a:extLst>
              <a:ext uri="{FF2B5EF4-FFF2-40B4-BE49-F238E27FC236}">
                <a16:creationId xmlns:a16="http://schemas.microsoft.com/office/drawing/2014/main" id="{6F6AFFF9-3343-4B1B-8898-C1F255D03160}"/>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328783731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baseline="0" noProof="0" dirty="0">
                <a:solidFill>
                  <a:schemeClr val="bg1"/>
                </a:solidFill>
              </a:defRPr>
            </a:lvl1pPr>
          </a:lstStyle>
          <a:p>
            <a:pPr lvl="0"/>
            <a:r>
              <a:rPr lang="de-DE" noProof="0" dirty="0"/>
              <a:t>Präsentationsmuster</a:t>
            </a:r>
            <a:br>
              <a:rPr lang="de-DE" noProof="0" dirty="0"/>
            </a:br>
            <a:br>
              <a:rPr lang="de-DE" noProof="0" dirty="0"/>
            </a:br>
            <a:r>
              <a:rPr lang="de-DE" noProof="0" dirty="0"/>
              <a:t>kann auch als </a:t>
            </a:r>
            <a:r>
              <a:rPr lang="de-DE" noProof="0" dirty="0" err="1"/>
              <a:t>Kapiteltrenner</a:t>
            </a:r>
            <a:r>
              <a:rPr lang="de-DE" noProof="0" dirty="0"/>
              <a:t> verwendet werden</a:t>
            </a:r>
          </a:p>
        </p:txBody>
      </p:sp>
      <p:sp>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bg1"/>
                </a:solidFill>
              </a:defRPr>
            </a:lvl1pPr>
          </a:lstStyle>
          <a:p>
            <a:pPr lvl="0"/>
            <a:r>
              <a:rPr lang="de-DE" noProof="0" dirty="0"/>
              <a:t>Präsentationsmuster</a:t>
            </a:r>
            <a:br>
              <a:rPr lang="de-DE" noProof="0" dirty="0"/>
            </a:br>
            <a:br>
              <a:rPr lang="de-DE" noProof="0" dirty="0"/>
            </a:br>
            <a:r>
              <a:rPr lang="de-DE" noProof="0" dirty="0"/>
              <a:t>kann auch als </a:t>
            </a:r>
            <a:r>
              <a:rPr lang="de-DE" noProof="0" dirty="0" err="1"/>
              <a:t>Kapiteltrenner</a:t>
            </a:r>
            <a:r>
              <a:rPr lang="de-DE" noProof="0" dirty="0"/>
              <a:t> verwendet werden</a:t>
            </a:r>
          </a:p>
        </p:txBody>
      </p:sp>
      <p:sp>
        <p:nvSpPr>
          <p:cNvPr id="6" name="Foliennummernplatzhalter 5"/>
          <p:cNvSpPr>
            <a:spLocks noGrp="1"/>
          </p:cNvSpPr>
          <p:nvPr>
            <p:ph type="sldNum" sz="quarter" idx="11"/>
          </p:nvPr>
        </p:nvSpPr>
        <p:spPr/>
        <p:txBody>
          <a:bodyPr/>
          <a:lstStyle>
            <a:lvl1pPr>
              <a:defRPr>
                <a:solidFill>
                  <a:schemeClr val="bg1"/>
                </a:solidFill>
              </a:defRPr>
            </a:lvl1pPr>
          </a:lstStyle>
          <a:p>
            <a:fld id="{CE58CB1E-F828-4F11-99E0-327109AF9DA4}" type="slidenum">
              <a:rPr lang="de-DE" smtClean="0"/>
              <a:pPr/>
              <a:t>‹#›</a:t>
            </a:fld>
            <a:endParaRPr lang="de-DE" dirty="0"/>
          </a:p>
        </p:txBody>
      </p:sp>
      <p:sp>
        <p:nvSpPr>
          <p:cNvPr id="8" name="Fußzeilenplatzhalter 7"/>
          <p:cNvSpPr>
            <a:spLocks noGrp="1"/>
          </p:cNvSpPr>
          <p:nvPr>
            <p:ph type="ftr" sz="quarter" idx="12"/>
          </p:nvPr>
        </p:nvSpPr>
        <p:spPr/>
        <p:txBody>
          <a:bodyPr/>
          <a:lstStyle>
            <a:lvl1pPr>
              <a:defRPr>
                <a:solidFill>
                  <a:schemeClr val="bg1"/>
                </a:solidFill>
              </a:defRPr>
            </a:lvl1pPr>
          </a:lstStyle>
          <a:p>
            <a:r>
              <a:rPr lang="de-DE" dirty="0"/>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wmf"/><Relationship Id="rId5" Type="http://schemas.openxmlformats.org/officeDocument/2006/relationships/image" Target="../media/image5.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theme" Target="../theme/theme3.xml"/><Relationship Id="rId4" Type="http://schemas.openxmlformats.org/officeDocument/2006/relationships/image" Target="../media/image3.jpeg"/><Relationship Id="rId5" Type="http://schemas.openxmlformats.org/officeDocument/2006/relationships/image" Target="../media/image4.emf"/><Relationship Id="rId6" Type="http://schemas.openxmlformats.org/officeDocument/2006/relationships/image" Target="../media/image5.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Layout" Target="../slideLayouts/slideLayout7.xml"/><Relationship Id="rId3" Type="http://schemas.openxmlformats.org/officeDocument/2006/relationships/theme" Target="../theme/theme4.xml"/><Relationship Id="rId4" Type="http://schemas.openxmlformats.org/officeDocument/2006/relationships/image" Target="../media/image1.wmf"/><Relationship Id="rId5" Type="http://schemas.openxmlformats.org/officeDocument/2006/relationships/image" Target="../media/image5.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Layout" Target="../slideLayouts/slideLayout9.xml"/><Relationship Id="rId3" Type="http://schemas.openxmlformats.org/officeDocument/2006/relationships/slideLayout" Target="../slideLayouts/slideLayout10.xml"/><Relationship Id="rId4" Type="http://schemas.openxmlformats.org/officeDocument/2006/relationships/slideLayout" Target="../slideLayouts/slideLayout11.xml"/><Relationship Id="rId5" Type="http://schemas.openxmlformats.org/officeDocument/2006/relationships/slideLayout" Target="../slideLayouts/slideLayout12.xml"/><Relationship Id="rId6" Type="http://schemas.openxmlformats.org/officeDocument/2006/relationships/slideLayout" Target="../slideLayouts/slideLayout13.xml"/><Relationship Id="rId7" Type="http://schemas.openxmlformats.org/officeDocument/2006/relationships/slideLayout" Target="../slideLayouts/slideLayout14.xml"/><Relationship Id="rId8" Type="http://schemas.openxmlformats.org/officeDocument/2006/relationships/slideLayout" Target="../slideLayouts/slideLayout15.xml"/><Relationship Id="rId9" Type="http://schemas.openxmlformats.org/officeDocument/2006/relationships/slideLayout" Target="../slideLayouts/slideLayout16.xml"/><Relationship Id="rId10" Type="http://schemas.openxmlformats.org/officeDocument/2006/relationships/slideLayout" Target="../slideLayouts/slideLayout17.xml"/><Relationship Id="rId11" Type="http://schemas.openxmlformats.org/officeDocument/2006/relationships/slideLayout" Target="../slideLayouts/slideLayout18.xml"/><Relationship Id="rId12" Type="http://schemas.openxmlformats.org/officeDocument/2006/relationships/slideLayout" Target="../slideLayouts/slideLayout19.xml"/><Relationship Id="rId13" Type="http://schemas.openxmlformats.org/officeDocument/2006/relationships/slideLayout" Target="../slideLayouts/slideLayout20.xml"/><Relationship Id="rId14" Type="http://schemas.openxmlformats.org/officeDocument/2006/relationships/slideLayout" Target="../slideLayouts/slideLayout21.xml"/><Relationship Id="rId15" Type="http://schemas.openxmlformats.org/officeDocument/2006/relationships/slideLayout" Target="../slideLayouts/slideLayout22.xml"/><Relationship Id="rId16" Type="http://schemas.openxmlformats.org/officeDocument/2006/relationships/slideLayout" Target="../slideLayouts/slideLayout23.xml"/><Relationship Id="rId17" Type="http://schemas.openxmlformats.org/officeDocument/2006/relationships/slideLayout" Target="../slideLayouts/slideLayout24.xml"/><Relationship Id="rId18" Type="http://schemas.openxmlformats.org/officeDocument/2006/relationships/slideLayout" Target="../slideLayouts/slideLayout25.xml"/><Relationship Id="rId19" Type="http://schemas.openxmlformats.org/officeDocument/2006/relationships/theme" Target="../theme/theme5.xml"/><Relationship Id="rId20" Type="http://schemas.openxmlformats.org/officeDocument/2006/relationships/image" Target="../media/image1.wmf"/><Relationship Id="rId21" Type="http://schemas.openxmlformats.org/officeDocument/2006/relationships/image" Target="../media/image5.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theme" Target="../theme/theme6.xml"/><Relationship Id="rId3" Type="http://schemas.openxmlformats.org/officeDocument/2006/relationships/image" Target="../media/image4.emf"/><Relationship Id="rId4" Type="http://schemas.openxmlformats.org/officeDocument/2006/relationships/image" Target="../media/image5.pn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theme" Target="../theme/theme7.xml"/><Relationship Id="rId3" Type="http://schemas.openxmlformats.org/officeDocument/2006/relationships/image" Target="../media/image4.emf"/><Relationship Id="rId4"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Fußzeilenplatzhalter 3"/>
          <p:cNvSpPr>
            <a:spLocks noGrp="1"/>
          </p:cNvSpPr>
          <p:nvPr>
            <p:ph type="ftr" sz="quarter" idx="3"/>
          </p:nvPr>
        </p:nvSpPr>
        <p:spPr>
          <a:xfrm>
            <a:off x="311162" y="4854985"/>
            <a:ext cx="7829538" cy="288515"/>
          </a:xfrm>
          <a:prstGeom prst="rect">
            <a:avLst/>
          </a:prstGeom>
        </p:spPr>
        <p:txBody>
          <a:bodyPr vert="horz" lIns="0" tIns="45720" rIns="0" bIns="45720" rtlCol="0" anchor="ctr"/>
          <a:lstStyle>
            <a:lvl1pPr algn="l">
              <a:defRPr sz="1100">
                <a:solidFill>
                  <a:schemeClr val="tx1"/>
                </a:solidFill>
              </a:defRPr>
            </a:lvl1pPr>
          </a:lstStyle>
          <a:p>
            <a:r>
              <a:rPr lang="de-DE" dirty="0"/>
              <a:t>Dr. rer. nat. Erika Mustermann (TUM) | kann beliebig erweitert werden | Infos mit Strich trennen</a:t>
            </a:r>
            <a:endParaRPr lang="en-US" dirty="0"/>
          </a:p>
        </p:txBody>
      </p:sp>
      <p:sp>
        <p:nvSpPr>
          <p:cNvPr id="11"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pic>
        <p:nvPicPr>
          <p:cNvPr id="5" name="Bild 8" descr="20150416 tum logo blau png final.png"/>
          <p:cNvPicPr>
            <a:picLocks noChangeAspect="1"/>
          </p:cNvPicPr>
          <p:nvPr userDrawn="1"/>
        </p:nvPicPr>
        <p:blipFill>
          <a:blip r:embed="rId5"/>
          <a:stretch>
            <a:fillRect/>
          </a:stretch>
        </p:blipFill>
        <p:spPr>
          <a:xfrm>
            <a:off x="8211705" y="324000"/>
            <a:ext cx="611869" cy="318516"/>
          </a:xfrm>
          <a:prstGeom prst="rect">
            <a:avLst/>
          </a:prstGeom>
        </p:spPr>
      </p:pic>
    </p:spTree>
  </p:cSld>
  <p:clrMap bg1="lt1" tx1="dk1" bg2="lt2" tx2="dk2" accent1="accent1" accent2="accent2" accent3="accent3" accent4="accent4" accent5="accent5" accent6="accent6" hlink="hlink" folHlink="folHlink"/>
  <p:sldLayoutIdLst>
    <p:sldLayoutId id="2147483664" r:id="rId1"/>
    <p:sldLayoutId id="2147483665" r:id="rId2"/>
  </p:sldLayoutIdLst>
  <p:hf hdr="0" dt="0"/>
  <p:txStyles>
    <p:titleStyle>
      <a:lvl1pPr algn="l" rtl="0" eaLnBrk="1" fontAlgn="base" hangingPunct="1">
        <a:lnSpc>
          <a:spcPct val="125000"/>
        </a:lnSpc>
        <a:spcBef>
          <a:spcPct val="0"/>
        </a:spcBef>
        <a:spcAft>
          <a:spcPct val="0"/>
        </a:spcAft>
        <a:defRPr sz="2200" b="0" kern="1200">
          <a:solidFill>
            <a:schemeClr val="tx1"/>
          </a:solidFill>
          <a:latin typeface="+mj-lt"/>
          <a:ea typeface="+mj-ea"/>
          <a:cs typeface="+mj-cs"/>
        </a:defRPr>
      </a:lvl1pPr>
      <a:lvl2pPr algn="l" rtl="0" eaLnBrk="1" fontAlgn="base" hangingPunct="1">
        <a:spcBef>
          <a:spcPct val="0"/>
        </a:spcBef>
        <a:spcAft>
          <a:spcPct val="0"/>
        </a:spcAft>
        <a:defRPr sz="2000" b="1">
          <a:solidFill>
            <a:schemeClr val="tx2"/>
          </a:solidFill>
          <a:latin typeface="Arial" charset="0"/>
          <a:cs typeface="Arial" charset="0"/>
        </a:defRPr>
      </a:lvl2pPr>
      <a:lvl3pPr algn="l" rtl="0" eaLnBrk="1" fontAlgn="base" hangingPunct="1">
        <a:spcBef>
          <a:spcPct val="0"/>
        </a:spcBef>
        <a:spcAft>
          <a:spcPct val="0"/>
        </a:spcAft>
        <a:defRPr sz="2000" b="1">
          <a:solidFill>
            <a:schemeClr val="tx2"/>
          </a:solidFill>
          <a:latin typeface="Arial" charset="0"/>
          <a:cs typeface="Arial" charset="0"/>
        </a:defRPr>
      </a:lvl3pPr>
      <a:lvl4pPr algn="l" rtl="0" eaLnBrk="1" fontAlgn="base" hangingPunct="1">
        <a:spcBef>
          <a:spcPct val="0"/>
        </a:spcBef>
        <a:spcAft>
          <a:spcPct val="0"/>
        </a:spcAft>
        <a:defRPr sz="2000" b="1">
          <a:solidFill>
            <a:schemeClr val="tx2"/>
          </a:solidFill>
          <a:latin typeface="Arial" charset="0"/>
          <a:cs typeface="Arial" charset="0"/>
        </a:defRPr>
      </a:lvl4pPr>
      <a:lvl5pPr algn="l" rtl="0" eaLnBrk="1" fontAlgn="base" hangingPunct="1">
        <a:spcBef>
          <a:spcPct val="0"/>
        </a:spcBef>
        <a:spcAft>
          <a:spcPct val="0"/>
        </a:spcAft>
        <a:defRPr sz="2000" b="1">
          <a:solidFill>
            <a:schemeClr val="tx2"/>
          </a:solidFill>
          <a:latin typeface="Arial" charset="0"/>
          <a:cs typeface="Arial" charset="0"/>
        </a:defRPr>
      </a:lvl5pPr>
      <a:lvl6pPr marL="457200" algn="l" rtl="0" eaLnBrk="1" fontAlgn="base" hangingPunct="1">
        <a:spcBef>
          <a:spcPct val="0"/>
        </a:spcBef>
        <a:spcAft>
          <a:spcPct val="0"/>
        </a:spcAft>
        <a:defRPr sz="2000" b="1">
          <a:solidFill>
            <a:schemeClr val="tx2"/>
          </a:solidFill>
          <a:latin typeface="Arial" charset="0"/>
          <a:cs typeface="Arial" charset="0"/>
        </a:defRPr>
      </a:lvl6pPr>
      <a:lvl7pPr marL="914400" algn="l" rtl="0" eaLnBrk="1" fontAlgn="base" hangingPunct="1">
        <a:spcBef>
          <a:spcPct val="0"/>
        </a:spcBef>
        <a:spcAft>
          <a:spcPct val="0"/>
        </a:spcAft>
        <a:defRPr sz="2000" b="1">
          <a:solidFill>
            <a:schemeClr val="tx2"/>
          </a:solidFill>
          <a:latin typeface="Arial" charset="0"/>
          <a:cs typeface="Arial" charset="0"/>
        </a:defRPr>
      </a:lvl7pPr>
      <a:lvl8pPr marL="1371600" algn="l" rtl="0" eaLnBrk="1" fontAlgn="base" hangingPunct="1">
        <a:spcBef>
          <a:spcPct val="0"/>
        </a:spcBef>
        <a:spcAft>
          <a:spcPct val="0"/>
        </a:spcAft>
        <a:defRPr sz="2000" b="1">
          <a:solidFill>
            <a:schemeClr val="tx2"/>
          </a:solidFill>
          <a:latin typeface="Arial" charset="0"/>
          <a:cs typeface="Arial" charset="0"/>
        </a:defRPr>
      </a:lvl8pPr>
      <a:lvl9pPr marL="1828800" algn="l" rtl="0" eaLnBrk="1" fontAlgn="base" hangingPunct="1">
        <a:spcBef>
          <a:spcPct val="0"/>
        </a:spcBef>
        <a:spcAft>
          <a:spcPct val="0"/>
        </a:spcAft>
        <a:defRPr sz="2000" b="1">
          <a:solidFill>
            <a:schemeClr val="tx2"/>
          </a:solidFill>
          <a:latin typeface="Arial" charset="0"/>
          <a:cs typeface="Arial" charset="0"/>
        </a:defRPr>
      </a:lvl9pPr>
    </p:titleStyle>
    <p:bodyStyle>
      <a:lvl1pPr algn="l" rtl="0" eaLnBrk="1" fontAlgn="base" hangingPunct="1">
        <a:lnSpc>
          <a:spcPct val="100000"/>
        </a:lnSpc>
        <a:spcBef>
          <a:spcPct val="0"/>
        </a:spcBef>
        <a:spcAft>
          <a:spcPct val="0"/>
        </a:spcAft>
        <a:defRPr sz="1600" kern="120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76966230"/>
      </p:ext>
    </p:extLst>
  </p:cSld>
  <p:clrMap bg1="lt1" tx1="dk1" bg2="lt2" tx2="dk2" accent1="accent1" accent2="accent2" accent3="accent3" accent4="accent4" accent5="accent5" accent6="accent6" hlink="hlink" folHlink="folHlink"/>
  <p:sldLayoutIdLst>
    <p:sldLayoutId id="214748372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3" name="Textfeld 22"/>
          <p:cNvSpPr txBox="1"/>
          <p:nvPr/>
        </p:nvSpPr>
        <p:spPr>
          <a:xfrm>
            <a:off x="7713330" y="4922462"/>
            <a:ext cx="1115376" cy="210507"/>
          </a:xfrm>
          <a:prstGeom prst="rect">
            <a:avLst/>
          </a:prstGeom>
        </p:spPr>
        <p:txBody>
          <a:bodyPr wrap="square" lIns="0" tIns="0" rIns="0" bIns="0" rtlCol="0" anchor="b" anchorCtr="0">
            <a:spAutoFit/>
          </a:bodyPr>
          <a:lstStyle/>
          <a:p>
            <a:pPr algn="r">
              <a:lnSpc>
                <a:spcPct val="114000"/>
              </a:lnSpc>
            </a:pPr>
            <a:fld id="{C51078C5-4710-4254-8001-F1C0900803FD}" type="slidenum">
              <a:rPr lang="de-DE" sz="1200" smtClean="0">
                <a:latin typeface="+mn-lt"/>
                <a:cs typeface="Arial" pitchFamily="34" charset="0"/>
              </a:rPr>
              <a:pPr algn="r">
                <a:lnSpc>
                  <a:spcPct val="114000"/>
                </a:lnSpc>
              </a:pPr>
              <a:t>‹#›</a:t>
            </a:fld>
            <a:endParaRPr lang="de-DE" sz="1200" dirty="0">
              <a:latin typeface="+mn-lt"/>
              <a:cs typeface="Arial" pitchFamily="34" charset="0"/>
            </a:endParaRPr>
          </a:p>
        </p:txBody>
      </p:sp>
      <p:pic>
        <p:nvPicPr>
          <p:cNvPr id="5" name="Bild 4" descr="Fahnen_HG.jpg"/>
          <p:cNvPicPr>
            <a:picLocks noChangeAspect="1"/>
          </p:cNvPicPr>
          <p:nvPr/>
        </p:nvPicPr>
        <p:blipFill>
          <a:blip r:embed="rId4" cstate="screen"/>
          <a:srcRect l="398" t="14167" b="10833"/>
          <a:stretch>
            <a:fillRect/>
          </a:stretch>
        </p:blipFill>
        <p:spPr>
          <a:xfrm>
            <a:off x="0" y="0"/>
            <a:ext cx="9144000" cy="5143500"/>
          </a:xfrm>
          <a:prstGeom prst="rect">
            <a:avLst/>
          </a:prstGeom>
        </p:spPr>
      </p:pic>
      <p:pic>
        <p:nvPicPr>
          <p:cNvPr id="7" name="Bild 6" descr="20150416 tum logo blau png final.png"/>
          <p:cNvPicPr>
            <a:picLocks noChangeAspect="1"/>
          </p:cNvPicPr>
          <p:nvPr/>
        </p:nvPicPr>
        <p:blipFill>
          <a:blip r:embed="rId6"/>
          <a:stretch>
            <a:fillRect/>
          </a:stretch>
        </p:blipFill>
        <p:spPr>
          <a:xfrm>
            <a:off x="8203040" y="324000"/>
            <a:ext cx="615273" cy="320288"/>
          </a:xfrm>
          <a:prstGeom prst="rect">
            <a:avLst/>
          </a:prstGeom>
        </p:spPr>
      </p:pic>
      <p:sp>
        <p:nvSpPr>
          <p:cNvPr id="8"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9" r:id="rId1"/>
    <p:sldLayoutId id="2147483724" r:id="rId2"/>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dirty="0"/>
              <a:t>Dr. rer. nat. Erika Mustermann (TUM) | kann beliebig erweitert werden | Infos mit Strich trennen</a:t>
            </a:r>
            <a:endParaRPr lang="en-US" dirty="0"/>
          </a:p>
        </p:txBody>
      </p:sp>
      <p:pic>
        <p:nvPicPr>
          <p:cNvPr id="7" name="Bild 6" descr="20150416 tum logo blau png final.png"/>
          <p:cNvPicPr>
            <a:picLocks noChangeAspect="1"/>
          </p:cNvPicPr>
          <p:nvPr/>
        </p:nvPicPr>
        <p:blipFill>
          <a:blip r:embed="rId5"/>
          <a:stretch>
            <a:fillRect/>
          </a:stretch>
        </p:blipFill>
        <p:spPr>
          <a:xfrm>
            <a:off x="8211316" y="324000"/>
            <a:ext cx="611869" cy="318516"/>
          </a:xfrm>
          <a:prstGeom prst="rect">
            <a:avLst/>
          </a:prstGeom>
        </p:spPr>
      </p:pic>
      <p:sp>
        <p:nvSpPr>
          <p:cNvPr id="11" name="Textfeld 10"/>
          <p:cNvSpPr txBox="1"/>
          <p:nvPr userDrawn="1"/>
        </p:nvSpPr>
        <p:spPr>
          <a:xfrm>
            <a:off x="319506" y="321468"/>
            <a:ext cx="7160425" cy="346249"/>
          </a:xfrm>
          <a:prstGeom prst="rect">
            <a:avLst/>
          </a:prstGeom>
          <a:noFill/>
        </p:spPr>
        <p:txBody>
          <a:bodyPr wrap="square" lIns="0" tIns="0" rIns="0" bIns="0" rtlCol="0">
            <a:spAutoFit/>
          </a:bodyPr>
          <a:lstStyle/>
          <a:p>
            <a:pPr>
              <a:lnSpc>
                <a:spcPts val="900"/>
              </a:lnSpc>
            </a:pPr>
            <a:r>
              <a:rPr lang="en-US" sz="800" dirty="0">
                <a:solidFill>
                  <a:schemeClr val="tx2"/>
                </a:solidFill>
                <a:latin typeface="+mn-lt"/>
              </a:rPr>
              <a:t>Chair of High-Power Converter Systems</a:t>
            </a:r>
            <a:endParaRPr lang="de-DE" sz="800" kern="1200" dirty="0">
              <a:solidFill>
                <a:schemeClr val="tx2"/>
              </a:solidFill>
              <a:latin typeface="+mn-lt"/>
              <a:ea typeface="+mn-ea"/>
              <a:cs typeface="Arial" charset="0"/>
            </a:endParaRPr>
          </a:p>
          <a:p>
            <a:pPr>
              <a:lnSpc>
                <a:spcPts val="900"/>
              </a:lnSpc>
            </a:pPr>
            <a:r>
              <a:rPr lang="en-US" sz="800" kern="1200" dirty="0">
                <a:solidFill>
                  <a:schemeClr val="tx2"/>
                </a:solidFill>
                <a:latin typeface="+mn-lt"/>
                <a:ea typeface="+mn-ea"/>
                <a:cs typeface="Arial" charset="0"/>
              </a:rPr>
              <a:t>TUM School of Engineering and Design</a:t>
            </a:r>
            <a:endParaRPr lang="de-DE" sz="800" kern="1200" dirty="0">
              <a:solidFill>
                <a:schemeClr val="tx2"/>
              </a:solidFill>
              <a:latin typeface="+mn-lt"/>
              <a:ea typeface="+mn-ea"/>
              <a:cs typeface="Arial" charset="0"/>
            </a:endParaRPr>
          </a:p>
          <a:p>
            <a:pPr>
              <a:lnSpc>
                <a:spcPts val="900"/>
              </a:lnSpc>
            </a:pPr>
            <a:r>
              <a:rPr lang="de-DE" sz="800" baseline="0" dirty="0">
                <a:solidFill>
                  <a:schemeClr val="tx2"/>
                </a:solidFill>
                <a:latin typeface="+mn-lt"/>
              </a:rPr>
              <a:t>Technical University of Munich</a:t>
            </a:r>
            <a:endParaRPr lang="de-DE" sz="800" dirty="0">
              <a:solidFill>
                <a:schemeClr val="tx2"/>
              </a:solidFill>
              <a:latin typeface="+mn-lt"/>
            </a:endParaRP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3" name="Bild 2" descr="20150416 tum logo blau png final.png"/>
          <p:cNvPicPr>
            <a:picLocks noChangeAspect="1"/>
          </p:cNvPicPr>
          <p:nvPr/>
        </p:nvPicPr>
        <p:blipFill>
          <a:blip r:embed="rId21"/>
          <a:stretch>
            <a:fillRect/>
          </a:stretch>
        </p:blipFill>
        <p:spPr>
          <a:xfrm>
            <a:off x="8211316" y="324000"/>
            <a:ext cx="611869" cy="318516"/>
          </a:xfrm>
          <a:prstGeom prst="rect">
            <a:avLst/>
          </a:prstGeom>
        </p:spPr>
      </p:pic>
      <p:sp>
        <p:nvSpPr>
          <p:cNvPr id="5" name="Foliennummernplatzhalter 4"/>
          <p:cNvSpPr>
            <a:spLocks noGrp="1"/>
          </p:cNvSpPr>
          <p:nvPr>
            <p:ph type="sldNum" sz="quarter" idx="4"/>
          </p:nvPr>
        </p:nvSpPr>
        <p:spPr>
          <a:xfrm>
            <a:off x="6774934" y="4854985"/>
            <a:ext cx="2052074"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sp>
        <p:nvSpPr>
          <p:cNvPr id="6"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2" r:id="rId1"/>
    <p:sldLayoutId id="2147483654" r:id="rId2"/>
    <p:sldLayoutId id="2147483716" r:id="rId3"/>
    <p:sldLayoutId id="2147483704" r:id="rId4"/>
    <p:sldLayoutId id="2147483714" r:id="rId5"/>
    <p:sldLayoutId id="2147483713" r:id="rId6"/>
    <p:sldLayoutId id="2147483712" r:id="rId7"/>
    <p:sldLayoutId id="2147483715" r:id="rId8"/>
    <p:sldLayoutId id="2147483657" r:id="rId9"/>
    <p:sldLayoutId id="2147483717" r:id="rId10"/>
    <p:sldLayoutId id="2147483711" r:id="rId11"/>
    <p:sldLayoutId id="2147483718" r:id="rId12"/>
    <p:sldLayoutId id="2147483703" r:id="rId13"/>
    <p:sldLayoutId id="2147483719" r:id="rId14"/>
    <p:sldLayoutId id="2147483653" r:id="rId15"/>
    <p:sldLayoutId id="2147483721" r:id="rId16"/>
    <p:sldLayoutId id="2147483656" r:id="rId17"/>
    <p:sldLayoutId id="2147483720" r:id="rId18"/>
  </p:sldLayoutIdLst>
  <p:hf hdr="0" dt="0"/>
  <p:txStyles>
    <p:titleStyle>
      <a:lvl1pPr algn="l" rtl="0" eaLnBrk="0" fontAlgn="base" hangingPunct="0">
        <a:lnSpc>
          <a:spcPct val="125000"/>
        </a:lnSpc>
        <a:spcBef>
          <a:spcPct val="0"/>
        </a:spcBef>
        <a:spcAft>
          <a:spcPct val="0"/>
        </a:spcAft>
        <a:defRPr sz="25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hteck 5"/>
          <p:cNvSpPr/>
          <p:nvPr/>
        </p:nvSpPr>
        <p:spPr bwMode="hidden">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p>
        </p:txBody>
      </p:sp>
      <p:pic>
        <p:nvPicPr>
          <p:cNvPr id="4" name="Bild 3" descr="20150416 tum logo blau png final.png"/>
          <p:cNvPicPr>
            <a:picLocks noChangeAspect="1"/>
          </p:cNvPicPr>
          <p:nvPr/>
        </p:nvPicPr>
        <p:blipFill>
          <a:blip r:embed="rId4"/>
          <a:stretch>
            <a:fillRect/>
          </a:stretch>
        </p:blipFill>
        <p:spPr bwMode="black">
          <a:xfrm>
            <a:off x="8203040" y="324000"/>
            <a:ext cx="615273" cy="320288"/>
          </a:xfrm>
          <a:prstGeom prst="rect">
            <a:avLst/>
          </a:prstGeom>
        </p:spPr>
      </p:pic>
      <p:sp>
        <p:nvSpPr>
          <p:cNvPr id="7"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dirty="0"/>
          </a:p>
        </p:txBody>
      </p:sp>
      <p:sp>
        <p:nvSpPr>
          <p:cNvPr id="8"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85"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6"/>
          <p:cNvSpPr/>
          <p:nvPr/>
        </p:nvSpPr>
        <p:spPr bwMode="hidden">
          <a:xfrm>
            <a:off x="0" y="0"/>
            <a:ext cx="9144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solidFill>
                <a:schemeClr val="bg1"/>
              </a:solidFill>
            </a:endParaRPr>
          </a:p>
        </p:txBody>
      </p:sp>
      <p:pic>
        <p:nvPicPr>
          <p:cNvPr id="4" name="Bild 3" descr="20150416 tum logo blau png final.png"/>
          <p:cNvPicPr>
            <a:picLocks noChangeAspect="1"/>
          </p:cNvPicPr>
          <p:nvPr/>
        </p:nvPicPr>
        <p:blipFill>
          <a:blip r:embed="rId4"/>
          <a:stretch>
            <a:fillRect/>
          </a:stretch>
        </p:blipFill>
        <p:spPr bwMode="black">
          <a:xfrm>
            <a:off x="8203040" y="324000"/>
            <a:ext cx="615273" cy="320288"/>
          </a:xfrm>
          <a:prstGeom prst="rect">
            <a:avLst/>
          </a:prstGeom>
        </p:spPr>
      </p:pic>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98"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ArchiHotel: Reservation Handling &amp; Check-In</a:t>
            </a:r>
          </a:p>
        </p:txBody>
      </p:sp>
      <p:sp>
        <p:nvSpPr>
          <p:cNvPr id="3" name="Content Placeholder 2"/>
          <p:cNvSpPr>
            <a:spLocks noGrp="1"/>
          </p:cNvSpPr>
          <p:nvPr>
            <p:ph idx="10"/>
          </p:nvPr>
        </p:nvSpPr>
        <p:spPr/>
        <p:txBody>
          <a:bodyPr/>
          <a:lstStyle/>
          <a:p>
            <a:r>
              <a:t>Team C2F1G4: Katrin Schwab · Soyeong Jeong · Fiona Aurelia · Angel Choi · Demir Eroglu</a:t>
            </a:r>
          </a:p>
          <a:p>
            <a:r>
              <a:t>Technical University of Munich, School of Computation, Information and Technology</a:t>
            </a:r>
          </a:p>
          <a:p>
            <a:r>
              <a:t>EAM and Reference Models, Case Study Final Presentation</a:t>
            </a:r>
          </a:p>
          <a:p>
            <a:r>
              <a:t>Heilbronn · Room C.0.44 · 06.07.2026</a:t>
            </a:r>
          </a:p>
        </p:txBody>
      </p:sp>
      <p:sp>
        <p:nvSpPr>
          <p:cNvPr id="4" name="Rectangle 3"/>
          <p:cNvSpPr/>
          <p:nvPr/>
        </p:nvSpPr>
        <p:spPr>
          <a:xfrm>
            <a:off x="1673352" y="2886075"/>
            <a:ext cx="5797296" cy="1908810"/>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rchihotel_hero.png"/>
          <p:cNvPicPr>
            <a:picLocks noChangeAspect="1"/>
          </p:cNvPicPr>
          <p:nvPr/>
        </p:nvPicPr>
        <p:blipFill>
          <a:blip r:embed="rId2"/>
          <a:stretch>
            <a:fillRect/>
          </a:stretch>
        </p:blipFill>
        <p:spPr>
          <a:xfrm>
            <a:off x="1691640" y="2904363"/>
            <a:ext cx="5760720" cy="187223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One layer per person, merged into one model</a:t>
            </a:r>
          </a:p>
        </p:txBody>
      </p:sp>
      <p:sp>
        <p:nvSpPr>
          <p:cNvPr id="4" name="Title 3"/>
          <p:cNvSpPr>
            <a:spLocks noGrp="1"/>
          </p:cNvSpPr>
          <p:nvPr>
            <p:ph type="title"/>
          </p:nvPr>
        </p:nvSpPr>
        <p:spPr/>
        <p:txBody>
          <a:bodyPr/>
          <a:lstStyle/>
          <a:p>
            <a:r>
              <a:t>Our EAM Team</a:t>
            </a:r>
          </a:p>
        </p:txBody>
      </p:sp>
      <p:sp>
        <p:nvSpPr>
          <p:cNvPr id="5" name="Text Placeholder 4"/>
          <p:cNvSpPr>
            <a:spLocks noGrp="1"/>
          </p:cNvSpPr>
          <p:nvPr>
            <p:ph type="body" idx="14" sz="quarter"/>
          </p:nvPr>
        </p:nvSpPr>
        <p:spPr/>
        <p:txBody>
          <a:bodyPr/>
          <a:lstStyle/>
          <a:p/>
        </p:txBody>
      </p:sp>
      <p:sp>
        <p:nvSpPr>
          <p:cNvPr id="6" name="Oval 5"/>
          <p:cNvSpPr/>
          <p:nvPr/>
        </p:nvSpPr>
        <p:spPr>
          <a:xfrm>
            <a:off x="676655" y="1691640"/>
            <a:ext cx="841248" cy="841248"/>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400" b="1">
                <a:solidFill>
                  <a:srgbClr val="FFFFFF"/>
                </a:solidFill>
              </a:rPr>
              <a:t>KS</a:t>
            </a:r>
          </a:p>
        </p:txBody>
      </p:sp>
      <p:sp>
        <p:nvSpPr>
          <p:cNvPr id="7" name="TextBox 6"/>
          <p:cNvSpPr txBox="1"/>
          <p:nvPr/>
        </p:nvSpPr>
        <p:spPr>
          <a:xfrm>
            <a:off x="228599" y="2670048"/>
            <a:ext cx="1737360" cy="1371600"/>
          </a:xfrm>
          <a:prstGeom prst="rect">
            <a:avLst/>
          </a:prstGeom>
          <a:noFill/>
        </p:spPr>
        <p:txBody>
          <a:bodyPr wrap="square">
            <a:spAutoFit/>
          </a:bodyPr>
          <a:lstStyle/>
          <a:p>
            <a:pPr algn="ctr">
              <a:spcAft>
                <a:spcPts val="400"/>
              </a:spcAft>
            </a:pPr>
            <a:r>
              <a:rPr sz="1250" b="1">
                <a:solidFill>
                  <a:srgbClr val="20252A"/>
                </a:solidFill>
              </a:rPr>
              <a:t>Katrin Schwab</a:t>
            </a:r>
          </a:p>
          <a:p>
            <a:pPr algn="ctr">
              <a:spcAft>
                <a:spcPts val="400"/>
              </a:spcAft>
            </a:pPr>
            <a:r>
              <a:rPr sz="1150">
                <a:solidFill>
                  <a:srgbClr val="606060"/>
                </a:solidFill>
              </a:rPr>
              <a:t>Abstract view &amp; QA</a:t>
            </a:r>
          </a:p>
        </p:txBody>
      </p:sp>
      <p:sp>
        <p:nvSpPr>
          <p:cNvPr id="8" name="Oval 7"/>
          <p:cNvSpPr/>
          <p:nvPr/>
        </p:nvSpPr>
        <p:spPr>
          <a:xfrm>
            <a:off x="2414015" y="1691640"/>
            <a:ext cx="841248" cy="841248"/>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400" b="1">
                <a:solidFill>
                  <a:srgbClr val="FFFFFF"/>
                </a:solidFill>
              </a:rPr>
              <a:t>SJ</a:t>
            </a:r>
          </a:p>
        </p:txBody>
      </p:sp>
      <p:sp>
        <p:nvSpPr>
          <p:cNvPr id="9" name="TextBox 8"/>
          <p:cNvSpPr txBox="1"/>
          <p:nvPr/>
        </p:nvSpPr>
        <p:spPr>
          <a:xfrm>
            <a:off x="1965959" y="2670048"/>
            <a:ext cx="1737360" cy="1371600"/>
          </a:xfrm>
          <a:prstGeom prst="rect">
            <a:avLst/>
          </a:prstGeom>
          <a:noFill/>
        </p:spPr>
        <p:txBody>
          <a:bodyPr wrap="square">
            <a:spAutoFit/>
          </a:bodyPr>
          <a:lstStyle/>
          <a:p>
            <a:pPr algn="ctr">
              <a:spcAft>
                <a:spcPts val="400"/>
              </a:spcAft>
            </a:pPr>
            <a:r>
              <a:rPr sz="1250" b="1">
                <a:solidFill>
                  <a:srgbClr val="20252A"/>
                </a:solidFill>
              </a:rPr>
              <a:t>Soyeong Jeong</a:t>
            </a:r>
          </a:p>
          <a:p>
            <a:pPr algn="ctr">
              <a:spcAft>
                <a:spcPts val="400"/>
              </a:spcAft>
            </a:pPr>
            <a:r>
              <a:rPr sz="1150">
                <a:solidFill>
                  <a:srgbClr val="606060"/>
                </a:solidFill>
              </a:rPr>
              <a:t>Business layer</a:t>
            </a:r>
          </a:p>
        </p:txBody>
      </p:sp>
      <p:sp>
        <p:nvSpPr>
          <p:cNvPr id="10" name="Oval 9"/>
          <p:cNvSpPr/>
          <p:nvPr/>
        </p:nvSpPr>
        <p:spPr>
          <a:xfrm>
            <a:off x="4151375" y="1691640"/>
            <a:ext cx="841248" cy="841248"/>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400" b="1">
                <a:solidFill>
                  <a:srgbClr val="FFFFFF"/>
                </a:solidFill>
              </a:rPr>
              <a:t>FA</a:t>
            </a:r>
          </a:p>
        </p:txBody>
      </p:sp>
      <p:sp>
        <p:nvSpPr>
          <p:cNvPr id="11" name="TextBox 10"/>
          <p:cNvSpPr txBox="1"/>
          <p:nvPr/>
        </p:nvSpPr>
        <p:spPr>
          <a:xfrm>
            <a:off x="3703320" y="2670048"/>
            <a:ext cx="1737360" cy="1371600"/>
          </a:xfrm>
          <a:prstGeom prst="rect">
            <a:avLst/>
          </a:prstGeom>
          <a:noFill/>
        </p:spPr>
        <p:txBody>
          <a:bodyPr wrap="square">
            <a:spAutoFit/>
          </a:bodyPr>
          <a:lstStyle/>
          <a:p>
            <a:pPr algn="ctr">
              <a:spcAft>
                <a:spcPts val="400"/>
              </a:spcAft>
            </a:pPr>
            <a:r>
              <a:rPr sz="1250" b="1">
                <a:solidFill>
                  <a:srgbClr val="20252A"/>
                </a:solidFill>
              </a:rPr>
              <a:t>Fiona Aurelia</a:t>
            </a:r>
          </a:p>
          <a:p>
            <a:pPr algn="ctr">
              <a:spcAft>
                <a:spcPts val="400"/>
              </a:spcAft>
            </a:pPr>
            <a:r>
              <a:rPr sz="1150">
                <a:solidFill>
                  <a:srgbClr val="606060"/>
                </a:solidFill>
              </a:rPr>
              <a:t>Application layer</a:t>
            </a:r>
          </a:p>
        </p:txBody>
      </p:sp>
      <p:sp>
        <p:nvSpPr>
          <p:cNvPr id="12" name="Oval 11"/>
          <p:cNvSpPr/>
          <p:nvPr/>
        </p:nvSpPr>
        <p:spPr>
          <a:xfrm>
            <a:off x="5888735" y="1691640"/>
            <a:ext cx="841248" cy="841248"/>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400" b="1">
                <a:solidFill>
                  <a:srgbClr val="FFFFFF"/>
                </a:solidFill>
              </a:rPr>
              <a:t>AC</a:t>
            </a:r>
          </a:p>
        </p:txBody>
      </p:sp>
      <p:sp>
        <p:nvSpPr>
          <p:cNvPr id="13" name="TextBox 12"/>
          <p:cNvSpPr txBox="1"/>
          <p:nvPr/>
        </p:nvSpPr>
        <p:spPr>
          <a:xfrm>
            <a:off x="5440679" y="2670048"/>
            <a:ext cx="1737360" cy="1371600"/>
          </a:xfrm>
          <a:prstGeom prst="rect">
            <a:avLst/>
          </a:prstGeom>
          <a:noFill/>
        </p:spPr>
        <p:txBody>
          <a:bodyPr wrap="square">
            <a:spAutoFit/>
          </a:bodyPr>
          <a:lstStyle/>
          <a:p>
            <a:pPr algn="ctr">
              <a:spcAft>
                <a:spcPts val="400"/>
              </a:spcAft>
            </a:pPr>
            <a:r>
              <a:rPr sz="1250" b="1">
                <a:solidFill>
                  <a:srgbClr val="20252A"/>
                </a:solidFill>
              </a:rPr>
              <a:t>Angel Choi</a:t>
            </a:r>
          </a:p>
          <a:p>
            <a:pPr algn="ctr">
              <a:spcAft>
                <a:spcPts val="400"/>
              </a:spcAft>
            </a:pPr>
            <a:r>
              <a:rPr sz="1150">
                <a:solidFill>
                  <a:srgbClr val="606060"/>
                </a:solidFill>
              </a:rPr>
              <a:t>Layer alignment</a:t>
            </a:r>
          </a:p>
        </p:txBody>
      </p:sp>
      <p:sp>
        <p:nvSpPr>
          <p:cNvPr id="14" name="Oval 13"/>
          <p:cNvSpPr/>
          <p:nvPr/>
        </p:nvSpPr>
        <p:spPr>
          <a:xfrm>
            <a:off x="7626095" y="1691640"/>
            <a:ext cx="841248" cy="841248"/>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400" b="1">
                <a:solidFill>
                  <a:srgbClr val="FFFFFF"/>
                </a:solidFill>
              </a:rPr>
              <a:t>DE</a:t>
            </a:r>
          </a:p>
        </p:txBody>
      </p:sp>
      <p:sp>
        <p:nvSpPr>
          <p:cNvPr id="15" name="TextBox 14"/>
          <p:cNvSpPr txBox="1"/>
          <p:nvPr/>
        </p:nvSpPr>
        <p:spPr>
          <a:xfrm>
            <a:off x="7178040" y="2670048"/>
            <a:ext cx="1737360" cy="1371600"/>
          </a:xfrm>
          <a:prstGeom prst="rect">
            <a:avLst/>
          </a:prstGeom>
          <a:noFill/>
        </p:spPr>
        <p:txBody>
          <a:bodyPr wrap="square">
            <a:spAutoFit/>
          </a:bodyPr>
          <a:lstStyle/>
          <a:p>
            <a:pPr algn="ctr">
              <a:spcAft>
                <a:spcPts val="400"/>
              </a:spcAft>
            </a:pPr>
            <a:r>
              <a:rPr sz="1250" b="1">
                <a:solidFill>
                  <a:srgbClr val="20252A"/>
                </a:solidFill>
              </a:rPr>
              <a:t>Demir Eroglu</a:t>
            </a:r>
          </a:p>
          <a:p>
            <a:pPr algn="ctr">
              <a:spcAft>
                <a:spcPts val="400"/>
              </a:spcAft>
            </a:pPr>
            <a:r>
              <a:rPr sz="1150">
                <a:solidFill>
                  <a:srgbClr val="606060"/>
                </a:solidFill>
              </a:rPr>
              <a:t>Technology layer</a:t>
            </a:r>
          </a:p>
        </p:txBody>
      </p:sp>
      <p:sp>
        <p:nvSpPr>
          <p:cNvPr id="16" name="TextBox 15"/>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17" name="TextBox 16"/>
          <p:cNvSpPr txBox="1"/>
          <p:nvPr/>
        </p:nvSpPr>
        <p:spPr>
          <a:xfrm>
            <a:off x="8321040" y="4864608"/>
            <a:ext cx="548640" cy="237744"/>
          </a:xfrm>
          <a:prstGeom prst="rect">
            <a:avLst/>
          </a:prstGeom>
          <a:noFill/>
        </p:spPr>
        <p:txBody>
          <a:bodyPr wrap="none">
            <a:spAutoFit/>
          </a:bodyPr>
          <a:lstStyle/>
          <a:p>
            <a:pPr algn="r"/>
            <a:r>
              <a:rPr sz="800">
                <a:solidFill>
                  <a:srgbClr val="606060"/>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A luxury hotel that runs on one Hotel Management System</a:t>
            </a:r>
          </a:p>
        </p:txBody>
      </p:sp>
      <p:sp>
        <p:nvSpPr>
          <p:cNvPr id="4" name="Title 3"/>
          <p:cNvSpPr>
            <a:spLocks noGrp="1"/>
          </p:cNvSpPr>
          <p:nvPr>
            <p:ph type="title"/>
          </p:nvPr>
        </p:nvSpPr>
        <p:spPr/>
        <p:txBody>
          <a:bodyPr/>
          <a:lstStyle/>
          <a:p>
            <a:r>
              <a:t>The Case: ArchiHotel's Services</a:t>
            </a:r>
          </a:p>
        </p:txBody>
      </p:sp>
      <p:sp>
        <p:nvSpPr>
          <p:cNvPr id="5" name="Text Placeholder 4"/>
          <p:cNvSpPr>
            <a:spLocks noGrp="1"/>
          </p:cNvSpPr>
          <p:nvPr>
            <p:ph type="body" idx="14" sz="quarter"/>
          </p:nvPr>
        </p:nvSpPr>
        <p:spPr/>
        <p:txBody>
          <a:bodyPr/>
          <a:lstStyle/>
          <a:p/>
        </p:txBody>
      </p:sp>
      <p:sp>
        <p:nvSpPr>
          <p:cNvPr id="6" name="Rounded Rectangle 5"/>
          <p:cNvSpPr/>
          <p:nvPr/>
        </p:nvSpPr>
        <p:spPr>
          <a:xfrm>
            <a:off x="502920" y="1645920"/>
            <a:ext cx="3886200" cy="1298448"/>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1645920"/>
            <a:ext cx="3886200" cy="365760"/>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400">
                <a:solidFill>
                  <a:srgbClr val="FFFFFF"/>
                </a:solidFill>
              </a:rPr>
              <a:t>Reservation Handling</a:t>
            </a:r>
          </a:p>
        </p:txBody>
      </p:sp>
      <p:sp>
        <p:nvSpPr>
          <p:cNvPr id="8" name="TextBox 7"/>
          <p:cNvSpPr txBox="1"/>
          <p:nvPr/>
        </p:nvSpPr>
        <p:spPr>
          <a:xfrm>
            <a:off x="594360" y="2066544"/>
            <a:ext cx="3703320" cy="804671"/>
          </a:xfrm>
          <a:prstGeom prst="rect">
            <a:avLst/>
          </a:prstGeom>
          <a:noFill/>
        </p:spPr>
        <p:txBody>
          <a:bodyPr wrap="square">
            <a:spAutoFit/>
          </a:bodyPr>
          <a:lstStyle/>
          <a:p>
            <a:pPr>
              <a:spcAft>
                <a:spcPts val="600"/>
              </a:spcAft>
            </a:pPr>
            <a:r>
              <a:rPr sz="1500">
                <a:solidFill>
                  <a:srgbClr val="20252A"/>
                </a:solidFill>
              </a:rPr>
              <a:t>Website and external booking platforms</a:t>
            </a:r>
          </a:p>
        </p:txBody>
      </p:sp>
      <p:sp>
        <p:nvSpPr>
          <p:cNvPr id="9" name="Rounded Rectangle 8"/>
          <p:cNvSpPr/>
          <p:nvPr/>
        </p:nvSpPr>
        <p:spPr>
          <a:xfrm>
            <a:off x="502920" y="3154680"/>
            <a:ext cx="3886200" cy="1298448"/>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3154680"/>
            <a:ext cx="3886200" cy="365760"/>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400">
                <a:solidFill>
                  <a:srgbClr val="FFFFFF"/>
                </a:solidFill>
              </a:rPr>
              <a:t>Check-In / Check-Out</a:t>
            </a:r>
          </a:p>
        </p:txBody>
      </p:sp>
      <p:sp>
        <p:nvSpPr>
          <p:cNvPr id="11" name="TextBox 10"/>
          <p:cNvSpPr txBox="1"/>
          <p:nvPr/>
        </p:nvSpPr>
        <p:spPr>
          <a:xfrm>
            <a:off x="594360" y="3575304"/>
            <a:ext cx="3703320" cy="804671"/>
          </a:xfrm>
          <a:prstGeom prst="rect">
            <a:avLst/>
          </a:prstGeom>
          <a:noFill/>
        </p:spPr>
        <p:txBody>
          <a:bodyPr wrap="square">
            <a:spAutoFit/>
          </a:bodyPr>
          <a:lstStyle/>
          <a:p>
            <a:pPr>
              <a:spcAft>
                <a:spcPts val="600"/>
              </a:spcAft>
            </a:pPr>
            <a:r>
              <a:rPr sz="1500">
                <a:solidFill>
                  <a:srgbClr val="20252A"/>
                </a:solidFill>
              </a:rPr>
              <a:t>Identity check, key card, open costs</a:t>
            </a:r>
          </a:p>
        </p:txBody>
      </p:sp>
      <p:sp>
        <p:nvSpPr>
          <p:cNvPr id="12" name="Rounded Rectangle 11"/>
          <p:cNvSpPr/>
          <p:nvPr/>
        </p:nvSpPr>
        <p:spPr>
          <a:xfrm>
            <a:off x="4754880" y="1645920"/>
            <a:ext cx="3886200" cy="1298448"/>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54880" y="1645920"/>
            <a:ext cx="3886200" cy="365760"/>
          </a:xfrm>
          <a:prstGeom prst="roundRect">
            <a:avLst>
              <a:gd name="adj" fmla="val 50000"/>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400">
                <a:solidFill>
                  <a:srgbClr val="FFFFFF"/>
                </a:solidFill>
              </a:rPr>
              <a:t>Payment</a:t>
            </a:r>
          </a:p>
        </p:txBody>
      </p:sp>
      <p:sp>
        <p:nvSpPr>
          <p:cNvPr id="14" name="TextBox 13"/>
          <p:cNvSpPr txBox="1"/>
          <p:nvPr/>
        </p:nvSpPr>
        <p:spPr>
          <a:xfrm>
            <a:off x="4846320" y="2066544"/>
            <a:ext cx="3703320" cy="804671"/>
          </a:xfrm>
          <a:prstGeom prst="rect">
            <a:avLst/>
          </a:prstGeom>
          <a:noFill/>
        </p:spPr>
        <p:txBody>
          <a:bodyPr wrap="square">
            <a:spAutoFit/>
          </a:bodyPr>
          <a:lstStyle/>
          <a:p>
            <a:pPr>
              <a:spcAft>
                <a:spcPts val="600"/>
              </a:spcAft>
            </a:pPr>
            <a:r>
              <a:rPr sz="1500">
                <a:solidFill>
                  <a:srgbClr val="20252A"/>
                </a:solidFill>
              </a:rPr>
              <a:t>External payment service provider</a:t>
            </a:r>
          </a:p>
        </p:txBody>
      </p:sp>
      <p:sp>
        <p:nvSpPr>
          <p:cNvPr id="15" name="Rounded Rectangle 14"/>
          <p:cNvSpPr/>
          <p:nvPr/>
        </p:nvSpPr>
        <p:spPr>
          <a:xfrm>
            <a:off x="4754880" y="3154680"/>
            <a:ext cx="3886200" cy="1298448"/>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754880" y="3154680"/>
            <a:ext cx="3886200" cy="365760"/>
          </a:xfrm>
          <a:prstGeom prst="roundRect">
            <a:avLst>
              <a:gd name="adj" fmla="val 50000"/>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400">
                <a:solidFill>
                  <a:srgbClr val="FFFFFF"/>
                </a:solidFill>
              </a:rPr>
              <a:t>Daily Briefing &amp; Staff</a:t>
            </a:r>
          </a:p>
        </p:txBody>
      </p:sp>
      <p:sp>
        <p:nvSpPr>
          <p:cNvPr id="17" name="TextBox 16"/>
          <p:cNvSpPr txBox="1"/>
          <p:nvPr/>
        </p:nvSpPr>
        <p:spPr>
          <a:xfrm>
            <a:off x="4846320" y="3575304"/>
            <a:ext cx="3703320" cy="804671"/>
          </a:xfrm>
          <a:prstGeom prst="rect">
            <a:avLst/>
          </a:prstGeom>
          <a:noFill/>
        </p:spPr>
        <p:txBody>
          <a:bodyPr wrap="square">
            <a:spAutoFit/>
          </a:bodyPr>
          <a:lstStyle/>
          <a:p>
            <a:pPr>
              <a:spcAft>
                <a:spcPts val="600"/>
              </a:spcAft>
            </a:pPr>
            <a:r>
              <a:rPr sz="1500">
                <a:solidFill>
                  <a:srgbClr val="20252A"/>
                </a:solidFill>
              </a:rPr>
              <a:t>One shared picture of the day on staff phones</a:t>
            </a:r>
          </a:p>
        </p:txBody>
      </p:sp>
      <p:sp>
        <p:nvSpPr>
          <p:cNvPr id="18" name="Rounded Rectangle 17"/>
          <p:cNvSpPr/>
          <p:nvPr/>
        </p:nvSpPr>
        <p:spPr>
          <a:xfrm>
            <a:off x="365760" y="1508760"/>
            <a:ext cx="4160520" cy="3108960"/>
          </a:xfrm>
          <a:prstGeom prst="roundRect">
            <a:avLst>
              <a:gd name="adj" fmla="val 4000"/>
            </a:avLst>
          </a:prstGeom>
          <a:noFill/>
          <a:ln w="31750">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4645152"/>
            <a:ext cx="2468880" cy="292608"/>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rPr>
              <a:t>Our Focus Area: F1</a:t>
            </a:r>
          </a:p>
        </p:txBody>
      </p:sp>
      <p:sp>
        <p:nvSpPr>
          <p:cNvPr id="20" name="TextBox 19"/>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21" name="TextBox 20"/>
          <p:cNvSpPr txBox="1"/>
          <p:nvPr/>
        </p:nvSpPr>
        <p:spPr>
          <a:xfrm>
            <a:off x="8321040" y="4864608"/>
            <a:ext cx="548640" cy="237744"/>
          </a:xfrm>
          <a:prstGeom prst="rect">
            <a:avLst/>
          </a:prstGeom>
          <a:noFill/>
        </p:spPr>
        <p:txBody>
          <a:bodyPr wrap="none">
            <a:spAutoFit/>
          </a:bodyPr>
          <a:lstStyle/>
          <a:p>
            <a:pPr algn="r"/>
            <a:r>
              <a:rPr sz="800">
                <a:solidFill>
                  <a:srgbClr val="606060"/>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72 elements, 98 relationships, three layers. Please don't read the boxes.</a:t>
            </a:r>
          </a:p>
        </p:txBody>
      </p:sp>
      <p:sp>
        <p:nvSpPr>
          <p:cNvPr id="4" name="Title 3"/>
          <p:cNvSpPr>
            <a:spLocks noGrp="1"/>
          </p:cNvSpPr>
          <p:nvPr>
            <p:ph type="title"/>
          </p:nvPr>
        </p:nvSpPr>
        <p:spPr/>
        <p:txBody>
          <a:bodyPr/>
          <a:lstStyle/>
          <a:p>
            <a:r>
              <a:t>The Abstract EA Model</a:t>
            </a:r>
          </a:p>
        </p:txBody>
      </p:sp>
      <p:sp>
        <p:nvSpPr>
          <p:cNvPr id="5" name="Text Placeholder 4"/>
          <p:cNvSpPr>
            <a:spLocks noGrp="1"/>
          </p:cNvSpPr>
          <p:nvPr>
            <p:ph type="body" idx="14" sz="quarter"/>
          </p:nvPr>
        </p:nvSpPr>
        <p:spPr/>
        <p:txBody>
          <a:bodyPr/>
          <a:lstStyle/>
          <a:p/>
        </p:txBody>
      </p:sp>
      <p:sp>
        <p:nvSpPr>
          <p:cNvPr id="6" name="Rectangle 5"/>
          <p:cNvSpPr/>
          <p:nvPr/>
        </p:nvSpPr>
        <p:spPr>
          <a:xfrm>
            <a:off x="709695" y="1426464"/>
            <a:ext cx="5118569" cy="3493008"/>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bstract_full.png"/>
          <p:cNvPicPr>
            <a:picLocks noChangeAspect="1"/>
          </p:cNvPicPr>
          <p:nvPr/>
        </p:nvPicPr>
        <p:blipFill>
          <a:blip r:embed="rId2"/>
          <a:stretch>
            <a:fillRect/>
          </a:stretch>
        </p:blipFill>
        <p:spPr>
          <a:xfrm>
            <a:off x="727983" y="1444752"/>
            <a:ext cx="5081993" cy="3456432"/>
          </a:xfrm>
          <a:prstGeom prst="rect">
            <a:avLst/>
          </a:prstGeom>
        </p:spPr>
      </p:pic>
      <p:sp>
        <p:nvSpPr>
          <p:cNvPr id="8" name="Oval 7"/>
          <p:cNvSpPr/>
          <p:nvPr/>
        </p:nvSpPr>
        <p:spPr>
          <a:xfrm>
            <a:off x="6446520" y="1673352"/>
            <a:ext cx="146304" cy="146304"/>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56832" y="1591056"/>
            <a:ext cx="2331720" cy="822960"/>
          </a:xfrm>
          <a:prstGeom prst="rect">
            <a:avLst/>
          </a:prstGeom>
          <a:noFill/>
        </p:spPr>
        <p:txBody>
          <a:bodyPr wrap="square">
            <a:spAutoFit/>
          </a:bodyPr>
          <a:lstStyle/>
          <a:p>
            <a:pPr algn="l">
              <a:spcAft>
                <a:spcPts val="400"/>
              </a:spcAft>
            </a:pPr>
            <a:r>
              <a:rPr sz="1500" b="1">
                <a:solidFill>
                  <a:srgbClr val="20252A"/>
                </a:solidFill>
              </a:rPr>
              <a:t>Three ArchiMate layers</a:t>
            </a:r>
          </a:p>
          <a:p>
            <a:pPr algn="l">
              <a:spcAft>
                <a:spcPts val="400"/>
              </a:spcAft>
            </a:pPr>
            <a:r>
              <a:rPr sz="1200">
                <a:solidFill>
                  <a:srgbClr val="606060"/>
                </a:solidFill>
              </a:rPr>
              <a:t>Business, application, technology</a:t>
            </a:r>
          </a:p>
        </p:txBody>
      </p:sp>
      <p:sp>
        <p:nvSpPr>
          <p:cNvPr id="10" name="Oval 9"/>
          <p:cNvSpPr/>
          <p:nvPr/>
        </p:nvSpPr>
        <p:spPr>
          <a:xfrm>
            <a:off x="6446520" y="2633472"/>
            <a:ext cx="146304" cy="146304"/>
          </a:xfrm>
          <a:prstGeom prst="ellipse">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56832" y="2551176"/>
            <a:ext cx="2331720" cy="822960"/>
          </a:xfrm>
          <a:prstGeom prst="rect">
            <a:avLst/>
          </a:prstGeom>
          <a:noFill/>
        </p:spPr>
        <p:txBody>
          <a:bodyPr wrap="square">
            <a:spAutoFit/>
          </a:bodyPr>
          <a:lstStyle/>
          <a:p>
            <a:pPr algn="l">
              <a:spcAft>
                <a:spcPts val="400"/>
              </a:spcAft>
            </a:pPr>
            <a:r>
              <a:rPr sz="1500" b="1">
                <a:solidFill>
                  <a:srgbClr val="20252A"/>
                </a:solidFill>
              </a:rPr>
              <a:t>Key stakeholders</a:t>
            </a:r>
          </a:p>
          <a:p>
            <a:pPr algn="l">
              <a:spcAft>
                <a:spcPts val="400"/>
              </a:spcAft>
            </a:pPr>
            <a:r>
              <a:rPr sz="1200">
                <a:solidFill>
                  <a:srgbClr val="606060"/>
                </a:solidFill>
              </a:rPr>
              <a:t>Guest and Receptionist drive F1</a:t>
            </a:r>
          </a:p>
        </p:txBody>
      </p:sp>
      <p:sp>
        <p:nvSpPr>
          <p:cNvPr id="12" name="Oval 11"/>
          <p:cNvSpPr/>
          <p:nvPr/>
        </p:nvSpPr>
        <p:spPr>
          <a:xfrm>
            <a:off x="6446520" y="3593592"/>
            <a:ext cx="146304" cy="146304"/>
          </a:xfrm>
          <a:prstGeom prst="ellipse">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56832" y="3511296"/>
            <a:ext cx="2331720" cy="822960"/>
          </a:xfrm>
          <a:prstGeom prst="rect">
            <a:avLst/>
          </a:prstGeom>
          <a:noFill/>
        </p:spPr>
        <p:txBody>
          <a:bodyPr wrap="square">
            <a:spAutoFit/>
          </a:bodyPr>
          <a:lstStyle/>
          <a:p>
            <a:pPr algn="l">
              <a:spcAft>
                <a:spcPts val="400"/>
              </a:spcAft>
            </a:pPr>
            <a:r>
              <a:rPr sz="1500" b="1">
                <a:solidFill>
                  <a:srgbClr val="20252A"/>
                </a:solidFill>
              </a:rPr>
              <a:t>The convergence point</a:t>
            </a:r>
          </a:p>
          <a:p>
            <a:pPr algn="l">
              <a:spcAft>
                <a:spcPts val="400"/>
              </a:spcAft>
            </a:pPr>
            <a:r>
              <a:rPr sz="1200">
                <a:solidFill>
                  <a:srgbClr val="606060"/>
                </a:solidFill>
              </a:rPr>
              <a:t>HMS on the AWS Cloud Server</a:t>
            </a:r>
          </a:p>
        </p:txBody>
      </p:sp>
      <p:sp>
        <p:nvSpPr>
          <p:cNvPr id="14" name="Rounded Rectangle 13"/>
          <p:cNvSpPr/>
          <p:nvPr/>
        </p:nvSpPr>
        <p:spPr>
          <a:xfrm>
            <a:off x="691407" y="1480761"/>
            <a:ext cx="5092128" cy="2297711"/>
          </a:xfrm>
          <a:prstGeom prst="roundRect">
            <a:avLst>
              <a:gd name="adj" fmla="val 6000"/>
            </a:avLst>
          </a:prstGeom>
          <a:noFill/>
          <a:ln w="25400">
            <a:solidFill>
              <a:srgbClr val="B09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1407" y="1544769"/>
            <a:ext cx="987552" cy="246888"/>
          </a:xfrm>
          <a:prstGeom prst="roundRect">
            <a:avLst>
              <a:gd name="adj" fmla="val 50000"/>
            </a:avLst>
          </a:prstGeom>
          <a:solidFill>
            <a:srgbClr val="B09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Business</a:t>
            </a:r>
          </a:p>
        </p:txBody>
      </p:sp>
      <p:sp>
        <p:nvSpPr>
          <p:cNvPr id="16" name="Rounded Rectangle 15"/>
          <p:cNvSpPr/>
          <p:nvPr/>
        </p:nvSpPr>
        <p:spPr>
          <a:xfrm>
            <a:off x="691407" y="3669028"/>
            <a:ext cx="5092128" cy="568458"/>
          </a:xfrm>
          <a:prstGeom prst="roundRect">
            <a:avLst>
              <a:gd name="adj" fmla="val 6000"/>
            </a:avLst>
          </a:prstGeom>
          <a:noFill/>
          <a:ln w="25400">
            <a:solidFill>
              <a:srgbClr val="1F6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1407" y="3733036"/>
            <a:ext cx="1275588" cy="246888"/>
          </a:xfrm>
          <a:prstGeom prst="roundRect">
            <a:avLst>
              <a:gd name="adj" fmla="val 50000"/>
            </a:avLst>
          </a:prstGeom>
          <a:solidFill>
            <a:srgbClr val="1F6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Application</a:t>
            </a:r>
          </a:p>
        </p:txBody>
      </p:sp>
      <p:sp>
        <p:nvSpPr>
          <p:cNvPr id="18" name="Rounded Rectangle 17"/>
          <p:cNvSpPr/>
          <p:nvPr/>
        </p:nvSpPr>
        <p:spPr>
          <a:xfrm>
            <a:off x="691407" y="4297061"/>
            <a:ext cx="5092128" cy="568458"/>
          </a:xfrm>
          <a:prstGeom prst="roundRect">
            <a:avLst>
              <a:gd name="adj" fmla="val 6000"/>
            </a:avLst>
          </a:prstGeom>
          <a:noFill/>
          <a:ln w="25400">
            <a:solidFill>
              <a:srgbClr val="2E8B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1407" y="4361069"/>
            <a:ext cx="1179576" cy="246888"/>
          </a:xfrm>
          <a:prstGeom prst="roundRect">
            <a:avLst>
              <a:gd name="adj" fmla="val 50000"/>
            </a:avLst>
          </a:prstGeom>
          <a:solidFill>
            <a:srgbClr val="2E8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Technology</a:t>
            </a:r>
          </a:p>
        </p:txBody>
      </p:sp>
      <p:sp>
        <p:nvSpPr>
          <p:cNvPr id="20" name="Rounded Rectangle 19"/>
          <p:cNvSpPr/>
          <p:nvPr/>
        </p:nvSpPr>
        <p:spPr>
          <a:xfrm>
            <a:off x="764079" y="1770410"/>
            <a:ext cx="459383" cy="254269"/>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64079" y="1514378"/>
            <a:ext cx="822960" cy="246888"/>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Guest</a:t>
            </a:r>
          </a:p>
        </p:txBody>
      </p:sp>
      <p:sp>
        <p:nvSpPr>
          <p:cNvPr id="22" name="Rounded Rectangle 21"/>
          <p:cNvSpPr/>
          <p:nvPr/>
        </p:nvSpPr>
        <p:spPr>
          <a:xfrm>
            <a:off x="1140655" y="2727150"/>
            <a:ext cx="459383" cy="254269"/>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140655" y="2471118"/>
            <a:ext cx="1371600" cy="246888"/>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Receptionist</a:t>
            </a:r>
          </a:p>
        </p:txBody>
      </p:sp>
      <p:sp>
        <p:nvSpPr>
          <p:cNvPr id="24" name="Rounded Rectangle 23"/>
          <p:cNvSpPr/>
          <p:nvPr/>
        </p:nvSpPr>
        <p:spPr>
          <a:xfrm>
            <a:off x="2270890" y="3982872"/>
            <a:ext cx="459383" cy="254269"/>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70890" y="3726840"/>
            <a:ext cx="822960" cy="246888"/>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HMS</a:t>
            </a:r>
          </a:p>
        </p:txBody>
      </p:sp>
      <p:sp>
        <p:nvSpPr>
          <p:cNvPr id="26" name="Rounded Rectangle 25"/>
          <p:cNvSpPr/>
          <p:nvPr/>
        </p:nvSpPr>
        <p:spPr>
          <a:xfrm>
            <a:off x="2309513" y="4297061"/>
            <a:ext cx="459383" cy="254269"/>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309513" y="4041029"/>
            <a:ext cx="822960" cy="246888"/>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AWS</a:t>
            </a:r>
          </a:p>
        </p:txBody>
      </p:sp>
      <p:sp>
        <p:nvSpPr>
          <p:cNvPr id="38" name="TextBox 37"/>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39" name="TextBox 38"/>
          <p:cNvSpPr txBox="1"/>
          <p:nvPr/>
        </p:nvSpPr>
        <p:spPr>
          <a:xfrm>
            <a:off x="8321040" y="4864608"/>
            <a:ext cx="548640" cy="237744"/>
          </a:xfrm>
          <a:prstGeom prst="rect">
            <a:avLst/>
          </a:prstGeom>
          <a:noFill/>
        </p:spPr>
        <p:txBody>
          <a:bodyPr wrap="none">
            <a:spAutoFit/>
          </a:bodyPr>
          <a:lstStyle/>
          <a:p>
            <a:pPr algn="r"/>
            <a:r>
              <a:rPr sz="800">
                <a:solidFill>
                  <a:srgbClr val="606060"/>
                </a:solidFill>
              </a:rPr>
              <a:t>4</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14"/>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16"/>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21"/>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2"/>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2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4"/>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25"/>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26"/>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From booking to arrival: Handle Reservation, then Conduct Check-In/Out</a:t>
            </a:r>
          </a:p>
        </p:txBody>
      </p:sp>
      <p:sp>
        <p:nvSpPr>
          <p:cNvPr id="4" name="Title 3"/>
          <p:cNvSpPr>
            <a:spLocks noGrp="1"/>
          </p:cNvSpPr>
          <p:nvPr>
            <p:ph type="title"/>
          </p:nvPr>
        </p:nvSpPr>
        <p:spPr/>
        <p:txBody>
          <a:bodyPr/>
          <a:lstStyle/>
          <a:p>
            <a:r>
              <a:t>Focus Area F1: Where We Zoom In</a:t>
            </a:r>
          </a:p>
        </p:txBody>
      </p:sp>
      <p:sp>
        <p:nvSpPr>
          <p:cNvPr id="5" name="Text Placeholder 4"/>
          <p:cNvSpPr>
            <a:spLocks noGrp="1"/>
          </p:cNvSpPr>
          <p:nvPr>
            <p:ph type="body" idx="14" sz="quarter"/>
          </p:nvPr>
        </p:nvSpPr>
        <p:spPr/>
        <p:txBody>
          <a:bodyPr/>
          <a:lstStyle/>
          <a:p/>
        </p:txBody>
      </p:sp>
      <p:sp>
        <p:nvSpPr>
          <p:cNvPr id="6" name="Rectangle 5"/>
          <p:cNvSpPr/>
          <p:nvPr/>
        </p:nvSpPr>
        <p:spPr>
          <a:xfrm>
            <a:off x="709695" y="1426464"/>
            <a:ext cx="5118569" cy="3493008"/>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bstract_full.png"/>
          <p:cNvPicPr>
            <a:picLocks noChangeAspect="1"/>
          </p:cNvPicPr>
          <p:nvPr/>
        </p:nvPicPr>
        <p:blipFill>
          <a:blip r:embed="rId2"/>
          <a:stretch>
            <a:fillRect/>
          </a:stretch>
        </p:blipFill>
        <p:spPr>
          <a:xfrm>
            <a:off x="727983" y="1444752"/>
            <a:ext cx="5081993" cy="3456432"/>
          </a:xfrm>
          <a:prstGeom prst="rect">
            <a:avLst/>
          </a:prstGeom>
        </p:spPr>
      </p:pic>
      <p:sp>
        <p:nvSpPr>
          <p:cNvPr id="8" name="Rounded Rectangle 7"/>
          <p:cNvSpPr/>
          <p:nvPr/>
        </p:nvSpPr>
        <p:spPr>
          <a:xfrm>
            <a:off x="715800" y="1712687"/>
            <a:ext cx="2077998" cy="3104442"/>
          </a:xfrm>
          <a:prstGeom prst="roundRect">
            <a:avLst>
              <a:gd name="adj" fmla="val 6000"/>
            </a:avLst>
          </a:prstGeom>
          <a:noFill/>
          <a:ln w="34925">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15800" y="1776695"/>
            <a:ext cx="2715768" cy="246888"/>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F1: Reservation &amp; Check-In</a:t>
            </a:r>
          </a:p>
        </p:txBody>
      </p:sp>
      <p:sp>
        <p:nvSpPr>
          <p:cNvPr id="10" name="Oval 9"/>
          <p:cNvSpPr/>
          <p:nvPr/>
        </p:nvSpPr>
        <p:spPr>
          <a:xfrm>
            <a:off x="6400800" y="1645920"/>
            <a:ext cx="329184" cy="329184"/>
          </a:xfrm>
          <a:prstGeom prst="ellipse">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rPr>
              <a:t>1</a:t>
            </a:r>
          </a:p>
        </p:txBody>
      </p:sp>
      <p:sp>
        <p:nvSpPr>
          <p:cNvPr id="11" name="TextBox 10"/>
          <p:cNvSpPr txBox="1"/>
          <p:nvPr/>
        </p:nvSpPr>
        <p:spPr>
          <a:xfrm>
            <a:off x="6839712" y="1618488"/>
            <a:ext cx="2194560" cy="822960"/>
          </a:xfrm>
          <a:prstGeom prst="rect">
            <a:avLst/>
          </a:prstGeom>
          <a:noFill/>
        </p:spPr>
        <p:txBody>
          <a:bodyPr wrap="square">
            <a:spAutoFit/>
          </a:bodyPr>
          <a:lstStyle/>
          <a:p>
            <a:pPr algn="l">
              <a:spcAft>
                <a:spcPts val="400"/>
              </a:spcAft>
            </a:pPr>
            <a:r>
              <a:rPr sz="1500" b="1">
                <a:solidFill>
                  <a:srgbClr val="20252A"/>
                </a:solidFill>
              </a:rPr>
              <a:t>Business layer</a:t>
            </a:r>
          </a:p>
          <a:p>
            <a:pPr algn="l">
              <a:spcAft>
                <a:spcPts val="400"/>
              </a:spcAft>
            </a:pPr>
            <a:r>
              <a:rPr sz="1200">
                <a:solidFill>
                  <a:srgbClr val="606060"/>
                </a:solidFill>
              </a:rPr>
              <a:t>Who does what</a:t>
            </a:r>
          </a:p>
        </p:txBody>
      </p:sp>
      <p:sp>
        <p:nvSpPr>
          <p:cNvPr id="12" name="Oval 11"/>
          <p:cNvSpPr/>
          <p:nvPr/>
        </p:nvSpPr>
        <p:spPr>
          <a:xfrm>
            <a:off x="6400800" y="2606040"/>
            <a:ext cx="329184" cy="329184"/>
          </a:xfrm>
          <a:prstGeom prst="ellipse">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rPr>
              <a:t>2</a:t>
            </a:r>
          </a:p>
        </p:txBody>
      </p:sp>
      <p:sp>
        <p:nvSpPr>
          <p:cNvPr id="13" name="TextBox 12"/>
          <p:cNvSpPr txBox="1"/>
          <p:nvPr/>
        </p:nvSpPr>
        <p:spPr>
          <a:xfrm>
            <a:off x="6839712" y="2578608"/>
            <a:ext cx="2194560" cy="822960"/>
          </a:xfrm>
          <a:prstGeom prst="rect">
            <a:avLst/>
          </a:prstGeom>
          <a:noFill/>
        </p:spPr>
        <p:txBody>
          <a:bodyPr wrap="square">
            <a:spAutoFit/>
          </a:bodyPr>
          <a:lstStyle/>
          <a:p>
            <a:pPr algn="l">
              <a:spcAft>
                <a:spcPts val="400"/>
              </a:spcAft>
            </a:pPr>
            <a:r>
              <a:rPr sz="1500" b="1">
                <a:solidFill>
                  <a:srgbClr val="20252A"/>
                </a:solidFill>
              </a:rPr>
              <a:t>Application layer</a:t>
            </a:r>
          </a:p>
          <a:p>
            <a:pPr algn="l">
              <a:spcAft>
                <a:spcPts val="400"/>
              </a:spcAft>
            </a:pPr>
            <a:r>
              <a:rPr sz="1200">
                <a:solidFill>
                  <a:srgbClr val="606060"/>
                </a:solidFill>
              </a:rPr>
              <a:t>Which systems support it</a:t>
            </a:r>
          </a:p>
        </p:txBody>
      </p:sp>
      <p:sp>
        <p:nvSpPr>
          <p:cNvPr id="14" name="Oval 13"/>
          <p:cNvSpPr/>
          <p:nvPr/>
        </p:nvSpPr>
        <p:spPr>
          <a:xfrm>
            <a:off x="6400800" y="3566160"/>
            <a:ext cx="329184" cy="329184"/>
          </a:xfrm>
          <a:prstGeom prst="ellipse">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rPr>
              <a:t>3</a:t>
            </a:r>
          </a:p>
        </p:txBody>
      </p:sp>
      <p:sp>
        <p:nvSpPr>
          <p:cNvPr id="15" name="TextBox 14"/>
          <p:cNvSpPr txBox="1"/>
          <p:nvPr/>
        </p:nvSpPr>
        <p:spPr>
          <a:xfrm>
            <a:off x="6839712" y="3538728"/>
            <a:ext cx="2194560" cy="822960"/>
          </a:xfrm>
          <a:prstGeom prst="rect">
            <a:avLst/>
          </a:prstGeom>
          <a:noFill/>
        </p:spPr>
        <p:txBody>
          <a:bodyPr wrap="square">
            <a:spAutoFit/>
          </a:bodyPr>
          <a:lstStyle/>
          <a:p>
            <a:pPr algn="l">
              <a:spcAft>
                <a:spcPts val="400"/>
              </a:spcAft>
            </a:pPr>
            <a:r>
              <a:rPr sz="1500" b="1">
                <a:solidFill>
                  <a:srgbClr val="20252A"/>
                </a:solidFill>
              </a:rPr>
              <a:t>Technology layer</a:t>
            </a:r>
          </a:p>
          <a:p>
            <a:pPr algn="l">
              <a:spcAft>
                <a:spcPts val="400"/>
              </a:spcAft>
            </a:pPr>
            <a:r>
              <a:rPr sz="1200">
                <a:solidFill>
                  <a:srgbClr val="606060"/>
                </a:solidFill>
              </a:rPr>
              <a:t>What it runs on</a:t>
            </a:r>
          </a:p>
        </p:txBody>
      </p:sp>
      <p:sp>
        <p:nvSpPr>
          <p:cNvPr id="16" name="TextBox 15"/>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17" name="TextBox 16"/>
          <p:cNvSpPr txBox="1"/>
          <p:nvPr/>
        </p:nvSpPr>
        <p:spPr>
          <a:xfrm>
            <a:off x="8321040" y="4864608"/>
            <a:ext cx="548640" cy="237744"/>
          </a:xfrm>
          <a:prstGeom prst="rect">
            <a:avLst/>
          </a:prstGeom>
          <a:noFill/>
        </p:spPr>
        <p:txBody>
          <a:bodyPr wrap="none">
            <a:spAutoFit/>
          </a:bodyPr>
          <a:lstStyle/>
          <a:p>
            <a:pPr algn="r"/>
            <a:r>
              <a:rPr sz="800">
                <a:solidFill>
                  <a:srgbClr val="606060"/>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One abstract process becomes seven concrete steps</a:t>
            </a:r>
          </a:p>
        </p:txBody>
      </p:sp>
      <p:sp>
        <p:nvSpPr>
          <p:cNvPr id="4" name="Title 3"/>
          <p:cNvSpPr>
            <a:spLocks noGrp="1"/>
          </p:cNvSpPr>
          <p:nvPr>
            <p:ph type="title"/>
          </p:nvPr>
        </p:nvSpPr>
        <p:spPr/>
        <p:txBody>
          <a:bodyPr/>
          <a:lstStyle/>
          <a:p>
            <a:r>
              <a:t>F1 Business Layer: Reservation</a:t>
            </a:r>
          </a:p>
        </p:txBody>
      </p:sp>
      <p:sp>
        <p:nvSpPr>
          <p:cNvPr id="5" name="Text Placeholder 4"/>
          <p:cNvSpPr>
            <a:spLocks noGrp="1"/>
          </p:cNvSpPr>
          <p:nvPr>
            <p:ph type="body" idx="14" sz="quarter"/>
          </p:nvPr>
        </p:nvSpPr>
        <p:spPr/>
        <p:txBody>
          <a:bodyPr/>
          <a:lstStyle/>
          <a:p/>
        </p:txBody>
      </p:sp>
      <p:sp>
        <p:nvSpPr>
          <p:cNvPr id="6" name="Rectangle 5"/>
          <p:cNvSpPr/>
          <p:nvPr/>
        </p:nvSpPr>
        <p:spPr>
          <a:xfrm>
            <a:off x="256031" y="1547419"/>
            <a:ext cx="8631936" cy="3104793"/>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iz_reservation.png"/>
          <p:cNvPicPr>
            <a:picLocks noChangeAspect="1"/>
          </p:cNvPicPr>
          <p:nvPr/>
        </p:nvPicPr>
        <p:blipFill>
          <a:blip r:embed="rId2"/>
          <a:stretch>
            <a:fillRect/>
          </a:stretch>
        </p:blipFill>
        <p:spPr>
          <a:xfrm>
            <a:off x="274320" y="1565707"/>
            <a:ext cx="8595360" cy="3068217"/>
          </a:xfrm>
          <a:prstGeom prst="rect">
            <a:avLst/>
          </a:prstGeom>
        </p:spPr>
      </p:pic>
      <p:sp>
        <p:nvSpPr>
          <p:cNvPr id="8" name="Rounded Rectangle 7"/>
          <p:cNvSpPr/>
          <p:nvPr/>
        </p:nvSpPr>
        <p:spPr>
          <a:xfrm>
            <a:off x="1050132" y="1739482"/>
            <a:ext cx="1117651" cy="646175"/>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50132" y="1483450"/>
            <a:ext cx="822960" cy="246888"/>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Guest</a:t>
            </a:r>
          </a:p>
        </p:txBody>
      </p:sp>
      <p:sp>
        <p:nvSpPr>
          <p:cNvPr id="10" name="Rounded Rectangle 9"/>
          <p:cNvSpPr/>
          <p:nvPr/>
        </p:nvSpPr>
        <p:spPr>
          <a:xfrm>
            <a:off x="1006611" y="2827502"/>
            <a:ext cx="7660279" cy="943568"/>
          </a:xfrm>
          <a:prstGeom prst="roundRect">
            <a:avLst>
              <a:gd name="adj" fmla="val 6000"/>
            </a:avLst>
          </a:prstGeom>
          <a:noFill/>
          <a:ln w="28575">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06611" y="2571470"/>
            <a:ext cx="2811780" cy="246888"/>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Handle Reservation: 7 steps</a:t>
            </a:r>
          </a:p>
        </p:txBody>
      </p:sp>
      <p:sp>
        <p:nvSpPr>
          <p:cNvPr id="12" name="Rounded Rectangle 11"/>
          <p:cNvSpPr/>
          <p:nvPr/>
        </p:nvSpPr>
        <p:spPr>
          <a:xfrm>
            <a:off x="5315171" y="2174690"/>
            <a:ext cx="2249192" cy="718710"/>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315171" y="1918658"/>
            <a:ext cx="891540" cy="246888"/>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Payment</a:t>
            </a:r>
          </a:p>
        </p:txBody>
      </p:sp>
      <p:sp>
        <p:nvSpPr>
          <p:cNvPr id="14" name="Rounded Rectangle 13"/>
          <p:cNvSpPr/>
          <p:nvPr/>
        </p:nvSpPr>
        <p:spPr>
          <a:xfrm>
            <a:off x="361052" y="4002564"/>
            <a:ext cx="8508935" cy="646175"/>
          </a:xfrm>
          <a:prstGeom prst="roundRect">
            <a:avLst>
              <a:gd name="adj" fmla="val 6000"/>
            </a:avLst>
          </a:prstGeom>
          <a:noFill/>
          <a:ln w="28575">
            <a:solidFill>
              <a:srgbClr val="B09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1052" y="3746532"/>
            <a:ext cx="1755648" cy="246888"/>
          </a:xfrm>
          <a:prstGeom prst="roundRect">
            <a:avLst>
              <a:gd name="adj" fmla="val 50000"/>
            </a:avLst>
          </a:prstGeom>
          <a:solidFill>
            <a:srgbClr val="B09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Business objects</a:t>
            </a:r>
          </a:p>
        </p:txBody>
      </p:sp>
      <p:sp>
        <p:nvSpPr>
          <p:cNvPr id="28" name="TextBox 27"/>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29" name="TextBox 28"/>
          <p:cNvSpPr txBox="1"/>
          <p:nvPr/>
        </p:nvSpPr>
        <p:spPr>
          <a:xfrm>
            <a:off x="8321040" y="4864608"/>
            <a:ext cx="548640" cy="237744"/>
          </a:xfrm>
          <a:prstGeom prst="rect">
            <a:avLst/>
          </a:prstGeom>
          <a:noFill/>
        </p:spPr>
        <p:txBody>
          <a:bodyPr wrap="none">
            <a:spAutoFit/>
          </a:bodyPr>
          <a:lstStyle/>
          <a:p>
            <a:pPr algn="r"/>
            <a:r>
              <a:rPr sz="800">
                <a:solidFill>
                  <a:srgbClr val="606060"/>
                </a:solidFill>
              </a:rPr>
              <a:t>6</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The Receptionist turns a reservation into an open door</a:t>
            </a:r>
          </a:p>
        </p:txBody>
      </p:sp>
      <p:sp>
        <p:nvSpPr>
          <p:cNvPr id="4" name="Title 3"/>
          <p:cNvSpPr>
            <a:spLocks noGrp="1"/>
          </p:cNvSpPr>
          <p:nvPr>
            <p:ph type="title"/>
          </p:nvPr>
        </p:nvSpPr>
        <p:spPr/>
        <p:txBody>
          <a:bodyPr/>
          <a:lstStyle/>
          <a:p>
            <a:r>
              <a:t>F1 Business Layer: Check-In</a:t>
            </a:r>
          </a:p>
        </p:txBody>
      </p:sp>
      <p:sp>
        <p:nvSpPr>
          <p:cNvPr id="5" name="Text Placeholder 4"/>
          <p:cNvSpPr>
            <a:spLocks noGrp="1"/>
          </p:cNvSpPr>
          <p:nvPr>
            <p:ph type="body" idx="14" sz="quarter"/>
          </p:nvPr>
        </p:nvSpPr>
        <p:spPr/>
        <p:txBody>
          <a:bodyPr/>
          <a:lstStyle/>
          <a:p/>
        </p:txBody>
      </p:sp>
      <p:sp>
        <p:nvSpPr>
          <p:cNvPr id="6" name="Rectangle 5"/>
          <p:cNvSpPr/>
          <p:nvPr/>
        </p:nvSpPr>
        <p:spPr>
          <a:xfrm>
            <a:off x="1486388" y="1463040"/>
            <a:ext cx="6171222" cy="3310128"/>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iz_checkin.png"/>
          <p:cNvPicPr>
            <a:picLocks noChangeAspect="1"/>
          </p:cNvPicPr>
          <p:nvPr/>
        </p:nvPicPr>
        <p:blipFill>
          <a:blip r:embed="rId2"/>
          <a:stretch>
            <a:fillRect/>
          </a:stretch>
        </p:blipFill>
        <p:spPr>
          <a:xfrm>
            <a:off x="1504676" y="1481328"/>
            <a:ext cx="6134646" cy="3273552"/>
          </a:xfrm>
          <a:prstGeom prst="rect">
            <a:avLst/>
          </a:prstGeom>
        </p:spPr>
      </p:pic>
      <p:sp>
        <p:nvSpPr>
          <p:cNvPr id="8" name="Rounded Rectangle 7"/>
          <p:cNvSpPr/>
          <p:nvPr/>
        </p:nvSpPr>
        <p:spPr>
          <a:xfrm>
            <a:off x="1582962" y="1564834"/>
            <a:ext cx="824972" cy="485609"/>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582962" y="2059587"/>
            <a:ext cx="1371600" cy="246888"/>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Receptionist</a:t>
            </a:r>
          </a:p>
        </p:txBody>
      </p:sp>
      <p:sp>
        <p:nvSpPr>
          <p:cNvPr id="10" name="Rounded Rectangle 9"/>
          <p:cNvSpPr/>
          <p:nvPr/>
        </p:nvSpPr>
        <p:spPr>
          <a:xfrm>
            <a:off x="2987404" y="2003396"/>
            <a:ext cx="2829827" cy="1086021"/>
          </a:xfrm>
          <a:prstGeom prst="roundRect">
            <a:avLst>
              <a:gd name="adj" fmla="val 6000"/>
            </a:avLst>
          </a:prstGeom>
          <a:noFill/>
          <a:ln w="28575">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987404" y="1747364"/>
            <a:ext cx="891540" cy="246888"/>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3 steps</a:t>
            </a:r>
          </a:p>
        </p:txBody>
      </p:sp>
      <p:sp>
        <p:nvSpPr>
          <p:cNvPr id="12" name="Rounded Rectangle 11"/>
          <p:cNvSpPr/>
          <p:nvPr/>
        </p:nvSpPr>
        <p:spPr>
          <a:xfrm>
            <a:off x="5811952" y="2316655"/>
            <a:ext cx="824972" cy="485609"/>
          </a:xfrm>
          <a:prstGeom prst="roundRect">
            <a:avLst>
              <a:gd name="adj" fmla="val 6000"/>
            </a:avLst>
          </a:prstGeom>
          <a:noFill/>
          <a:ln w="28575">
            <a:solidFill>
              <a:srgbClr val="0065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811952" y="2060623"/>
            <a:ext cx="891540" cy="246888"/>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Service</a:t>
            </a:r>
          </a:p>
        </p:txBody>
      </p:sp>
      <p:sp>
        <p:nvSpPr>
          <p:cNvPr id="14" name="Rounded Rectangle 13"/>
          <p:cNvSpPr/>
          <p:nvPr/>
        </p:nvSpPr>
        <p:spPr>
          <a:xfrm>
            <a:off x="5618776" y="4258858"/>
            <a:ext cx="1639444" cy="527376"/>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18776" y="4002826"/>
            <a:ext cx="2715768" cy="246888"/>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Payment settles open costs</a:t>
            </a:r>
          </a:p>
        </p:txBody>
      </p:sp>
      <p:sp>
        <p:nvSpPr>
          <p:cNvPr id="28" name="TextBox 27"/>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29" name="TextBox 28"/>
          <p:cNvSpPr txBox="1"/>
          <p:nvPr/>
        </p:nvSpPr>
        <p:spPr>
          <a:xfrm>
            <a:off x="8321040" y="4864608"/>
            <a:ext cx="548640" cy="237744"/>
          </a:xfrm>
          <a:prstGeom prst="rect">
            <a:avLst/>
          </a:prstGeom>
          <a:noFill/>
        </p:spPr>
        <p:txBody>
          <a:bodyPr wrap="none">
            <a:spAutoFit/>
          </a:bodyPr>
          <a:lstStyle/>
          <a:p>
            <a:pPr algn="r"/>
            <a:r>
              <a:rPr sz="800">
                <a:solidFill>
                  <a:srgbClr val="606060"/>
                </a:solidFill>
              </a:rPr>
              <a:t>7</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Functions, services, events and data objects the abstract view hid</a:t>
            </a:r>
          </a:p>
        </p:txBody>
      </p:sp>
      <p:sp>
        <p:nvSpPr>
          <p:cNvPr id="4" name="Title 3"/>
          <p:cNvSpPr>
            <a:spLocks noGrp="1"/>
          </p:cNvSpPr>
          <p:nvPr>
            <p:ph type="title"/>
          </p:nvPr>
        </p:nvSpPr>
        <p:spPr/>
        <p:txBody>
          <a:bodyPr/>
          <a:lstStyle/>
          <a:p>
            <a:r>
              <a:t>F1 Application Layer: Inside the HMS</a:t>
            </a:r>
          </a:p>
        </p:txBody>
      </p:sp>
      <p:sp>
        <p:nvSpPr>
          <p:cNvPr id="5" name="Text Placeholder 4"/>
          <p:cNvSpPr>
            <a:spLocks noGrp="1"/>
          </p:cNvSpPr>
          <p:nvPr>
            <p:ph type="body" idx="14" sz="quarter"/>
          </p:nvPr>
        </p:nvSpPr>
        <p:spPr/>
        <p:txBody>
          <a:bodyPr/>
          <a:lstStyle/>
          <a:p/>
        </p:txBody>
      </p:sp>
      <p:sp>
        <p:nvSpPr>
          <p:cNvPr id="6" name="Rectangle 5"/>
          <p:cNvSpPr/>
          <p:nvPr/>
        </p:nvSpPr>
        <p:spPr>
          <a:xfrm>
            <a:off x="730900" y="1463040"/>
            <a:ext cx="7682199" cy="3236976"/>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_layer.png"/>
          <p:cNvPicPr>
            <a:picLocks noChangeAspect="1"/>
          </p:cNvPicPr>
          <p:nvPr/>
        </p:nvPicPr>
        <p:blipFill>
          <a:blip r:embed="rId2"/>
          <a:stretch>
            <a:fillRect/>
          </a:stretch>
        </p:blipFill>
        <p:spPr>
          <a:xfrm>
            <a:off x="749188" y="1481328"/>
            <a:ext cx="7645623" cy="3200400"/>
          </a:xfrm>
          <a:prstGeom prst="rect">
            <a:avLst/>
          </a:prstGeom>
        </p:spPr>
      </p:pic>
      <p:sp>
        <p:nvSpPr>
          <p:cNvPr id="8" name="Rounded Rectangle 7"/>
          <p:cNvSpPr/>
          <p:nvPr/>
        </p:nvSpPr>
        <p:spPr>
          <a:xfrm>
            <a:off x="3519487" y="2998773"/>
            <a:ext cx="731703" cy="390381"/>
          </a:xfrm>
          <a:prstGeom prst="roundRect">
            <a:avLst>
              <a:gd name="adj" fmla="val 6000"/>
            </a:avLst>
          </a:prstGeom>
          <a:noFill/>
          <a:ln w="28575">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19487" y="2742741"/>
            <a:ext cx="2427732" cy="246888"/>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Hotel Management System</a:t>
            </a:r>
          </a:p>
        </p:txBody>
      </p:sp>
      <p:sp>
        <p:nvSpPr>
          <p:cNvPr id="10" name="Rounded Rectangle 9"/>
          <p:cNvSpPr/>
          <p:nvPr/>
        </p:nvSpPr>
        <p:spPr>
          <a:xfrm>
            <a:off x="2603940" y="1601358"/>
            <a:ext cx="731703" cy="390381"/>
          </a:xfrm>
          <a:prstGeom prst="roundRect">
            <a:avLst>
              <a:gd name="adj" fmla="val 6000"/>
            </a:avLst>
          </a:prstGeom>
          <a:noFill/>
          <a:ln w="28575">
            <a:solidFill>
              <a:srgbClr val="0065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603940" y="1345326"/>
            <a:ext cx="2427732" cy="246888"/>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Services exposed upward</a:t>
            </a:r>
          </a:p>
        </p:txBody>
      </p:sp>
      <p:sp>
        <p:nvSpPr>
          <p:cNvPr id="12" name="Rounded Rectangle 11"/>
          <p:cNvSpPr/>
          <p:nvPr/>
        </p:nvSpPr>
        <p:spPr>
          <a:xfrm>
            <a:off x="2126088" y="2348252"/>
            <a:ext cx="1374192" cy="390381"/>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126088" y="2092220"/>
            <a:ext cx="1275588" cy="246888"/>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Event chain</a:t>
            </a:r>
          </a:p>
        </p:txBody>
      </p:sp>
      <p:sp>
        <p:nvSpPr>
          <p:cNvPr id="14" name="Rounded Rectangle 13"/>
          <p:cNvSpPr/>
          <p:nvPr/>
        </p:nvSpPr>
        <p:spPr>
          <a:xfrm>
            <a:off x="2559769" y="4299813"/>
            <a:ext cx="651392" cy="390381"/>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559769" y="4043781"/>
            <a:ext cx="2834640" cy="246888"/>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Data object realizes Reservation</a:t>
            </a:r>
          </a:p>
        </p:txBody>
      </p:sp>
      <p:sp>
        <p:nvSpPr>
          <p:cNvPr id="28" name="TextBox 27"/>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29" name="TextBox 28"/>
          <p:cNvSpPr txBox="1"/>
          <p:nvPr/>
        </p:nvSpPr>
        <p:spPr>
          <a:xfrm>
            <a:off x="8321040" y="4864608"/>
            <a:ext cx="548640" cy="237744"/>
          </a:xfrm>
          <a:prstGeom prst="rect">
            <a:avLst/>
          </a:prstGeom>
          <a:noFill/>
        </p:spPr>
        <p:txBody>
          <a:bodyPr wrap="none">
            <a:spAutoFit/>
          </a:bodyPr>
          <a:lstStyle/>
          <a:p>
            <a:pPr algn="r"/>
            <a:r>
              <a:rPr sz="800">
                <a:solidFill>
                  <a:srgbClr val="606060"/>
                </a:solidFill>
              </a:rPr>
              <a:t>8</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How an online reservation becomes a door that opens</a:t>
            </a:r>
          </a:p>
        </p:txBody>
      </p:sp>
      <p:sp>
        <p:nvSpPr>
          <p:cNvPr id="4" name="Title 3"/>
          <p:cNvSpPr>
            <a:spLocks noGrp="1"/>
          </p:cNvSpPr>
          <p:nvPr>
            <p:ph type="title"/>
          </p:nvPr>
        </p:nvSpPr>
        <p:spPr/>
        <p:txBody>
          <a:bodyPr/>
          <a:lstStyle/>
          <a:p>
            <a:r>
              <a:t>F1 Technology Layer: Down to the Door</a:t>
            </a:r>
          </a:p>
        </p:txBody>
      </p:sp>
      <p:sp>
        <p:nvSpPr>
          <p:cNvPr id="5" name="Text Placeholder 4"/>
          <p:cNvSpPr>
            <a:spLocks noGrp="1"/>
          </p:cNvSpPr>
          <p:nvPr>
            <p:ph type="body" idx="14" sz="quarter"/>
          </p:nvPr>
        </p:nvSpPr>
        <p:spPr/>
        <p:txBody>
          <a:bodyPr/>
          <a:lstStyle/>
          <a:p/>
        </p:txBody>
      </p:sp>
      <p:sp>
        <p:nvSpPr>
          <p:cNvPr id="6" name="Rectangle 5"/>
          <p:cNvSpPr/>
          <p:nvPr/>
        </p:nvSpPr>
        <p:spPr>
          <a:xfrm>
            <a:off x="1213027" y="1463040"/>
            <a:ext cx="6717945" cy="3236976"/>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ch_layer.png"/>
          <p:cNvPicPr>
            <a:picLocks noChangeAspect="1"/>
          </p:cNvPicPr>
          <p:nvPr/>
        </p:nvPicPr>
        <p:blipFill>
          <a:blip r:embed="rId2"/>
          <a:stretch>
            <a:fillRect/>
          </a:stretch>
        </p:blipFill>
        <p:spPr>
          <a:xfrm>
            <a:off x="1231315" y="1481328"/>
            <a:ext cx="6681369" cy="3200400"/>
          </a:xfrm>
          <a:prstGeom prst="rect">
            <a:avLst/>
          </a:prstGeom>
        </p:spPr>
      </p:pic>
      <p:sp>
        <p:nvSpPr>
          <p:cNvPr id="8" name="Rounded Rectangle 7"/>
          <p:cNvSpPr/>
          <p:nvPr/>
        </p:nvSpPr>
        <p:spPr>
          <a:xfrm>
            <a:off x="3948129" y="1972604"/>
            <a:ext cx="757932" cy="448830"/>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48129" y="1716572"/>
            <a:ext cx="1755648" cy="246888"/>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Door Card Reader</a:t>
            </a:r>
          </a:p>
        </p:txBody>
      </p:sp>
      <p:sp>
        <p:nvSpPr>
          <p:cNvPr id="10" name="Rounded Rectangle 9"/>
          <p:cNvSpPr/>
          <p:nvPr/>
        </p:nvSpPr>
        <p:spPr>
          <a:xfrm>
            <a:off x="2231421" y="1944071"/>
            <a:ext cx="1447469" cy="2503173"/>
          </a:xfrm>
          <a:prstGeom prst="roundRect">
            <a:avLst>
              <a:gd name="adj" fmla="val 6000"/>
            </a:avLst>
          </a:prstGeom>
          <a:noFill/>
          <a:ln w="28575">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231421" y="1688039"/>
            <a:ext cx="1851660" cy="246888"/>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Grant Room Access</a:t>
            </a:r>
          </a:p>
        </p:txBody>
      </p:sp>
      <p:sp>
        <p:nvSpPr>
          <p:cNvPr id="12" name="Rounded Rectangle 11"/>
          <p:cNvSpPr/>
          <p:nvPr/>
        </p:nvSpPr>
        <p:spPr>
          <a:xfrm>
            <a:off x="1375445" y="2914177"/>
            <a:ext cx="757932" cy="848286"/>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375445" y="2658145"/>
            <a:ext cx="1083564" cy="246888"/>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Artifacts</a:t>
            </a:r>
          </a:p>
        </p:txBody>
      </p:sp>
      <p:sp>
        <p:nvSpPr>
          <p:cNvPr id="14" name="Rounded Rectangle 13"/>
          <p:cNvSpPr/>
          <p:nvPr/>
        </p:nvSpPr>
        <p:spPr>
          <a:xfrm>
            <a:off x="4461714" y="3470562"/>
            <a:ext cx="2431842" cy="620025"/>
          </a:xfrm>
          <a:prstGeom prst="roundRect">
            <a:avLst>
              <a:gd name="adj" fmla="val 6000"/>
            </a:avLst>
          </a:prstGeom>
          <a:noFill/>
          <a:ln w="28575">
            <a:solidFill>
              <a:srgbClr val="2E8B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61714" y="4099732"/>
            <a:ext cx="1371600" cy="246888"/>
          </a:xfrm>
          <a:prstGeom prst="roundRect">
            <a:avLst>
              <a:gd name="adj" fmla="val 50000"/>
            </a:avLst>
          </a:prstGeom>
          <a:solidFill>
            <a:srgbClr val="2E8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RFID · Wi-Fi</a:t>
            </a:r>
          </a:p>
        </p:txBody>
      </p:sp>
      <p:sp>
        <p:nvSpPr>
          <p:cNvPr id="16" name="Rounded Rectangle 15"/>
          <p:cNvSpPr/>
          <p:nvPr/>
        </p:nvSpPr>
        <p:spPr>
          <a:xfrm>
            <a:off x="4176389" y="4255207"/>
            <a:ext cx="757932" cy="448830"/>
          </a:xfrm>
          <a:prstGeom prst="roundRect">
            <a:avLst>
              <a:gd name="adj" fmla="val 6000"/>
            </a:avLst>
          </a:prstGeom>
          <a:noFill/>
          <a:ln w="28575">
            <a:solidFill>
              <a:srgbClr val="B09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176389" y="4713181"/>
            <a:ext cx="987552" cy="246888"/>
          </a:xfrm>
          <a:prstGeom prst="roundRect">
            <a:avLst>
              <a:gd name="adj" fmla="val 50000"/>
            </a:avLst>
          </a:prstGeom>
          <a:solidFill>
            <a:srgbClr val="B09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200" b="1">
                <a:solidFill>
                  <a:srgbClr val="FFFFFF"/>
                </a:solidFill>
              </a:rPr>
              <a:t>Key Card</a:t>
            </a:r>
          </a:p>
        </p:txBody>
      </p:sp>
      <p:sp>
        <p:nvSpPr>
          <p:cNvPr id="34" name="TextBox 33"/>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35" name="TextBox 34"/>
          <p:cNvSpPr txBox="1"/>
          <p:nvPr/>
        </p:nvSpPr>
        <p:spPr>
          <a:xfrm>
            <a:off x="8321040" y="4864608"/>
            <a:ext cx="548640" cy="237744"/>
          </a:xfrm>
          <a:prstGeom prst="rect">
            <a:avLst/>
          </a:prstGeom>
          <a:noFill/>
        </p:spPr>
        <p:txBody>
          <a:bodyPr wrap="none">
            <a:spAutoFit/>
          </a:bodyPr>
          <a:lstStyle/>
          <a:p>
            <a:pPr algn="r"/>
            <a:r>
              <a:rPr sz="800">
                <a:solidFill>
                  <a:srgbClr val="606060"/>
                </a:solidFill>
              </a:rPr>
              <a:t>9</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P spid="16" grpId="0"/>
      <p:bldP spid="17" grpId="0"/>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Reflection: Value &amp; Limitations</a:t>
            </a:r>
          </a:p>
        </p:txBody>
      </p:sp>
      <p:sp>
        <p:nvSpPr>
          <p:cNvPr id="5" name="Text Placeholder 4"/>
          <p:cNvSpPr>
            <a:spLocks noGrp="1"/>
          </p:cNvSpPr>
          <p:nvPr>
            <p:ph type="body" idx="14" sz="quarter"/>
          </p:nvPr>
        </p:nvSpPr>
        <p:spPr/>
        <p:txBody>
          <a:bodyPr/>
          <a:lstStyle/>
          <a:p/>
        </p:txBody>
      </p:sp>
      <p:sp>
        <p:nvSpPr>
          <p:cNvPr id="6" name="Rounded Rectangle 5"/>
          <p:cNvSpPr/>
          <p:nvPr/>
        </p:nvSpPr>
        <p:spPr>
          <a:xfrm>
            <a:off x="411480" y="1554480"/>
            <a:ext cx="4069080" cy="301752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11480" y="1554480"/>
            <a:ext cx="4069080" cy="365760"/>
          </a:xfrm>
          <a:prstGeom prst="roundRect">
            <a:avLst>
              <a:gd name="adj" fmla="val 50000"/>
            </a:avLst>
          </a:prstGeom>
          <a:solidFill>
            <a:srgbClr val="2E8B2E"/>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600">
                <a:solidFill>
                  <a:srgbClr val="FFFFFF"/>
                </a:solidFill>
              </a:rPr>
              <a:t>Value</a:t>
            </a:r>
          </a:p>
        </p:txBody>
      </p:sp>
      <p:sp>
        <p:nvSpPr>
          <p:cNvPr id="8" name="TextBox 7"/>
          <p:cNvSpPr txBox="1"/>
          <p:nvPr/>
        </p:nvSpPr>
        <p:spPr>
          <a:xfrm>
            <a:off x="502920" y="1975104"/>
            <a:ext cx="3886200" cy="2523744"/>
          </a:xfrm>
          <a:prstGeom prst="rect">
            <a:avLst/>
          </a:prstGeom>
          <a:noFill/>
        </p:spPr>
        <p:txBody>
          <a:bodyPr wrap="square">
            <a:spAutoFit/>
          </a:bodyPr>
          <a:lstStyle/>
          <a:p>
            <a:pPr>
              <a:spcAft>
                <a:spcPts val="600"/>
              </a:spcAft>
            </a:pPr>
            <a:r>
              <a:rPr sz="1600">
                <a:solidFill>
                  <a:srgbClr val="20252A"/>
                </a:solidFill>
              </a:rPr>
              <a:t>One shared picture of five cooperating systems</a:t>
            </a:r>
          </a:p>
          <a:p>
            <a:pPr>
              <a:spcAft>
                <a:spcPts val="600"/>
              </a:spcAft>
            </a:pPr>
            <a:r>
              <a:rPr sz="1600">
                <a:solidFill>
                  <a:srgbClr val="20252A"/>
                </a:solidFill>
              </a:rPr>
              <a:t>Impact analysis: what breaks if the HMS is down?</a:t>
            </a:r>
          </a:p>
          <a:p>
            <a:pPr>
              <a:spcAft>
                <a:spcPts val="600"/>
              </a:spcAft>
            </a:pPr>
            <a:r>
              <a:rPr sz="1600">
                <a:solidFill>
                  <a:srgbClr val="20252A"/>
                </a:solidFill>
              </a:rPr>
              <a:t>Faster onboarding for new staff and developers</a:t>
            </a:r>
          </a:p>
        </p:txBody>
      </p:sp>
      <p:sp>
        <p:nvSpPr>
          <p:cNvPr id="9" name="Rounded Rectangle 8"/>
          <p:cNvSpPr/>
          <p:nvPr/>
        </p:nvSpPr>
        <p:spPr>
          <a:xfrm>
            <a:off x="4663440" y="1554480"/>
            <a:ext cx="4069080" cy="301752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63440" y="1554480"/>
            <a:ext cx="4069080" cy="365760"/>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600">
                <a:solidFill>
                  <a:srgbClr val="FFFFFF"/>
                </a:solidFill>
              </a:rPr>
              <a:t>Limitations</a:t>
            </a:r>
          </a:p>
        </p:txBody>
      </p:sp>
      <p:sp>
        <p:nvSpPr>
          <p:cNvPr id="11" name="TextBox 10"/>
          <p:cNvSpPr txBox="1"/>
          <p:nvPr/>
        </p:nvSpPr>
        <p:spPr>
          <a:xfrm>
            <a:off x="4754879" y="1975104"/>
            <a:ext cx="3886200" cy="2523744"/>
          </a:xfrm>
          <a:prstGeom prst="rect">
            <a:avLst/>
          </a:prstGeom>
          <a:noFill/>
        </p:spPr>
        <p:txBody>
          <a:bodyPr wrap="square">
            <a:spAutoFit/>
          </a:bodyPr>
          <a:lstStyle/>
          <a:p>
            <a:pPr>
              <a:spcAft>
                <a:spcPts val="600"/>
              </a:spcAft>
            </a:pPr>
            <a:r>
              <a:rPr sz="1600">
                <a:solidFill>
                  <a:srgbClr val="20252A"/>
                </a:solidFill>
              </a:rPr>
              <a:t>A snapshot, with no process to keep it current</a:t>
            </a:r>
          </a:p>
          <a:p>
            <a:pPr>
              <a:spcAft>
                <a:spcPts val="600"/>
              </a:spcAft>
            </a:pPr>
            <a:r>
              <a:rPr sz="1600">
                <a:solidFill>
                  <a:srgbClr val="20252A"/>
                </a:solidFill>
              </a:rPr>
              <a:t>No quantities, no SLAs, no capacity answers</a:t>
            </a:r>
          </a:p>
          <a:p>
            <a:pPr>
              <a:spcAft>
                <a:spcPts val="600"/>
              </a:spcAft>
            </a:pPr>
            <a:r>
              <a:rPr sz="1600">
                <a:solidFill>
                  <a:srgbClr val="20252A"/>
                </a:solidFill>
              </a:rPr>
              <a:t>Abstraction hides detail by design</a:t>
            </a:r>
          </a:p>
        </p:txBody>
      </p:sp>
      <p:sp>
        <p:nvSpPr>
          <p:cNvPr id="12" name="TextBox 11"/>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13" name="TextBox 12"/>
          <p:cNvSpPr txBox="1"/>
          <p:nvPr/>
        </p:nvSpPr>
        <p:spPr>
          <a:xfrm>
            <a:off x="8321040" y="4864608"/>
            <a:ext cx="548640" cy="237744"/>
          </a:xfrm>
          <a:prstGeom prst="rect">
            <a:avLst/>
          </a:prstGeom>
          <a:noFill/>
        </p:spPr>
        <p:txBody>
          <a:bodyPr wrap="none">
            <a:spAutoFit/>
          </a:bodyPr>
          <a:lstStyle/>
          <a:p>
            <a:pPr algn="r"/>
            <a:r>
              <a:rPr sz="800">
                <a:solidFill>
                  <a:srgbClr val="606060"/>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Reflection: Missing Information &amp; Challenges</a:t>
            </a:r>
          </a:p>
        </p:txBody>
      </p:sp>
      <p:sp>
        <p:nvSpPr>
          <p:cNvPr id="5" name="Text Placeholder 4"/>
          <p:cNvSpPr>
            <a:spLocks noGrp="1"/>
          </p:cNvSpPr>
          <p:nvPr>
            <p:ph type="body" idx="14" sz="quarter"/>
          </p:nvPr>
        </p:nvSpPr>
        <p:spPr/>
        <p:txBody>
          <a:bodyPr/>
          <a:lstStyle/>
          <a:p/>
        </p:txBody>
      </p:sp>
      <p:sp>
        <p:nvSpPr>
          <p:cNvPr id="6" name="Rounded Rectangle 5"/>
          <p:cNvSpPr/>
          <p:nvPr/>
        </p:nvSpPr>
        <p:spPr>
          <a:xfrm>
            <a:off x="411480" y="1554480"/>
            <a:ext cx="4069080" cy="301752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11480" y="1554480"/>
            <a:ext cx="4069080" cy="365760"/>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600">
                <a:solidFill>
                  <a:srgbClr val="FFFFFF"/>
                </a:solidFill>
              </a:rPr>
              <a:t>Missing in the case material</a:t>
            </a:r>
          </a:p>
        </p:txBody>
      </p:sp>
      <p:sp>
        <p:nvSpPr>
          <p:cNvPr id="8" name="TextBox 7"/>
          <p:cNvSpPr txBox="1"/>
          <p:nvPr/>
        </p:nvSpPr>
        <p:spPr>
          <a:xfrm>
            <a:off x="502920" y="1975104"/>
            <a:ext cx="3886200" cy="2523744"/>
          </a:xfrm>
          <a:prstGeom prst="rect">
            <a:avLst/>
          </a:prstGeom>
          <a:noFill/>
        </p:spPr>
        <p:txBody>
          <a:bodyPr wrap="square">
            <a:spAutoFit/>
          </a:bodyPr>
          <a:lstStyle/>
          <a:p>
            <a:pPr>
              <a:spcAft>
                <a:spcPts val="600"/>
              </a:spcAft>
            </a:pPr>
            <a:r>
              <a:rPr sz="1600">
                <a:solidFill>
                  <a:srgbClr val="20252A"/>
                </a:solidFill>
              </a:rPr>
              <a:t>No infrastructure specs for the reservation side</a:t>
            </a:r>
          </a:p>
          <a:p>
            <a:pPr>
              <a:spcAft>
                <a:spcPts val="600"/>
              </a:spcAft>
            </a:pPr>
            <a:r>
              <a:rPr sz="1600">
                <a:solidFill>
                  <a:srgbClr val="20252A"/>
                </a:solidFill>
              </a:rPr>
              <a:t>Interfaces to external booking platforms unclear</a:t>
            </a:r>
          </a:p>
          <a:p>
            <a:pPr>
              <a:spcAft>
                <a:spcPts val="600"/>
              </a:spcAft>
            </a:pPr>
            <a:r>
              <a:rPr sz="1600">
                <a:solidFill>
                  <a:srgbClr val="20252A"/>
                </a:solidFill>
              </a:rPr>
              <a:t>No failure or volume data</a:t>
            </a:r>
          </a:p>
        </p:txBody>
      </p:sp>
      <p:sp>
        <p:nvSpPr>
          <p:cNvPr id="9" name="Rounded Rectangle 8"/>
          <p:cNvSpPr/>
          <p:nvPr/>
        </p:nvSpPr>
        <p:spPr>
          <a:xfrm>
            <a:off x="4663440" y="1554480"/>
            <a:ext cx="4069080" cy="301752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63440" y="1554480"/>
            <a:ext cx="4069080" cy="365760"/>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600">
                <a:solidFill>
                  <a:srgbClr val="FFFFFF"/>
                </a:solidFill>
              </a:rPr>
              <a:t>Our real challenges</a:t>
            </a:r>
          </a:p>
        </p:txBody>
      </p:sp>
      <p:sp>
        <p:nvSpPr>
          <p:cNvPr id="11" name="TextBox 10"/>
          <p:cNvSpPr txBox="1"/>
          <p:nvPr/>
        </p:nvSpPr>
        <p:spPr>
          <a:xfrm>
            <a:off x="4754879" y="1975104"/>
            <a:ext cx="3886200" cy="2523744"/>
          </a:xfrm>
          <a:prstGeom prst="rect">
            <a:avLst/>
          </a:prstGeom>
          <a:noFill/>
        </p:spPr>
        <p:txBody>
          <a:bodyPr wrap="square">
            <a:spAutoFit/>
          </a:bodyPr>
          <a:lstStyle/>
          <a:p>
            <a:pPr>
              <a:spcAft>
                <a:spcPts val="600"/>
              </a:spcAft>
            </a:pPr>
            <a:r>
              <a:rPr sz="1600">
                <a:solidFill>
                  <a:srgbClr val="20252A"/>
                </a:solidFill>
              </a:rPr>
              <a:t>Finding the right abstraction level</a:t>
            </a:r>
          </a:p>
          <a:p>
            <a:pPr>
              <a:spcAft>
                <a:spcPts val="600"/>
              </a:spcAft>
            </a:pPr>
            <a:r>
              <a:rPr sz="1600">
                <a:solidFill>
                  <a:srgbClr val="20252A"/>
                </a:solidFill>
              </a:rPr>
              <a:t>Keeping the abstract and detailed views consistent</a:t>
            </a:r>
          </a:p>
          <a:p>
            <a:pPr>
              <a:spcAft>
                <a:spcPts val="600"/>
              </a:spcAft>
            </a:pPr>
            <a:r>
              <a:rPr sz="1600">
                <a:solidFill>
                  <a:srgbClr val="20252A"/>
                </a:solidFill>
              </a:rPr>
              <a:t>Merge conflicts and duplicates from modeling in parallel</a:t>
            </a:r>
          </a:p>
        </p:txBody>
      </p:sp>
      <p:sp>
        <p:nvSpPr>
          <p:cNvPr id="12" name="TextBox 11"/>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13" name="TextBox 12"/>
          <p:cNvSpPr txBox="1"/>
          <p:nvPr/>
        </p:nvSpPr>
        <p:spPr>
          <a:xfrm>
            <a:off x="8321040" y="4864608"/>
            <a:ext cx="548640" cy="237744"/>
          </a:xfrm>
          <a:prstGeom prst="rect">
            <a:avLst/>
          </a:prstGeom>
          <a:noFill/>
        </p:spPr>
        <p:txBody>
          <a:bodyPr wrap="none">
            <a:spAutoFit/>
          </a:bodyPr>
          <a:lstStyle/>
          <a:p>
            <a:pPr algn="r"/>
            <a:r>
              <a:rPr sz="800">
                <a:solidFill>
                  <a:srgbClr val="606060"/>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Thank you! Questions?</a:t>
            </a:r>
          </a:p>
        </p:txBody>
      </p:sp>
      <p:sp>
        <p:nvSpPr>
          <p:cNvPr id="4" name="Title 3"/>
          <p:cNvSpPr>
            <a:spLocks noGrp="1"/>
          </p:cNvSpPr>
          <p:nvPr>
            <p:ph type="title"/>
          </p:nvPr>
        </p:nvSpPr>
        <p:spPr/>
        <p:txBody>
          <a:bodyPr/>
          <a:lstStyle/>
          <a:p>
            <a:r>
              <a:t>Summary</a:t>
            </a:r>
          </a:p>
        </p:txBody>
      </p:sp>
      <p:sp>
        <p:nvSpPr>
          <p:cNvPr id="5" name="Text Placeholder 4"/>
          <p:cNvSpPr>
            <a:spLocks noGrp="1"/>
          </p:cNvSpPr>
          <p:nvPr>
            <p:ph type="body" idx="14" sz="quarter"/>
          </p:nvPr>
        </p:nvSpPr>
        <p:spPr/>
        <p:txBody>
          <a:bodyPr/>
          <a:lstStyle/>
          <a:p/>
        </p:txBody>
      </p:sp>
      <p:sp>
        <p:nvSpPr>
          <p:cNvPr id="6" name="TextBox 5"/>
          <p:cNvSpPr txBox="1"/>
          <p:nvPr/>
        </p:nvSpPr>
        <p:spPr>
          <a:xfrm>
            <a:off x="411480" y="1691640"/>
            <a:ext cx="4480560" cy="3017520"/>
          </a:xfrm>
          <a:prstGeom prst="rect">
            <a:avLst/>
          </a:prstGeom>
          <a:noFill/>
        </p:spPr>
        <p:txBody>
          <a:bodyPr wrap="square">
            <a:spAutoFit/>
          </a:bodyPr>
          <a:lstStyle/>
          <a:p>
            <a:pPr algn="l">
              <a:spcAft>
                <a:spcPts val="1000"/>
              </a:spcAft>
            </a:pPr>
            <a:r>
              <a:rPr sz="1700">
                <a:solidFill>
                  <a:srgbClr val="20252A"/>
                </a:solidFill>
              </a:rPr>
              <a:t>F1 modeled across all three layers</a:t>
            </a:r>
          </a:p>
          <a:p>
            <a:pPr algn="l">
              <a:spcAft>
                <a:spcPts val="1000"/>
              </a:spcAft>
            </a:pPr>
            <a:r>
              <a:rPr sz="1700">
                <a:solidFill>
                  <a:srgbClr val="20252A"/>
                </a:solidFill>
              </a:rPr>
              <a:t>Everything converges on the HMS</a:t>
            </a:r>
          </a:p>
          <a:p>
            <a:pPr algn="l">
              <a:spcAft>
                <a:spcPts val="1000"/>
              </a:spcAft>
            </a:pPr>
            <a:r>
              <a:rPr sz="1700">
                <a:solidFill>
                  <a:srgbClr val="20252A"/>
                </a:solidFill>
              </a:rPr>
              <a:t>The map first, then one story per layer</a:t>
            </a:r>
          </a:p>
          <a:p>
            <a:pPr algn="l">
              <a:spcAft>
                <a:spcPts val="1000"/>
              </a:spcAft>
            </a:pPr>
            <a:r>
              <a:rPr sz="1700">
                <a:solidFill>
                  <a:srgbClr val="20252A"/>
                </a:solidFill>
              </a:rPr>
              <a:t>Value: transparency and impact analysis</a:t>
            </a:r>
          </a:p>
          <a:p>
            <a:pPr algn="l">
              <a:spcAft>
                <a:spcPts val="1000"/>
              </a:spcAft>
            </a:pPr>
            <a:r>
              <a:rPr sz="1700">
                <a:solidFill>
                  <a:srgbClr val="20252A"/>
                </a:solidFill>
              </a:rPr>
              <a:t>Limits: a snapshot, no quantities</a:t>
            </a:r>
          </a:p>
        </p:txBody>
      </p:sp>
      <p:sp>
        <p:nvSpPr>
          <p:cNvPr id="7" name="Rectangle 6"/>
          <p:cNvSpPr/>
          <p:nvPr/>
        </p:nvSpPr>
        <p:spPr>
          <a:xfrm>
            <a:off x="5102352" y="1861468"/>
            <a:ext cx="3785615" cy="2586422"/>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bstract_full.png"/>
          <p:cNvPicPr>
            <a:picLocks noChangeAspect="1"/>
          </p:cNvPicPr>
          <p:nvPr/>
        </p:nvPicPr>
        <p:blipFill>
          <a:blip r:embed="rId2"/>
          <a:stretch>
            <a:fillRect/>
          </a:stretch>
        </p:blipFill>
        <p:spPr>
          <a:xfrm>
            <a:off x="5120640" y="1879756"/>
            <a:ext cx="3749039" cy="2549846"/>
          </a:xfrm>
          <a:prstGeom prst="rect">
            <a:avLst/>
          </a:prstGeom>
        </p:spPr>
      </p:pic>
      <p:sp>
        <p:nvSpPr>
          <p:cNvPr id="9" name="TextBox 8"/>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10" name="TextBox 9"/>
          <p:cNvSpPr txBox="1"/>
          <p:nvPr/>
        </p:nvSpPr>
        <p:spPr>
          <a:xfrm>
            <a:off x="8321040" y="4864608"/>
            <a:ext cx="548640" cy="237744"/>
          </a:xfrm>
          <a:prstGeom prst="rect">
            <a:avLst/>
          </a:prstGeom>
          <a:noFill/>
        </p:spPr>
        <p:txBody>
          <a:bodyPr wrap="none">
            <a:spAutoFit/>
          </a:bodyPr>
          <a:lstStyle/>
          <a:p>
            <a:pPr algn="r"/>
            <a:r>
              <a:rPr sz="800">
                <a:solidFill>
                  <a:srgbClr val="606060"/>
                </a:solidFil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Detailed · F1 Reservation &amp; Check-In · 86 objects · 160 connections</a:t>
            </a:r>
          </a:p>
        </p:txBody>
      </p:sp>
      <p:sp>
        <p:nvSpPr>
          <p:cNvPr id="4" name="Title 3"/>
          <p:cNvSpPr>
            <a:spLocks noGrp="1"/>
          </p:cNvSpPr>
          <p:nvPr>
            <p:ph type="title"/>
          </p:nvPr>
        </p:nvSpPr>
        <p:spPr/>
        <p:txBody>
          <a:bodyPr/>
          <a:lstStyle/>
          <a:p>
            <a:r>
              <a:t>Backup: Detailed View, Complete</a:t>
            </a:r>
          </a:p>
        </p:txBody>
      </p:sp>
      <p:sp>
        <p:nvSpPr>
          <p:cNvPr id="5" name="Text Placeholder 4"/>
          <p:cNvSpPr>
            <a:spLocks noGrp="1"/>
          </p:cNvSpPr>
          <p:nvPr>
            <p:ph type="body" idx="14" sz="quarter"/>
          </p:nvPr>
        </p:nvSpPr>
        <p:spPr/>
        <p:txBody>
          <a:bodyPr/>
          <a:lstStyle/>
          <a:p/>
        </p:txBody>
      </p:sp>
      <p:sp>
        <p:nvSpPr>
          <p:cNvPr id="6" name="Rectangle 5"/>
          <p:cNvSpPr/>
          <p:nvPr/>
        </p:nvSpPr>
        <p:spPr>
          <a:xfrm>
            <a:off x="3312768" y="1463040"/>
            <a:ext cx="2701342" cy="3438144"/>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tailed_full.png"/>
          <p:cNvPicPr>
            <a:picLocks noChangeAspect="1"/>
          </p:cNvPicPr>
          <p:nvPr/>
        </p:nvPicPr>
        <p:blipFill>
          <a:blip r:embed="rId2"/>
          <a:stretch>
            <a:fillRect/>
          </a:stretch>
        </p:blipFill>
        <p:spPr>
          <a:xfrm>
            <a:off x="3331056" y="1481328"/>
            <a:ext cx="2664766" cy="3401568"/>
          </a:xfrm>
          <a:prstGeom prst="rect">
            <a:avLst/>
          </a:prstGeom>
        </p:spPr>
      </p:pic>
      <p:sp>
        <p:nvSpPr>
          <p:cNvPr id="8" name="TextBox 7"/>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9" name="TextBox 8"/>
          <p:cNvSpPr txBox="1"/>
          <p:nvPr/>
        </p:nvSpPr>
        <p:spPr>
          <a:xfrm>
            <a:off x="8321040" y="4864608"/>
            <a:ext cx="548640" cy="237744"/>
          </a:xfrm>
          <a:prstGeom prst="rect">
            <a:avLst/>
          </a:prstGeom>
          <a:noFill/>
        </p:spPr>
        <p:txBody>
          <a:bodyPr wrap="none">
            <a:spAutoFit/>
          </a:bodyPr>
          <a:lstStyle/>
          <a:p>
            <a:pPr algn="r"/>
            <a:r>
              <a:rPr sz="800">
                <a:solidFill>
                  <a:srgbClr val="606060"/>
                </a:solidFil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Abstract · ArchiHotel EA · 72 objects · 98 connections</a:t>
            </a:r>
          </a:p>
        </p:txBody>
      </p:sp>
      <p:sp>
        <p:nvSpPr>
          <p:cNvPr id="4" name="Title 3"/>
          <p:cNvSpPr>
            <a:spLocks noGrp="1"/>
          </p:cNvSpPr>
          <p:nvPr>
            <p:ph type="title"/>
          </p:nvPr>
        </p:nvSpPr>
        <p:spPr/>
        <p:txBody>
          <a:bodyPr/>
          <a:lstStyle/>
          <a:p>
            <a:r>
              <a:t>Backup: Abstract View, Complete</a:t>
            </a:r>
          </a:p>
        </p:txBody>
      </p:sp>
      <p:sp>
        <p:nvSpPr>
          <p:cNvPr id="5" name="Text Placeholder 4"/>
          <p:cNvSpPr>
            <a:spLocks noGrp="1"/>
          </p:cNvSpPr>
          <p:nvPr>
            <p:ph type="body" idx="14" sz="quarter"/>
          </p:nvPr>
        </p:nvSpPr>
        <p:spPr/>
        <p:txBody>
          <a:bodyPr/>
          <a:lstStyle/>
          <a:p/>
        </p:txBody>
      </p:sp>
      <p:sp>
        <p:nvSpPr>
          <p:cNvPr id="6" name="Rectangle 5"/>
          <p:cNvSpPr/>
          <p:nvPr/>
        </p:nvSpPr>
        <p:spPr>
          <a:xfrm>
            <a:off x="2053048" y="1463040"/>
            <a:ext cx="5037903" cy="3438144"/>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bstract_full.png"/>
          <p:cNvPicPr>
            <a:picLocks noChangeAspect="1"/>
          </p:cNvPicPr>
          <p:nvPr/>
        </p:nvPicPr>
        <p:blipFill>
          <a:blip r:embed="rId2"/>
          <a:stretch>
            <a:fillRect/>
          </a:stretch>
        </p:blipFill>
        <p:spPr>
          <a:xfrm>
            <a:off x="2071336" y="1481328"/>
            <a:ext cx="5001327" cy="3401568"/>
          </a:xfrm>
          <a:prstGeom prst="rect">
            <a:avLst/>
          </a:prstGeom>
        </p:spPr>
      </p:pic>
      <p:sp>
        <p:nvSpPr>
          <p:cNvPr id="8" name="TextBox 7"/>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9" name="TextBox 8"/>
          <p:cNvSpPr txBox="1"/>
          <p:nvPr/>
        </p:nvSpPr>
        <p:spPr>
          <a:xfrm>
            <a:off x="8321040" y="4864608"/>
            <a:ext cx="548640" cy="237744"/>
          </a:xfrm>
          <a:prstGeom prst="rect">
            <a:avLst/>
          </a:prstGeom>
          <a:noFill/>
        </p:spPr>
        <p:txBody>
          <a:bodyPr wrap="none">
            <a:spAutoFit/>
          </a:bodyPr>
          <a:lstStyle/>
          <a:p>
            <a:pPr algn="r"/>
            <a:r>
              <a:rPr sz="800">
                <a:solidFill>
                  <a:srgbClr val="606060"/>
                </a:solidFil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Backup: Model Facts</a:t>
            </a:r>
          </a:p>
        </p:txBody>
      </p:sp>
      <p:sp>
        <p:nvSpPr>
          <p:cNvPr id="5" name="Text Placeholder 4"/>
          <p:cNvSpPr>
            <a:spLocks noGrp="1"/>
          </p:cNvSpPr>
          <p:nvPr>
            <p:ph type="body" idx="14" sz="quarter"/>
          </p:nvPr>
        </p:nvSpPr>
        <p:spPr/>
        <p:txBody>
          <a:bodyPr/>
          <a:lstStyle/>
          <a:p/>
        </p:txBody>
      </p:sp>
      <p:sp>
        <p:nvSpPr>
          <p:cNvPr id="6" name="Rounded Rectangle 5"/>
          <p:cNvSpPr/>
          <p:nvPr/>
        </p:nvSpPr>
        <p:spPr>
          <a:xfrm>
            <a:off x="411480" y="1554480"/>
            <a:ext cx="4069080" cy="301752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11480" y="1554480"/>
            <a:ext cx="4069080" cy="365760"/>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500">
                <a:solidFill>
                  <a:srgbClr val="FFFFFF"/>
                </a:solidFill>
              </a:rPr>
              <a:t>The model</a:t>
            </a:r>
          </a:p>
        </p:txBody>
      </p:sp>
      <p:sp>
        <p:nvSpPr>
          <p:cNvPr id="8" name="TextBox 7"/>
          <p:cNvSpPr txBox="1"/>
          <p:nvPr/>
        </p:nvSpPr>
        <p:spPr>
          <a:xfrm>
            <a:off x="502920" y="1975104"/>
            <a:ext cx="3886200" cy="2523744"/>
          </a:xfrm>
          <a:prstGeom prst="rect">
            <a:avLst/>
          </a:prstGeom>
          <a:noFill/>
        </p:spPr>
        <p:txBody>
          <a:bodyPr wrap="square">
            <a:spAutoFit/>
          </a:bodyPr>
          <a:lstStyle/>
          <a:p>
            <a:pPr>
              <a:spcAft>
                <a:spcPts val="600"/>
              </a:spcAft>
            </a:pPr>
            <a:r>
              <a:rPr sz="1400">
                <a:solidFill>
                  <a:srgbClr val="20252A"/>
                </a:solidFill>
              </a:rPr>
              <a:t>One .archimate file with two views</a:t>
            </a:r>
          </a:p>
          <a:p>
            <a:pPr>
              <a:spcAft>
                <a:spcPts val="600"/>
              </a:spcAft>
            </a:pPr>
            <a:r>
              <a:rPr sz="1400">
                <a:solidFill>
                  <a:srgbClr val="20252A"/>
                </a:solidFill>
              </a:rPr>
              <a:t>Abstract: 72 objects, 98 connections</a:t>
            </a:r>
          </a:p>
          <a:p>
            <a:pPr>
              <a:spcAft>
                <a:spcPts val="600"/>
              </a:spcAft>
            </a:pPr>
            <a:r>
              <a:rPr sz="1400">
                <a:solidFill>
                  <a:srgbClr val="20252A"/>
                </a:solidFill>
              </a:rPr>
              <a:t>Detailed F1: 86 objects, 160 connections</a:t>
            </a:r>
          </a:p>
          <a:p>
            <a:pPr>
              <a:spcAft>
                <a:spcPts val="600"/>
              </a:spcAft>
            </a:pPr>
            <a:r>
              <a:rPr sz="1400">
                <a:solidFill>
                  <a:srgbClr val="20252A"/>
                </a:solidFill>
              </a:rPr>
              <a:t>Nouns for structure, verbs for behavior</a:t>
            </a:r>
          </a:p>
        </p:txBody>
      </p:sp>
      <p:sp>
        <p:nvSpPr>
          <p:cNvPr id="9" name="Rounded Rectangle 8"/>
          <p:cNvSpPr/>
          <p:nvPr/>
        </p:nvSpPr>
        <p:spPr>
          <a:xfrm>
            <a:off x="4663440" y="1554480"/>
            <a:ext cx="4069080" cy="301752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63440" y="1554480"/>
            <a:ext cx="4069080" cy="365760"/>
          </a:xfrm>
          <a:prstGeom prst="roundRect">
            <a:avLst>
              <a:gd name="adj" fmla="val 50000"/>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500">
                <a:solidFill>
                  <a:srgbClr val="FFFFFF"/>
                </a:solidFill>
              </a:rPr>
              <a:t>Tooling &amp; workflow</a:t>
            </a:r>
          </a:p>
        </p:txBody>
      </p:sp>
      <p:sp>
        <p:nvSpPr>
          <p:cNvPr id="11" name="TextBox 10"/>
          <p:cNvSpPr txBox="1"/>
          <p:nvPr/>
        </p:nvSpPr>
        <p:spPr>
          <a:xfrm>
            <a:off x="4754879" y="1975104"/>
            <a:ext cx="3886200" cy="2523744"/>
          </a:xfrm>
          <a:prstGeom prst="rect">
            <a:avLst/>
          </a:prstGeom>
          <a:noFill/>
        </p:spPr>
        <p:txBody>
          <a:bodyPr wrap="square">
            <a:spAutoFit/>
          </a:bodyPr>
          <a:lstStyle/>
          <a:p>
            <a:pPr>
              <a:spcAft>
                <a:spcPts val="600"/>
              </a:spcAft>
            </a:pPr>
            <a:r>
              <a:rPr sz="1400">
                <a:solidFill>
                  <a:srgbClr val="20252A"/>
                </a:solidFill>
              </a:rPr>
              <a:t>Archi with coArchi, shared GitHub repository</a:t>
            </a:r>
          </a:p>
          <a:p>
            <a:pPr>
              <a:spcAft>
                <a:spcPts val="600"/>
              </a:spcAft>
            </a:pPr>
            <a:r>
              <a:rPr sz="1400">
                <a:solidFill>
                  <a:srgbClr val="20252A"/>
                </a:solidFill>
              </a:rPr>
              <a:t>One layer per person, regular alignment</a:t>
            </a:r>
          </a:p>
          <a:p>
            <a:pPr>
              <a:spcAft>
                <a:spcPts val="600"/>
              </a:spcAft>
            </a:pPr>
            <a:r>
              <a:rPr sz="1400">
                <a:solidFill>
                  <a:srgbClr val="20252A"/>
                </a:solidFill>
              </a:rPr>
              <a:t>Independent model audit before submission</a:t>
            </a:r>
          </a:p>
        </p:txBody>
      </p:sp>
      <p:sp>
        <p:nvSpPr>
          <p:cNvPr id="12" name="TextBox 11"/>
          <p:cNvSpPr txBox="1"/>
          <p:nvPr/>
        </p:nvSpPr>
        <p:spPr>
          <a:xfrm>
            <a:off x="310896" y="4864608"/>
            <a:ext cx="6949440" cy="237744"/>
          </a:xfrm>
          <a:prstGeom prst="rect">
            <a:avLst/>
          </a:prstGeom>
          <a:noFill/>
        </p:spPr>
        <p:txBody>
          <a:bodyPr wrap="none">
            <a:spAutoFit/>
          </a:bodyPr>
          <a:lstStyle/>
          <a:p>
            <a:r>
              <a:rPr sz="800">
                <a:solidFill>
                  <a:srgbClr val="606060"/>
                </a:solidFill>
              </a:rPr>
              <a:t>EAM Case Study ArchiHotel · Group C2F1G4</a:t>
            </a:r>
          </a:p>
        </p:txBody>
      </p:sp>
      <p:sp>
        <p:nvSpPr>
          <p:cNvPr id="13" name="TextBox 12"/>
          <p:cNvSpPr txBox="1"/>
          <p:nvPr/>
        </p:nvSpPr>
        <p:spPr>
          <a:xfrm>
            <a:off x="8321040" y="4864608"/>
            <a:ext cx="548640" cy="237744"/>
          </a:xfrm>
          <a:prstGeom prst="rect">
            <a:avLst/>
          </a:prstGeom>
          <a:noFill/>
        </p:spPr>
        <p:txBody>
          <a:bodyPr wrap="none">
            <a:spAutoFit/>
          </a:bodyPr>
          <a:lstStyle/>
          <a:p>
            <a:pPr algn="r"/>
            <a:r>
              <a:rPr sz="800">
                <a:solidFill>
                  <a:srgbClr val="606060"/>
                </a:solidFill>
              </a:rPr>
              <a:t>16</a:t>
            </a:r>
          </a:p>
        </p:txBody>
      </p:sp>
    </p:spTree>
  </p:cSld>
  <p:clrMapOvr>
    <a:masterClrMapping/>
  </p:clrMapOvr>
</p:sld>
</file>

<file path=ppt/theme/theme1.xml><?xml version="1.0" encoding="utf-8"?>
<a:theme xmlns:a="http://schemas.openxmlformats.org/drawingml/2006/main" name="Titel 1">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F39E7027-915F-7341-A9EA-C8CBFD2E8FA2}"/>
    </a:ext>
  </a:extLst>
</a:theme>
</file>

<file path=ppt/theme/theme2.xml><?xml version="1.0" encoding="utf-8"?>
<a:theme xmlns:a="http://schemas.openxmlformats.org/drawingml/2006/main" name="Title Blan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itel 2">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BD7862EB-E8D6-994B-BBF4-6CC3FFF92DD2}"/>
    </a:ext>
  </a:extLst>
</a:theme>
</file>

<file path=ppt/theme/theme4.xml><?xml version="1.0" encoding="utf-8"?>
<a:theme xmlns:a="http://schemas.openxmlformats.org/drawingml/2006/main" name="Titel 3">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16AD8073-F55B-9144-802C-46456E9E217B}"/>
    </a:ext>
  </a:extLst>
</a:theme>
</file>

<file path=ppt/theme/theme5.xml><?xml version="1.0" encoding="utf-8"?>
<a:theme xmlns:a="http://schemas.openxmlformats.org/drawingml/2006/main" name="Inhalt">
  <a:themeElements>
    <a:clrScheme name="TUM">
      <a:dk1>
        <a:sysClr val="windowText" lastClr="000000"/>
      </a:dk1>
      <a:lt1>
        <a:sysClr val="window" lastClr="FFFFFF"/>
      </a:lt1>
      <a:dk2>
        <a:srgbClr val="003359"/>
      </a:dk2>
      <a:lt2>
        <a:srgbClr val="0065BD"/>
      </a:lt2>
      <a:accent1>
        <a:srgbClr val="005293"/>
      </a:accent1>
      <a:accent2>
        <a:srgbClr val="64A0C8"/>
      </a:accent2>
      <a:accent3>
        <a:srgbClr val="98C6EA"/>
      </a:accent3>
      <a:accent4>
        <a:srgbClr val="A2AD00"/>
      </a:accent4>
      <a:accent5>
        <a:srgbClr val="E37222"/>
      </a:accent5>
      <a:accent6>
        <a:srgbClr val="DAD7CB"/>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741D405E-8307-9B40-9F97-3F5DAC837EF3}"/>
    </a:ext>
  </a:extLst>
</a:theme>
</file>

<file path=ppt/theme/theme6.xml><?xml version="1.0" encoding="utf-8"?>
<a:theme xmlns:a="http://schemas.openxmlformats.org/drawingml/2006/main" name="Kapiteltrenner blau">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4BFAB656-7532-6C41-9541-858AFF7D6765}"/>
    </a:ext>
  </a:extLst>
</a:theme>
</file>

<file path=ppt/theme/theme7.xml><?xml version="1.0" encoding="utf-8"?>
<a:theme xmlns:a="http://schemas.openxmlformats.org/drawingml/2006/main" name="Kapiteltrenner schwarz">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A724F04A-1212-AA4C-B6F1-157BE88DDFD7}"/>
    </a:ext>
  </a:extLst>
</a:theme>
</file>

<file path=ppt/theme/theme8.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TUM_Praesentation_p_v1_16-9 (5)</Template>
  <TotalTime>263</TotalTime>
  <Words>1084</Words>
  <Application>Microsoft Office PowerPoint</Application>
  <PresentationFormat>On-screen Show (16:9)</PresentationFormat>
  <Paragraphs>150</Paragraphs>
  <Slides>27</Slides>
  <Notes>1</Notes>
  <HiddenSlides>0</HiddenSlides>
  <MMClips>0</MMClips>
  <ScaleCrop>false</ScaleCrop>
  <HeadingPairs>
    <vt:vector size="6" baseType="variant">
      <vt:variant>
        <vt:lpstr>Fonts Used</vt:lpstr>
      </vt:variant>
      <vt:variant>
        <vt:i4>5</vt:i4>
      </vt:variant>
      <vt:variant>
        <vt:lpstr>Theme</vt:lpstr>
      </vt:variant>
      <vt:variant>
        <vt:i4>7</vt:i4>
      </vt:variant>
      <vt:variant>
        <vt:lpstr>Slide Titles</vt:lpstr>
      </vt:variant>
      <vt:variant>
        <vt:i4>27</vt:i4>
      </vt:variant>
    </vt:vector>
  </HeadingPairs>
  <TitlesOfParts>
    <vt:vector size="39" baseType="lpstr">
      <vt:lpstr>Arial</vt:lpstr>
      <vt:lpstr>Calibri</vt:lpstr>
      <vt:lpstr>Courier New</vt:lpstr>
      <vt:lpstr>Symbol</vt:lpstr>
      <vt:lpstr>Wingdings</vt:lpstr>
      <vt:lpstr>Titel 1</vt:lpstr>
      <vt:lpstr>Title Blank</vt:lpstr>
      <vt:lpstr>Titel 2</vt:lpstr>
      <vt:lpstr>Titel 3</vt:lpstr>
      <vt:lpstr>Inhalt</vt:lpstr>
      <vt:lpstr>Kapiteltrenner blau</vt:lpstr>
      <vt:lpstr>Kapiteltrenner schwarz</vt:lpstr>
      <vt:lpstr>PowerPoint Presentation</vt:lpstr>
      <vt:lpstr>PowerPoint Presentation</vt:lpstr>
      <vt:lpstr>PowerPoint Presentation</vt:lpstr>
      <vt:lpstr>PowerPoint Presentation</vt:lpstr>
      <vt:lpstr>PowerPoint Presentation</vt:lpstr>
      <vt:lpstr>Title Page</vt:lpstr>
      <vt:lpstr>Contents</vt:lpstr>
      <vt:lpstr>Slide Master</vt:lpstr>
      <vt:lpstr>Gültigkeit der Masterfolien</vt:lpstr>
      <vt:lpstr>Grundlage der Masterfolien</vt:lpstr>
      <vt:lpstr>Schrift</vt:lpstr>
      <vt:lpstr>Farben</vt:lpstr>
      <vt:lpstr>Texte</vt:lpstr>
      <vt:lpstr>Bilder - Allgemein</vt:lpstr>
      <vt:lpstr>Aufzählung</vt:lpstr>
      <vt:lpstr>Bilder</vt:lpstr>
      <vt:lpstr>Bilder</vt:lpstr>
      <vt:lpstr>Bilder</vt:lpstr>
      <vt:lpstr>Bilder</vt:lpstr>
      <vt:lpstr>Bilder</vt:lpstr>
      <vt:lpstr>Nicht formatfüllende Bilder</vt:lpstr>
      <vt:lpstr>Bilder Format füllend - maximale Bildgröße</vt:lpstr>
      <vt:lpstr>Nicht Format füllende Bilder</vt:lpstr>
      <vt:lpstr>Tabelle – Beispiel 1</vt:lpstr>
      <vt:lpstr>Tabelle – Beispiel 2</vt:lpstr>
      <vt:lpstr>Diagramme – Beispiel 1</vt:lpstr>
      <vt:lpstr>Diagramme</vt:lpstr>
    </vt:vector>
  </TitlesOfParts>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Wei Tian</dc:creator>
  <cp:lastModifiedBy>Wei Tian</cp:lastModifiedBy>
  <cp:revision>10</cp:revision>
  <cp:lastPrinted>2015-07-30T14:04:45Z</cp:lastPrinted>
  <dcterms:created xsi:type="dcterms:W3CDTF">2020-10-03T23:03:33Z</dcterms:created>
  <dcterms:modified xsi:type="dcterms:W3CDTF">2022-10-26T18:06:39Z</dcterms:modified>
</cp:coreProperties>
</file>