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Katrin (opening).  ~20s.</a:t>
            </a:r>
          </a:p>
          <a:p>
            <a:r>
              <a:t>Good afternoon. We are Team C2F1G4 — Katrin, Soyeong and Fiona — and we modelled the enterprise architecture of ArchiHotel, focus area F1: Reservation Handling and Check-In.</a:t>
            </a:r>
          </a:p>
          <a:p>
            <a:r>
              <a:t>Keep this short; move straight into the case.</a:t>
            </a:r>
          </a:p>
          <a:p>
            <a:r>
              <a:t>VERIFY before submission: that Heilbronn / room C.0.44 is correct; swap the 'TUM' text for the official TUM logo from portal.mytum.de/corporatedesign.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Katrin.  ~1 min.</a:t>
            </a:r>
          </a:p>
          <a:p>
            <a:r>
              <a:t>Set the scene before any model. ArchiHotel sells 'invisible luxury' — the guest experience feels effortless because the back-of-house is already in sync before arrival.</a:t>
            </a:r>
          </a:p>
          <a:p>
            <a:r>
              <a:t>The key point that motivates an EA model: every department owns a different slice of the guest journey, but they all depend on the SAME data — reservations, open costs, the arrival schedule. That shared data all lives in one place: the Hotel Management System, the HMS.</a:t>
            </a:r>
          </a:p>
          <a:p>
            <a:r>
              <a:t>Then name our scope: of the three focus areas, we took F1 — Reservation Handling and Check-In — the guest's pre-arrival to arrival journey. Hand over to the abstract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Katrin.  ~1.5 min.</a:t>
            </a:r>
          </a:p>
          <a:p>
            <a:r>
              <a:t>Tell the audience explicitly: this is an overview, you are NOT meant to read every element — that is the point of an abstract view.</a:t>
            </a:r>
          </a:p>
          <a:p>
            <a:r>
              <a:t>Walk the three layers top-to-bottom: business roles and services (yellow), the application systems (blue), the technology nodes and networks (green). Point at the HMS in the middle — it realises the application services that every guest-facing process consumes, and it is hosted on the AWS Cloud Server. That central convergence is the headline of the whole architecture.</a:t>
            </a:r>
          </a:p>
          <a:p>
            <a:r>
              <a:t>Close by pointing at the left-hand cluster — Guest, Web Booking, Reservation, Check-In — 'this F1 region is what we zoom into next.' Hand to Soyeong.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Soyeong.  ~1 min.</a:t>
            </a:r>
          </a:p>
          <a:p>
            <a:r>
              <a:t>This is the bridge slide (Approach 2: abstract → detailed). The same abstract view, but everything outside F1 is greyed out so the audience's eye lands on the highlighted region.</a:t>
            </a:r>
          </a:p>
          <a:p>
            <a:r>
              <a:t>Trace the F1 story in one breath: a guest books — through our website or an external platform — the HMS checks availability and prices it, reserves the room, payment goes through an external provider, special requests are captured, the reservation drops into the arrival schedule and the daily briefing, and at arrival the receptionist checks the guest in and issues a key card.</a:t>
            </a:r>
          </a:p>
          <a:p>
            <a:r>
              <a:t>Then: 'let's see how this works on each layer' → business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Soyeong.  ~2 min.</a:t>
            </a:r>
          </a:p>
          <a:p>
            <a:r>
              <a:t>Now the detail. Emphasise the contrast with the abstract view: there we had one 'Handle Reservation' process; here it is broken into concrete steps — submit request, verify room availability, calculate price, confirm and allocate room, process payment, submit special request, add to arrival schedule.</a:t>
            </a:r>
          </a:p>
          <a:p>
            <a:r>
              <a:t>Use the highlight: business elements are vivid, the application layer is greyed. Point along the process flow left-to-right, then down to the business objects each step reads or writes (Reservation, Room Availability, Open Costs...). Mention the second cluster — the receptionist's check-in: identify reservation, verify guest identity, issue and configure the key card.</a:t>
            </a:r>
          </a:p>
          <a:p>
            <a:r>
              <a:t>Then: 'how is this supported by our systems?' → application layer.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Soyeong (or hand to Fiona here).  ~2 min.</a:t>
            </a:r>
          </a:p>
          <a:p>
            <a:r>
              <a:t>The detailed view shows the INTERNAL structure of the applications — that is exactly what the abstract view hid. Point at the HMS in the centre: it is decomposed into application functions — check room availability, calculate pricing, reserve room, process payment, issue key card, assign access rights.</a:t>
            </a:r>
          </a:p>
          <a:p>
            <a:r>
              <a:t>Note the things that only appear at detailed level: explicit application interfaces (Web Interface, Booking Platform Interface, Payment gateway) and data objects (Room Availability Data, Room Status, Guest Profile). Each application service realises a business process from the previous slide — that is the cross-layer link.</a:t>
            </a:r>
          </a:p>
          <a:p>
            <a:r>
              <a:t>Then move to the technology that runs all this → technology layer.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Fiona.  ~1.5 min.</a:t>
            </a:r>
          </a:p>
          <a:p>
            <a:r>
              <a:t>STATUS: the technology layer is not yet modelled — this slide is a placeholder. Once it is built in Archi, re-run the renderer and the real diagram replaces the red box.</a:t>
            </a:r>
          </a:p>
          <a:p>
            <a:r>
              <a:t>When presenting: the whole thing runs on the AWS Cloud Server. The receptionist works from a workstation — PC, phone and payment terminal — connected over the hotel Wi-Fi, which keeps reservations, open costs and room status in real-time sync. Staff carry Android phones running the Staff Portal, synced daily over Wi-Fi. External booking and payment reach the HMS over the Internet. The detailed view models these communication paths explicitly — that is required at detailed level, unlike the abstract 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Fiona.  ~2 min — answer the four reflection questions.</a:t>
            </a:r>
          </a:p>
          <a:p>
            <a:r>
              <a:t>VALUE (how does it help the business): the model makes the HMS's central role visible, so change becomes a concrete question — swap the payment provider and you can point to the single Serving link that has to be re-bound. It also turns department-private terms into one shared vocabulary.</a:t>
            </a:r>
          </a:p>
          <a:p>
            <a:r>
              <a:t>LIMITATIONS + MISSING INFO (two of the questions): it is an as-is snapshot with no update mechanism; some abstractions are lossy; and the source material has no motivation layer (no goals/drivers), no SLAs for the AWS single point of failure, and no statement of who owns which data.</a:t>
            </a:r>
          </a:p>
          <a:p>
            <a:r>
              <a:t>CHALLENGES: L06 (behaviour elements) was taught after we built the model, so some Service-vs-Function calls were judgement; constant abstraction trade-offs; and Archi tooling quirks.</a:t>
            </a:r>
          </a:p>
          <a:p>
            <a:r>
              <a:t>Be ready: examiners question every member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Fiona (close), then all three take questions.  ~45s.</a:t>
            </a:r>
          </a:p>
          <a:p>
            <a:r>
              <a:t>Recap in three sentences: we modelled Reservation &amp; Check-In across all three layers, all converging on the HMS; we moved from an abstract whole-architecture view to a detailed F1 view with concrete steps, application structure and explicit communication; the value is a shared vocabulary and change visibility, the main limitation is that it is an as-is model with no motivation layer.</a:t>
            </a:r>
          </a:p>
          <a:p>
            <a:r>
              <a:t>KEEP THIS SLIDE UP during Q&amp;A — it is the reference for discussion. Examiners will ask each of us a question, so all three stay at the front. Possible backup topics: the multi-realisation Online Booking Service, the In-Room Equipment abstraction, why we chose Approach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54335" y="320040"/>
            <a:ext cx="1508760" cy="548640"/>
          </a:xfrm>
          <a:prstGeom prst="rect">
            <a:avLst/>
          </a:prstGeom>
          <a:noFill/>
        </p:spPr>
        <p:txBody>
          <a:bodyPr wrap="square" anchor="t" lIns="25400" rIns="25400" tIns="25400" bIns="25400">
            <a:spAutoFit/>
          </a:bodyPr>
          <a:lstStyle/>
          <a:p>
            <a:pPr algn="r"/>
            <a:r>
              <a:rPr sz="3000" b="1" i="0">
                <a:solidFill>
                  <a:srgbClr val="0065BD"/>
                </a:solidFill>
                <a:latin typeface="Arial"/>
              </a:rPr>
              <a:t>TUM</a:t>
            </a:r>
          </a:p>
        </p:txBody>
      </p:sp>
      <p:sp>
        <p:nvSpPr>
          <p:cNvPr id="5" name="TextBox 4"/>
          <p:cNvSpPr txBox="1"/>
          <p:nvPr/>
        </p:nvSpPr>
        <p:spPr>
          <a:xfrm>
            <a:off x="822960" y="1737360"/>
            <a:ext cx="10515600" cy="2011680"/>
          </a:xfrm>
          <a:prstGeom prst="rect">
            <a:avLst/>
          </a:prstGeom>
          <a:noFill/>
        </p:spPr>
        <p:txBody>
          <a:bodyPr wrap="square" anchor="t" lIns="25400" rIns="25400" tIns="25400" bIns="25400">
            <a:spAutoFit/>
          </a:bodyPr>
          <a:lstStyle/>
          <a:p>
            <a:pPr algn="l">
              <a:spcAft>
                <a:spcPts val="600"/>
              </a:spcAft>
            </a:pPr>
            <a:r>
              <a:rPr sz="4000" b="1" i="0">
                <a:solidFill>
                  <a:srgbClr val="0065BD"/>
                </a:solidFill>
                <a:latin typeface="Arial"/>
              </a:rPr>
              <a:t>ArchiHotel — Reservation Handling &amp; Check-In</a:t>
            </a:r>
          </a:p>
          <a:p>
            <a:pPr algn="l"/>
            <a:r>
              <a:rPr sz="2000" b="0" i="1">
                <a:solidFill>
                  <a:srgbClr val="6A737B"/>
                </a:solidFill>
                <a:latin typeface="Arial"/>
              </a:rPr>
              <a:t>Enterprise Architecture of Invisible Luxury</a:t>
            </a:r>
          </a:p>
        </p:txBody>
      </p:sp>
      <p:sp>
        <p:nvSpPr>
          <p:cNvPr id="6" name="TextBox 5"/>
          <p:cNvSpPr txBox="1"/>
          <p:nvPr/>
        </p:nvSpPr>
        <p:spPr>
          <a:xfrm>
            <a:off x="822960" y="4114800"/>
            <a:ext cx="10515600" cy="2194560"/>
          </a:xfrm>
          <a:prstGeom prst="rect">
            <a:avLst/>
          </a:prstGeom>
          <a:noFill/>
        </p:spPr>
        <p:txBody>
          <a:bodyPr wrap="square" anchor="t" lIns="25400" rIns="25400" tIns="25400" bIns="25400">
            <a:spAutoFit/>
          </a:bodyPr>
          <a:lstStyle/>
          <a:p>
            <a:pPr algn="l">
              <a:spcAft>
                <a:spcPts val="1000"/>
              </a:spcAft>
            </a:pPr>
            <a:r>
              <a:rPr sz="1800" b="1" i="0">
                <a:solidFill>
                  <a:srgbClr val="20252A"/>
                </a:solidFill>
                <a:latin typeface="Arial"/>
              </a:rPr>
              <a:t>Team C2F1G4   ·   Katrin Schwab · Soyeong Jeong · Fiona Aurelia</a:t>
            </a:r>
          </a:p>
          <a:p>
            <a:pPr algn="l">
              <a:spcAft>
                <a:spcPts val="200"/>
              </a:spcAft>
            </a:pPr>
            <a:r>
              <a:rPr sz="1500" b="0" i="0">
                <a:solidFill>
                  <a:srgbClr val="6A737B"/>
                </a:solidFill>
                <a:latin typeface="Arial"/>
              </a:rPr>
              <a:t>Technical University of Munich — School of Computation, Information and Technology</a:t>
            </a:r>
          </a:p>
          <a:p>
            <a:pPr algn="l">
              <a:spcAft>
                <a:spcPts val="200"/>
              </a:spcAft>
            </a:pPr>
            <a:r>
              <a:rPr sz="1500" b="0" i="0">
                <a:solidFill>
                  <a:srgbClr val="6A737B"/>
                </a:solidFill>
                <a:latin typeface="Arial"/>
              </a:rPr>
              <a:t>Information Systems  ·  EAM and Reference Models — Case Study Final Presentation</a:t>
            </a:r>
          </a:p>
          <a:p>
            <a:pPr algn="l"/>
            <a:r>
              <a:rPr sz="1500" b="0" i="0">
                <a:solidFill>
                  <a:srgbClr val="6A737B"/>
                </a:solidFill>
                <a:latin typeface="Arial"/>
              </a:rPr>
              <a:t>Heilbronn · 06.07.2026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Introduction: The ArchiHotel Case</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2</a:t>
            </a:r>
          </a:p>
        </p:txBody>
      </p:sp>
      <p:sp>
        <p:nvSpPr>
          <p:cNvPr id="8" name="TextBox 7"/>
          <p:cNvSpPr txBox="1"/>
          <p:nvPr/>
        </p:nvSpPr>
        <p:spPr>
          <a:xfrm>
            <a:off x="548640" y="1508760"/>
            <a:ext cx="11155680" cy="475488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ArchiHotel — a luxury hotel group: “where luxury feels effortless”</a:t>
            </a:r>
          </a:p>
          <a:p>
            <a:pPr algn="l">
              <a:spcAft>
                <a:spcPts val="700"/>
              </a:spcAft>
            </a:pPr>
            <a:r>
              <a:rPr sz="1800" b="1" i="0">
                <a:solidFill>
                  <a:srgbClr val="0065BD"/>
                </a:solidFill>
                <a:latin typeface="Arial"/>
              </a:rPr>
              <a:t>▪  </a:t>
            </a:r>
            <a:r>
              <a:rPr sz="1800" b="0" i="0">
                <a:solidFill>
                  <a:srgbClr val="20252A"/>
                </a:solidFill>
                <a:latin typeface="Arial"/>
              </a:rPr>
              <a:t>People, systems and spaces are aligned before the guest ever notices</a:t>
            </a:r>
          </a:p>
          <a:p>
            <a:pPr algn="l">
              <a:spcAft>
                <a:spcPts val="700"/>
              </a:spcAft>
            </a:pPr>
            <a:r>
              <a:rPr sz="1800" b="1" i="0">
                <a:solidFill>
                  <a:srgbClr val="0065BD"/>
                </a:solidFill>
                <a:latin typeface="Arial"/>
              </a:rPr>
              <a:t>▪  </a:t>
            </a:r>
            <a:r>
              <a:rPr sz="1800" b="0" i="0">
                <a:solidFill>
                  <a:srgbClr val="20252A"/>
                </a:solidFill>
                <a:latin typeface="Arial"/>
              </a:rPr>
              <a:t>Every department works from the same shared data:</a:t>
            </a:r>
          </a:p>
          <a:p>
            <a:pPr algn="l" lvl="1">
              <a:spcAft>
                <a:spcPts val="400"/>
              </a:spcAft>
            </a:pPr>
            <a:r>
              <a:rPr sz="1600" b="0" i="0">
                <a:solidFill>
                  <a:srgbClr val="64A0C8"/>
                </a:solidFill>
                <a:latin typeface="Arial"/>
              </a:rPr>
              <a:t>–  </a:t>
            </a:r>
            <a:r>
              <a:rPr sz="1600" b="0" i="0">
                <a:solidFill>
                  <a:srgbClr val="20252A"/>
                </a:solidFill>
                <a:latin typeface="Arial"/>
              </a:rPr>
              <a:t>Reception → Reservations, Open Costs</a:t>
            </a:r>
          </a:p>
          <a:p>
            <a:pPr algn="l" lvl="1">
              <a:spcAft>
                <a:spcPts val="400"/>
              </a:spcAft>
            </a:pPr>
            <a:r>
              <a:rPr sz="1600" b="0" i="0">
                <a:solidFill>
                  <a:srgbClr val="64A0C8"/>
                </a:solidFill>
                <a:latin typeface="Arial"/>
              </a:rPr>
              <a:t>–  </a:t>
            </a:r>
            <a:r>
              <a:rPr sz="1600" b="0" i="0">
                <a:solidFill>
                  <a:srgbClr val="20252A"/>
                </a:solidFill>
                <a:latin typeface="Arial"/>
              </a:rPr>
              <a:t>Housekeeping → Arrival Schedule, room status</a:t>
            </a:r>
          </a:p>
          <a:p>
            <a:pPr algn="l" lvl="1">
              <a:spcAft>
                <a:spcPts val="400"/>
              </a:spcAft>
            </a:pPr>
            <a:r>
              <a:rPr sz="1600" b="0" i="0">
                <a:solidFill>
                  <a:srgbClr val="64A0C8"/>
                </a:solidFill>
                <a:latin typeface="Arial"/>
              </a:rPr>
              <a:t>–  </a:t>
            </a:r>
            <a:r>
              <a:rPr sz="1600" b="0" i="0">
                <a:solidFill>
                  <a:srgbClr val="20252A"/>
                </a:solidFill>
                <a:latin typeface="Arial"/>
              </a:rPr>
              <a:t>Concierge → Transfers, VIPs, Special Requests</a:t>
            </a:r>
          </a:p>
          <a:p>
            <a:pPr algn="l" lvl="1">
              <a:spcAft>
                <a:spcPts val="400"/>
              </a:spcAft>
            </a:pPr>
            <a:r>
              <a:rPr sz="1600" b="0" i="0">
                <a:solidFill>
                  <a:srgbClr val="64A0C8"/>
                </a:solidFill>
                <a:latin typeface="Arial"/>
              </a:rPr>
              <a:t>–  </a:t>
            </a:r>
            <a:r>
              <a:rPr sz="1600" b="0" i="0">
                <a:solidFill>
                  <a:srgbClr val="20252A"/>
                </a:solidFill>
                <a:latin typeface="Arial"/>
              </a:rPr>
              <a:t>Operational leads → a complete view of the day</a:t>
            </a:r>
          </a:p>
          <a:p>
            <a:pPr algn="l">
              <a:spcAft>
                <a:spcPts val="700"/>
              </a:spcAft>
            </a:pPr>
            <a:r>
              <a:rPr sz="1800" b="1" i="0">
                <a:solidFill>
                  <a:srgbClr val="0065BD"/>
                </a:solidFill>
                <a:latin typeface="Arial"/>
              </a:rPr>
              <a:t>▪  </a:t>
            </a:r>
            <a:r>
              <a:rPr sz="1800" b="0" i="0">
                <a:solidFill>
                  <a:srgbClr val="20252A"/>
                </a:solidFill>
                <a:latin typeface="Arial"/>
              </a:rPr>
              <a:t>Everything converges on the Hotel Management System (HMS)</a:t>
            </a:r>
          </a:p>
          <a:p>
            <a:pPr algn="l">
              <a:spcAft>
                <a:spcPts val="700"/>
              </a:spcAft>
            </a:pPr>
            <a:r>
              <a:rPr sz="1800" b="1" i="0">
                <a:solidFill>
                  <a:srgbClr val="0065BD"/>
                </a:solidFill>
                <a:latin typeface="Arial"/>
              </a:rPr>
              <a:t>▪  </a:t>
            </a:r>
            <a:r>
              <a:rPr sz="1800" b="0" i="0">
                <a:solidFill>
                  <a:srgbClr val="20252A"/>
                </a:solidFill>
                <a:latin typeface="Arial"/>
              </a:rPr>
              <a:t>Our focus area — F1: Reservation Handling &amp; Check-In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The Abstract EA Model</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3</a:t>
            </a:r>
          </a:p>
        </p:txBody>
      </p:sp>
      <p:sp>
        <p:nvSpPr>
          <p:cNvPr id="8" name="TextBox 7"/>
          <p:cNvSpPr txBox="1"/>
          <p:nvPr/>
        </p:nvSpPr>
        <p:spPr>
          <a:xfrm>
            <a:off x="548640" y="1508760"/>
            <a:ext cx="5212080" cy="475488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The whole architecture at an abstract level</a:t>
            </a:r>
          </a:p>
          <a:p>
            <a:pPr algn="l" lvl="1">
              <a:spcAft>
                <a:spcPts val="400"/>
              </a:spcAft>
            </a:pPr>
            <a:r>
              <a:rPr sz="1600" b="0" i="0">
                <a:solidFill>
                  <a:srgbClr val="64A0C8"/>
                </a:solidFill>
                <a:latin typeface="Arial"/>
              </a:rPr>
              <a:t>–  </a:t>
            </a:r>
            <a:r>
              <a:rPr sz="1600" b="0" i="0">
                <a:solidFill>
                  <a:srgbClr val="20252A"/>
                </a:solidFill>
                <a:latin typeface="Arial"/>
              </a:rPr>
              <a:t>An overview — please don't read every box</a:t>
            </a:r>
          </a:p>
          <a:p>
            <a:pPr algn="l">
              <a:spcAft>
                <a:spcPts val="700"/>
              </a:spcAft>
            </a:pPr>
            <a:r>
              <a:rPr sz="1800" b="1" i="0">
                <a:solidFill>
                  <a:srgbClr val="0065BD"/>
                </a:solidFill>
                <a:latin typeface="Arial"/>
              </a:rPr>
              <a:t>▪  </a:t>
            </a:r>
            <a:r>
              <a:rPr sz="1800" b="0" i="0">
                <a:solidFill>
                  <a:srgbClr val="20252A"/>
                </a:solidFill>
                <a:latin typeface="Arial"/>
              </a:rPr>
              <a:t>HMS sits at the structural centre</a:t>
            </a:r>
          </a:p>
          <a:p>
            <a:pPr algn="l">
              <a:spcAft>
                <a:spcPts val="700"/>
              </a:spcAft>
            </a:pPr>
            <a:r>
              <a:rPr sz="1800" b="1" i="0">
                <a:solidFill>
                  <a:srgbClr val="0065BD"/>
                </a:solidFill>
                <a:latin typeface="Arial"/>
              </a:rPr>
              <a:t>▪  </a:t>
            </a:r>
            <a:r>
              <a:rPr sz="1800" b="0" i="0">
                <a:solidFill>
                  <a:srgbClr val="20252A"/>
                </a:solidFill>
                <a:latin typeface="Arial"/>
              </a:rPr>
              <a:t>AWS Cloud Server hosts the core systems</a:t>
            </a:r>
          </a:p>
          <a:p>
            <a:pPr algn="l">
              <a:spcAft>
                <a:spcPts val="700"/>
              </a:spcAft>
            </a:pPr>
            <a:r>
              <a:rPr sz="1800" b="1" i="0">
                <a:solidFill>
                  <a:srgbClr val="0065BD"/>
                </a:solidFill>
                <a:latin typeface="Arial"/>
              </a:rPr>
              <a:t>▪  </a:t>
            </a:r>
            <a:r>
              <a:rPr sz="1800" b="0" i="0">
                <a:solidFill>
                  <a:srgbClr val="20252A"/>
                </a:solidFill>
                <a:latin typeface="Arial"/>
              </a:rPr>
              <a:t>Three networks: Hotel Wi-Fi, Internet, Telephone</a:t>
            </a:r>
          </a:p>
          <a:p>
            <a:pPr algn="l">
              <a:spcAft>
                <a:spcPts val="700"/>
              </a:spcAft>
            </a:pPr>
            <a:r>
              <a:rPr sz="1800" b="1" i="0">
                <a:solidFill>
                  <a:srgbClr val="0065BD"/>
                </a:solidFill>
                <a:latin typeface="Arial"/>
              </a:rPr>
              <a:t>▪  </a:t>
            </a:r>
            <a:r>
              <a:rPr sz="1800" b="0" i="0">
                <a:solidFill>
                  <a:srgbClr val="20252A"/>
                </a:solidFill>
                <a:latin typeface="Arial"/>
              </a:rPr>
              <a:t>All three layers · 70 elements / 95 relationships</a:t>
            </a:r>
          </a:p>
          <a:p>
            <a:pPr algn="l">
              <a:spcAft>
                <a:spcPts val="700"/>
              </a:spcAft>
            </a:pPr>
            <a:r>
              <a:rPr sz="1800" b="1" i="0">
                <a:solidFill>
                  <a:srgbClr val="0065BD"/>
                </a:solidFill>
                <a:latin typeface="Arial"/>
              </a:rPr>
              <a:t>▪  </a:t>
            </a:r>
            <a:r>
              <a:rPr sz="1800" b="0" i="0">
                <a:solidFill>
                  <a:srgbClr val="20252A"/>
                </a:solidFill>
                <a:latin typeface="Arial"/>
              </a:rPr>
              <a:t>→ We now zoom into the F1 region</a:t>
            </a:r>
          </a:p>
        </p:txBody>
      </p:sp>
      <p:sp>
        <p:nvSpPr>
          <p:cNvPr id="9" name="Rectangle 8"/>
          <p:cNvSpPr/>
          <p:nvPr/>
        </p:nvSpPr>
        <p:spPr>
          <a:xfrm>
            <a:off x="5916168" y="1716291"/>
            <a:ext cx="5907024" cy="4202657"/>
          </a:xfrm>
          <a:prstGeom prst="rect">
            <a:avLst/>
          </a:prstGeom>
          <a:solidFill>
            <a:srgbClr val="FFFFFF"/>
          </a:solidFill>
          <a:ln w="9525">
            <a:solidFill>
              <a:srgbClr val="D0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bstract.png"/>
          <p:cNvPicPr>
            <a:picLocks noChangeAspect="1"/>
          </p:cNvPicPr>
          <p:nvPr/>
        </p:nvPicPr>
        <p:blipFill>
          <a:blip r:embed="rId2"/>
          <a:stretch>
            <a:fillRect/>
          </a:stretch>
        </p:blipFill>
        <p:spPr>
          <a:xfrm>
            <a:off x="5943600" y="1743723"/>
            <a:ext cx="5852160" cy="414779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Focus Area F1: From Abstract to Detailed</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4</a:t>
            </a:r>
          </a:p>
        </p:txBody>
      </p:sp>
      <p:sp>
        <p:nvSpPr>
          <p:cNvPr id="8" name="Rectangle 7"/>
          <p:cNvSpPr/>
          <p:nvPr/>
        </p:nvSpPr>
        <p:spPr>
          <a:xfrm>
            <a:off x="384048" y="1683886"/>
            <a:ext cx="5998464" cy="4267467"/>
          </a:xfrm>
          <a:prstGeom prst="rect">
            <a:avLst/>
          </a:prstGeom>
          <a:solidFill>
            <a:srgbClr val="FFFFFF"/>
          </a:solidFill>
          <a:ln w="9525">
            <a:solidFill>
              <a:srgbClr val="D0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bstract_f1.png"/>
          <p:cNvPicPr>
            <a:picLocks noChangeAspect="1"/>
          </p:cNvPicPr>
          <p:nvPr/>
        </p:nvPicPr>
        <p:blipFill>
          <a:blip r:embed="rId2"/>
          <a:stretch>
            <a:fillRect/>
          </a:stretch>
        </p:blipFill>
        <p:spPr>
          <a:xfrm>
            <a:off x="411480" y="1711318"/>
            <a:ext cx="5943600" cy="4212603"/>
          </a:xfrm>
          <a:prstGeom prst="rect">
            <a:avLst/>
          </a:prstGeom>
        </p:spPr>
      </p:pic>
      <p:sp>
        <p:nvSpPr>
          <p:cNvPr id="10" name="TextBox 9"/>
          <p:cNvSpPr txBox="1"/>
          <p:nvPr/>
        </p:nvSpPr>
        <p:spPr>
          <a:xfrm>
            <a:off x="6583680" y="1508760"/>
            <a:ext cx="5120640" cy="475488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F1 = the guest's pre-arrival → arrival journey</a:t>
            </a:r>
          </a:p>
          <a:p>
            <a:pPr algn="l">
              <a:spcAft>
                <a:spcPts val="700"/>
              </a:spcAft>
            </a:pPr>
            <a:r>
              <a:rPr sz="1800" b="1" i="0">
                <a:solidFill>
                  <a:srgbClr val="0065BD"/>
                </a:solidFill>
                <a:latin typeface="Arial"/>
              </a:rPr>
              <a:t>▪  </a:t>
            </a:r>
            <a:r>
              <a:rPr sz="1800" b="0" i="0">
                <a:solidFill>
                  <a:srgbClr val="20252A"/>
                </a:solidFill>
                <a:latin typeface="Arial"/>
              </a:rPr>
              <a:t>Booking — via the website or an external platform</a:t>
            </a:r>
          </a:p>
          <a:p>
            <a:pPr algn="l">
              <a:spcAft>
                <a:spcPts val="700"/>
              </a:spcAft>
            </a:pPr>
            <a:r>
              <a:rPr sz="1800" b="1" i="0">
                <a:solidFill>
                  <a:srgbClr val="0065BD"/>
                </a:solidFill>
                <a:latin typeface="Arial"/>
              </a:rPr>
              <a:t>▪  </a:t>
            </a:r>
            <a:r>
              <a:rPr sz="1800" b="0" i="0">
                <a:solidFill>
                  <a:srgbClr val="20252A"/>
                </a:solidFill>
                <a:latin typeface="Arial"/>
              </a:rPr>
              <a:t>Availability &amp; pricing → reserve → external payment</a:t>
            </a:r>
          </a:p>
          <a:p>
            <a:pPr algn="l">
              <a:spcAft>
                <a:spcPts val="700"/>
              </a:spcAft>
            </a:pPr>
            <a:r>
              <a:rPr sz="1800" b="1" i="0">
                <a:solidFill>
                  <a:srgbClr val="0065BD"/>
                </a:solidFill>
                <a:latin typeface="Arial"/>
              </a:rPr>
              <a:t>▪  </a:t>
            </a:r>
            <a:r>
              <a:rPr sz="1800" b="0" i="0">
                <a:solidFill>
                  <a:srgbClr val="20252A"/>
                </a:solidFill>
                <a:latin typeface="Arial"/>
              </a:rPr>
              <a:t>Special requests → arrival schedule → daily briefing</a:t>
            </a:r>
          </a:p>
          <a:p>
            <a:pPr algn="l">
              <a:spcAft>
                <a:spcPts val="700"/>
              </a:spcAft>
            </a:pPr>
            <a:r>
              <a:rPr sz="1800" b="1" i="0">
                <a:solidFill>
                  <a:srgbClr val="0065BD"/>
                </a:solidFill>
                <a:latin typeface="Arial"/>
              </a:rPr>
              <a:t>▪  </a:t>
            </a:r>
            <a:r>
              <a:rPr sz="1800" b="0" i="0">
                <a:solidFill>
                  <a:srgbClr val="20252A"/>
                </a:solidFill>
                <a:latin typeface="Arial"/>
              </a:rPr>
              <a:t>Check-in → issue &amp; configure key card</a:t>
            </a:r>
          </a:p>
          <a:p>
            <a:pPr algn="l">
              <a:spcAft>
                <a:spcPts val="700"/>
              </a:spcAft>
            </a:pPr>
            <a:r>
              <a:rPr sz="1800" b="1" i="0">
                <a:solidFill>
                  <a:srgbClr val="0065BD"/>
                </a:solidFill>
                <a:latin typeface="Arial"/>
              </a:rPr>
              <a:t>▪  </a:t>
            </a:r>
            <a:r>
              <a:rPr sz="1800" b="0" i="0">
                <a:solidFill>
                  <a:srgbClr val="20252A"/>
                </a:solidFill>
                <a:latin typeface="Arial"/>
              </a:rPr>
              <a:t>→ Now layer by layer in the detailed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Detailed Model — Business Layer</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5</a:t>
            </a:r>
          </a:p>
        </p:txBody>
      </p:sp>
      <p:sp>
        <p:nvSpPr>
          <p:cNvPr id="8" name="TextBox 7"/>
          <p:cNvSpPr txBox="1"/>
          <p:nvPr/>
        </p:nvSpPr>
        <p:spPr>
          <a:xfrm>
            <a:off x="548640" y="1463040"/>
            <a:ext cx="5120640" cy="484632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Roles: Guest, Receptionist, Hotel Manager,</a:t>
            </a:r>
          </a:p>
          <a:p>
            <a:pPr algn="l" lvl="1">
              <a:spcAft>
                <a:spcPts val="400"/>
              </a:spcAft>
            </a:pPr>
            <a:r>
              <a:rPr sz="1600" b="0" i="0">
                <a:solidFill>
                  <a:srgbClr val="64A0C8"/>
                </a:solidFill>
                <a:latin typeface="Arial"/>
              </a:rPr>
              <a:t>–  </a:t>
            </a:r>
            <a:r>
              <a:rPr sz="1600" b="0" i="0">
                <a:solidFill>
                  <a:srgbClr val="20252A"/>
                </a:solidFill>
                <a:latin typeface="Arial"/>
              </a:rPr>
              <a:t>Heads of Concierge &amp; Housekeeping</a:t>
            </a:r>
          </a:p>
          <a:p>
            <a:pPr algn="l">
              <a:spcAft>
                <a:spcPts val="700"/>
              </a:spcAft>
            </a:pPr>
            <a:r>
              <a:rPr sz="1800" b="1" i="0">
                <a:solidFill>
                  <a:srgbClr val="0065BD"/>
                </a:solidFill>
                <a:latin typeface="Arial"/>
              </a:rPr>
              <a:t>▪  </a:t>
            </a:r>
            <a:r>
              <a:rPr sz="1800" b="0" i="0">
                <a:solidFill>
                  <a:srgbClr val="20252A"/>
                </a:solidFill>
                <a:latin typeface="Arial"/>
              </a:rPr>
              <a:t>Concrete process steps (not one abstract process):</a:t>
            </a:r>
          </a:p>
          <a:p>
            <a:pPr algn="l" lvl="1">
              <a:spcAft>
                <a:spcPts val="400"/>
              </a:spcAft>
            </a:pPr>
            <a:r>
              <a:rPr sz="1600" b="0" i="0">
                <a:solidFill>
                  <a:srgbClr val="64A0C8"/>
                </a:solidFill>
                <a:latin typeface="Arial"/>
              </a:rPr>
              <a:t>–  </a:t>
            </a:r>
            <a:r>
              <a:rPr sz="1600" b="0" i="0">
                <a:solidFill>
                  <a:srgbClr val="20252A"/>
                </a:solidFill>
                <a:latin typeface="Arial"/>
              </a:rPr>
              <a:t>submit request → check availability → price → reserve</a:t>
            </a:r>
          </a:p>
          <a:p>
            <a:pPr algn="l" lvl="1">
              <a:spcAft>
                <a:spcPts val="400"/>
              </a:spcAft>
            </a:pPr>
            <a:r>
              <a:rPr sz="1600" b="0" i="0">
                <a:solidFill>
                  <a:srgbClr val="64A0C8"/>
                </a:solidFill>
                <a:latin typeface="Arial"/>
              </a:rPr>
              <a:t>–  </a:t>
            </a:r>
            <a:r>
              <a:rPr sz="1600" b="0" i="0">
                <a:solidFill>
                  <a:srgbClr val="20252A"/>
                </a:solidFill>
                <a:latin typeface="Arial"/>
              </a:rPr>
              <a:t>external payment → submit special requests</a:t>
            </a:r>
          </a:p>
          <a:p>
            <a:pPr algn="l" lvl="1">
              <a:spcAft>
                <a:spcPts val="400"/>
              </a:spcAft>
            </a:pPr>
            <a:r>
              <a:rPr sz="1600" b="0" i="0">
                <a:solidFill>
                  <a:srgbClr val="64A0C8"/>
                </a:solidFill>
                <a:latin typeface="Arial"/>
              </a:rPr>
              <a:t>–  </a:t>
            </a:r>
            <a:r>
              <a:rPr sz="1600" b="0" i="0">
                <a:solidFill>
                  <a:srgbClr val="20252A"/>
                </a:solidFill>
                <a:latin typeface="Arial"/>
              </a:rPr>
              <a:t>arrival schedule → briefing → check-in → key card</a:t>
            </a:r>
          </a:p>
          <a:p>
            <a:pPr algn="l">
              <a:spcAft>
                <a:spcPts val="700"/>
              </a:spcAft>
            </a:pPr>
            <a:r>
              <a:rPr sz="1800" b="1" i="0">
                <a:solidFill>
                  <a:srgbClr val="0065BD"/>
                </a:solidFill>
                <a:latin typeface="Arial"/>
              </a:rPr>
              <a:t>▪  </a:t>
            </a:r>
            <a:r>
              <a:rPr sz="1800" b="0" i="0">
                <a:solidFill>
                  <a:srgbClr val="20252A"/>
                </a:solidFill>
                <a:latin typeface="Arial"/>
              </a:rPr>
              <a:t>Business objects: Reservation, Room Availability,</a:t>
            </a:r>
          </a:p>
          <a:p>
            <a:pPr algn="l" lvl="1">
              <a:spcAft>
                <a:spcPts val="400"/>
              </a:spcAft>
            </a:pPr>
            <a:r>
              <a:rPr sz="1600" b="0" i="0">
                <a:solidFill>
                  <a:srgbClr val="64A0C8"/>
                </a:solidFill>
                <a:latin typeface="Arial"/>
              </a:rPr>
              <a:t>–  </a:t>
            </a:r>
            <a:r>
              <a:rPr sz="1600" b="0" i="0">
                <a:solidFill>
                  <a:srgbClr val="20252A"/>
                </a:solidFill>
                <a:latin typeface="Arial"/>
              </a:rPr>
              <a:t>Pricing, Open Costs, Special Request, Arrival</a:t>
            </a:r>
          </a:p>
          <a:p>
            <a:pPr algn="l" lvl="1">
              <a:spcAft>
                <a:spcPts val="400"/>
              </a:spcAft>
            </a:pPr>
            <a:r>
              <a:rPr sz="1600" b="0" i="0">
                <a:solidFill>
                  <a:srgbClr val="64A0C8"/>
                </a:solidFill>
                <a:latin typeface="Arial"/>
              </a:rPr>
              <a:t>–  </a:t>
            </a:r>
            <a:r>
              <a:rPr sz="1600" b="0" i="0">
                <a:solidFill>
                  <a:srgbClr val="20252A"/>
                </a:solidFill>
                <a:latin typeface="Arial"/>
              </a:rPr>
              <a:t>Schedule, Briefing Report, Key Card</a:t>
            </a:r>
          </a:p>
        </p:txBody>
      </p:sp>
      <p:sp>
        <p:nvSpPr>
          <p:cNvPr id="9" name="Rectangle 8"/>
          <p:cNvSpPr/>
          <p:nvPr/>
        </p:nvSpPr>
        <p:spPr>
          <a:xfrm>
            <a:off x="6095922" y="1389888"/>
            <a:ext cx="5456075" cy="4855464"/>
          </a:xfrm>
          <a:prstGeom prst="rect">
            <a:avLst/>
          </a:prstGeom>
          <a:solidFill>
            <a:srgbClr val="FFFFFF"/>
          </a:solidFill>
          <a:ln w="9525">
            <a:solidFill>
              <a:srgbClr val="D0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et_business.png"/>
          <p:cNvPicPr>
            <a:picLocks noChangeAspect="1"/>
          </p:cNvPicPr>
          <p:nvPr/>
        </p:nvPicPr>
        <p:blipFill>
          <a:blip r:embed="rId2"/>
          <a:stretch>
            <a:fillRect/>
          </a:stretch>
        </p:blipFill>
        <p:spPr>
          <a:xfrm>
            <a:off x="6123354" y="1417320"/>
            <a:ext cx="5401211" cy="4800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Detailed Model — Application Layer</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6</a:t>
            </a:r>
          </a:p>
        </p:txBody>
      </p:sp>
      <p:sp>
        <p:nvSpPr>
          <p:cNvPr id="8" name="TextBox 7"/>
          <p:cNvSpPr txBox="1"/>
          <p:nvPr/>
        </p:nvSpPr>
        <p:spPr>
          <a:xfrm>
            <a:off x="548640" y="1463040"/>
            <a:ext cx="5120640" cy="484632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HMS is the central application component</a:t>
            </a:r>
          </a:p>
          <a:p>
            <a:pPr algn="l">
              <a:spcAft>
                <a:spcPts val="700"/>
              </a:spcAft>
            </a:pPr>
            <a:r>
              <a:rPr sz="1800" b="1" i="0">
                <a:solidFill>
                  <a:srgbClr val="0065BD"/>
                </a:solidFill>
                <a:latin typeface="Arial"/>
              </a:rPr>
              <a:t>▪  </a:t>
            </a:r>
            <a:r>
              <a:rPr sz="1800" b="0" i="0">
                <a:solidFill>
                  <a:srgbClr val="20252A"/>
                </a:solidFill>
                <a:latin typeface="Arial"/>
              </a:rPr>
              <a:t>Internal functions: availability check, pricing,</a:t>
            </a:r>
          </a:p>
          <a:p>
            <a:pPr algn="l" lvl="1">
              <a:spcAft>
                <a:spcPts val="400"/>
              </a:spcAft>
            </a:pPr>
            <a:r>
              <a:rPr sz="1600" b="0" i="0">
                <a:solidFill>
                  <a:srgbClr val="64A0C8"/>
                </a:solidFill>
                <a:latin typeface="Arial"/>
              </a:rPr>
              <a:t>–  </a:t>
            </a:r>
            <a:r>
              <a:rPr sz="1600" b="0" i="0">
                <a:solidFill>
                  <a:srgbClr val="20252A"/>
                </a:solidFill>
                <a:latin typeface="Arial"/>
              </a:rPr>
              <a:t>reservation mgmt, payment handling,</a:t>
            </a:r>
          </a:p>
          <a:p>
            <a:pPr algn="l" lvl="1">
              <a:spcAft>
                <a:spcPts val="400"/>
              </a:spcAft>
            </a:pPr>
            <a:r>
              <a:rPr sz="1600" b="0" i="0">
                <a:solidFill>
                  <a:srgbClr val="64A0C8"/>
                </a:solidFill>
                <a:latin typeface="Arial"/>
              </a:rPr>
              <a:t>–  </a:t>
            </a:r>
            <a:r>
              <a:rPr sz="1600" b="0" i="0">
                <a:solidFill>
                  <a:srgbClr val="20252A"/>
                </a:solidFill>
                <a:latin typeface="Arial"/>
              </a:rPr>
              <a:t>briefing-report generation, check-in / key-card mgmt</a:t>
            </a:r>
          </a:p>
          <a:p>
            <a:pPr algn="l">
              <a:spcAft>
                <a:spcPts val="700"/>
              </a:spcAft>
            </a:pPr>
            <a:r>
              <a:rPr sz="1800" b="1" i="0">
                <a:solidFill>
                  <a:srgbClr val="0065BD"/>
                </a:solidFill>
                <a:latin typeface="Arial"/>
              </a:rPr>
              <a:t>▪  </a:t>
            </a:r>
            <a:r>
              <a:rPr sz="1800" b="0" i="0">
                <a:solidFill>
                  <a:srgbClr val="20252A"/>
                </a:solidFill>
                <a:latin typeface="Arial"/>
              </a:rPr>
              <a:t>Around it: Web Booking System, External Booking</a:t>
            </a:r>
          </a:p>
          <a:p>
            <a:pPr algn="l" lvl="1">
              <a:spcAft>
                <a:spcPts val="400"/>
              </a:spcAft>
            </a:pPr>
            <a:r>
              <a:rPr sz="1600" b="0" i="0">
                <a:solidFill>
                  <a:srgbClr val="64A0C8"/>
                </a:solidFill>
                <a:latin typeface="Arial"/>
              </a:rPr>
              <a:t>–  </a:t>
            </a:r>
            <a:r>
              <a:rPr sz="1600" b="0" i="0">
                <a:solidFill>
                  <a:srgbClr val="20252A"/>
                </a:solidFill>
                <a:latin typeface="Arial"/>
              </a:rPr>
              <a:t>Platform, External Payment Service, Door Access App</a:t>
            </a:r>
          </a:p>
          <a:p>
            <a:pPr algn="l">
              <a:spcAft>
                <a:spcPts val="700"/>
              </a:spcAft>
            </a:pPr>
            <a:r>
              <a:rPr sz="1800" b="1" i="0">
                <a:solidFill>
                  <a:srgbClr val="0065BD"/>
                </a:solidFill>
                <a:latin typeface="Arial"/>
              </a:rPr>
              <a:t>▪  </a:t>
            </a:r>
            <a:r>
              <a:rPr sz="1800" b="0" i="0">
                <a:solidFill>
                  <a:srgbClr val="20252A"/>
                </a:solidFill>
                <a:latin typeface="Arial"/>
              </a:rPr>
              <a:t>Data objects: Reservation, Room Availability,</a:t>
            </a:r>
          </a:p>
          <a:p>
            <a:pPr algn="l" lvl="1">
              <a:spcAft>
                <a:spcPts val="400"/>
              </a:spcAft>
            </a:pPr>
            <a:r>
              <a:rPr sz="1600" b="0" i="0">
                <a:solidFill>
                  <a:srgbClr val="64A0C8"/>
                </a:solidFill>
                <a:latin typeface="Arial"/>
              </a:rPr>
              <a:t>–  </a:t>
            </a:r>
            <a:r>
              <a:rPr sz="1600" b="0" i="0">
                <a:solidFill>
                  <a:srgbClr val="20252A"/>
                </a:solidFill>
                <a:latin typeface="Arial"/>
              </a:rPr>
              <a:t>Pricing, Guest Profile, Open Costs, Room Status</a:t>
            </a:r>
          </a:p>
          <a:p>
            <a:pPr algn="l">
              <a:spcAft>
                <a:spcPts val="700"/>
              </a:spcAft>
            </a:pPr>
            <a:r>
              <a:rPr sz="1800" b="1" i="0">
                <a:solidFill>
                  <a:srgbClr val="0065BD"/>
                </a:solidFill>
                <a:latin typeface="Arial"/>
              </a:rPr>
              <a:t>▪  </a:t>
            </a:r>
            <a:r>
              <a:rPr sz="1800" b="0" i="0">
                <a:solidFill>
                  <a:srgbClr val="20252A"/>
                </a:solidFill>
                <a:latin typeface="Arial"/>
              </a:rPr>
              <a:t>Interfaces shown explicitly: Web, Booking-Platform,</a:t>
            </a:r>
          </a:p>
          <a:p>
            <a:pPr algn="l" lvl="1">
              <a:spcAft>
                <a:spcPts val="400"/>
              </a:spcAft>
            </a:pPr>
            <a:r>
              <a:rPr sz="1600" b="0" i="0">
                <a:solidFill>
                  <a:srgbClr val="64A0C8"/>
                </a:solidFill>
                <a:latin typeface="Arial"/>
              </a:rPr>
              <a:t>–  </a:t>
            </a:r>
            <a:r>
              <a:rPr sz="1600" b="0" i="0">
                <a:solidFill>
                  <a:srgbClr val="20252A"/>
                </a:solidFill>
                <a:latin typeface="Arial"/>
              </a:rPr>
              <a:t>Payment-Gateway</a:t>
            </a:r>
          </a:p>
        </p:txBody>
      </p:sp>
      <p:sp>
        <p:nvSpPr>
          <p:cNvPr id="9" name="Rectangle 8"/>
          <p:cNvSpPr/>
          <p:nvPr/>
        </p:nvSpPr>
        <p:spPr>
          <a:xfrm>
            <a:off x="5824728" y="2106990"/>
            <a:ext cx="5998464" cy="3421259"/>
          </a:xfrm>
          <a:prstGeom prst="rect">
            <a:avLst/>
          </a:prstGeom>
          <a:solidFill>
            <a:srgbClr val="FFFFFF"/>
          </a:solidFill>
          <a:ln w="9525">
            <a:solidFill>
              <a:srgbClr val="D0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et_application.png"/>
          <p:cNvPicPr>
            <a:picLocks noChangeAspect="1"/>
          </p:cNvPicPr>
          <p:nvPr/>
        </p:nvPicPr>
        <p:blipFill>
          <a:blip r:embed="rId2"/>
          <a:stretch>
            <a:fillRect/>
          </a:stretch>
        </p:blipFill>
        <p:spPr>
          <a:xfrm>
            <a:off x="5852160" y="2134422"/>
            <a:ext cx="5943600" cy="336639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Detailed Model — Technology Layer</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7</a:t>
            </a:r>
          </a:p>
        </p:txBody>
      </p:sp>
      <p:sp>
        <p:nvSpPr>
          <p:cNvPr id="8" name="TextBox 7"/>
          <p:cNvSpPr txBox="1"/>
          <p:nvPr/>
        </p:nvSpPr>
        <p:spPr>
          <a:xfrm>
            <a:off x="548640" y="1508760"/>
            <a:ext cx="6766560" cy="420624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Nodes: AWS Cloud Server (hosts the core systems);</a:t>
            </a:r>
          </a:p>
          <a:p>
            <a:pPr algn="l" lvl="1">
              <a:spcAft>
                <a:spcPts val="400"/>
              </a:spcAft>
            </a:pPr>
            <a:r>
              <a:rPr sz="1600" b="0" i="0">
                <a:solidFill>
                  <a:srgbClr val="64A0C8"/>
                </a:solidFill>
                <a:latin typeface="Arial"/>
              </a:rPr>
              <a:t>–  </a:t>
            </a:r>
            <a:r>
              <a:rPr sz="1600" b="0" i="0">
                <a:solidFill>
                  <a:srgbClr val="20252A"/>
                </a:solidFill>
                <a:latin typeface="Arial"/>
              </a:rPr>
              <a:t>Reception Workstation (PC + phone + payment terminal);</a:t>
            </a:r>
          </a:p>
          <a:p>
            <a:pPr algn="l" lvl="1">
              <a:spcAft>
                <a:spcPts val="400"/>
              </a:spcAft>
            </a:pPr>
            <a:r>
              <a:rPr sz="1600" b="0" i="0">
                <a:solidFill>
                  <a:srgbClr val="64A0C8"/>
                </a:solidFill>
                <a:latin typeface="Arial"/>
              </a:rPr>
              <a:t>–  </a:t>
            </a:r>
            <a:r>
              <a:rPr sz="1600" b="0" i="0">
                <a:solidFill>
                  <a:srgbClr val="20252A"/>
                </a:solidFill>
                <a:latin typeface="Arial"/>
              </a:rPr>
              <a:t>Staff Android smartphones; Key-Card Encoder / Reader</a:t>
            </a:r>
          </a:p>
          <a:p>
            <a:pPr algn="l">
              <a:spcAft>
                <a:spcPts val="700"/>
              </a:spcAft>
            </a:pPr>
            <a:r>
              <a:rPr sz="1800" b="1" i="0">
                <a:solidFill>
                  <a:srgbClr val="0065BD"/>
                </a:solidFill>
                <a:latin typeface="Arial"/>
              </a:rPr>
              <a:t>▪  </a:t>
            </a:r>
            <a:r>
              <a:rPr sz="1800" b="0" i="0">
                <a:solidFill>
                  <a:srgbClr val="20252A"/>
                </a:solidFill>
                <a:latin typeface="Arial"/>
              </a:rPr>
              <a:t>Networks modelled explicitly:</a:t>
            </a:r>
          </a:p>
          <a:p>
            <a:pPr algn="l" lvl="1">
              <a:spcAft>
                <a:spcPts val="400"/>
              </a:spcAft>
            </a:pPr>
            <a:r>
              <a:rPr sz="1600" b="0" i="0">
                <a:solidFill>
                  <a:srgbClr val="64A0C8"/>
                </a:solidFill>
                <a:latin typeface="Arial"/>
              </a:rPr>
              <a:t>–  </a:t>
            </a:r>
            <a:r>
              <a:rPr sz="1600" b="0" i="0">
                <a:solidFill>
                  <a:srgbClr val="20252A"/>
                </a:solidFill>
                <a:latin typeface="Arial"/>
              </a:rPr>
              <a:t>Hotel Wi-Fi — reception sync &amp; Staff Portal daily sync</a:t>
            </a:r>
          </a:p>
          <a:p>
            <a:pPr algn="l" lvl="1">
              <a:spcAft>
                <a:spcPts val="400"/>
              </a:spcAft>
            </a:pPr>
            <a:r>
              <a:rPr sz="1600" b="0" i="0">
                <a:solidFill>
                  <a:srgbClr val="64A0C8"/>
                </a:solidFill>
                <a:latin typeface="Arial"/>
              </a:rPr>
              <a:t>–  </a:t>
            </a:r>
            <a:r>
              <a:rPr sz="1600" b="0" i="0">
                <a:solidFill>
                  <a:srgbClr val="20252A"/>
                </a:solidFill>
                <a:latin typeface="Arial"/>
              </a:rPr>
              <a:t>Internet — external booking, payment, AWS reach</a:t>
            </a:r>
          </a:p>
          <a:p>
            <a:pPr algn="l">
              <a:spcAft>
                <a:spcPts val="700"/>
              </a:spcAft>
            </a:pPr>
            <a:r>
              <a:rPr sz="1800" b="1" i="0">
                <a:solidFill>
                  <a:srgbClr val="0065BD"/>
                </a:solidFill>
                <a:latin typeface="Arial"/>
              </a:rPr>
              <a:t>▪  </a:t>
            </a:r>
            <a:r>
              <a:rPr sz="1800" b="0" i="0">
                <a:solidFill>
                  <a:srgbClr val="20252A"/>
                </a:solidFill>
                <a:latin typeface="Arial"/>
              </a:rPr>
              <a:t>Communication paths shown explicitly:</a:t>
            </a:r>
          </a:p>
          <a:p>
            <a:pPr algn="l" lvl="1">
              <a:spcAft>
                <a:spcPts val="400"/>
              </a:spcAft>
            </a:pPr>
            <a:r>
              <a:rPr sz="1600" b="0" i="0">
                <a:solidFill>
                  <a:srgbClr val="64A0C8"/>
                </a:solidFill>
                <a:latin typeface="Arial"/>
              </a:rPr>
              <a:t>–  </a:t>
            </a:r>
            <a:r>
              <a:rPr sz="1600" b="0" i="0">
                <a:solidFill>
                  <a:srgbClr val="20252A"/>
                </a:solidFill>
                <a:latin typeface="Arial"/>
              </a:rPr>
              <a:t>Reception ↔ HMS (Wi-Fi); HMS ↔ Payment (Internet);</a:t>
            </a:r>
          </a:p>
          <a:p>
            <a:pPr algn="l" lvl="1">
              <a:spcAft>
                <a:spcPts val="400"/>
              </a:spcAft>
            </a:pPr>
            <a:r>
              <a:rPr sz="1600" b="0" i="0">
                <a:solidFill>
                  <a:srgbClr val="64A0C8"/>
                </a:solidFill>
                <a:latin typeface="Arial"/>
              </a:rPr>
              <a:t>–  </a:t>
            </a:r>
            <a:r>
              <a:rPr sz="1600" b="0" i="0">
                <a:solidFill>
                  <a:srgbClr val="20252A"/>
                </a:solidFill>
                <a:latin typeface="Arial"/>
              </a:rPr>
              <a:t>staff phones ↔ HMS (Wi-Fi)</a:t>
            </a:r>
          </a:p>
        </p:txBody>
      </p:sp>
      <p:sp>
        <p:nvSpPr>
          <p:cNvPr id="9" name="Rectangle 8"/>
          <p:cNvSpPr/>
          <p:nvPr/>
        </p:nvSpPr>
        <p:spPr>
          <a:xfrm>
            <a:off x="7680960" y="1554480"/>
            <a:ext cx="4114800" cy="3383280"/>
          </a:xfrm>
          <a:prstGeom prst="rect">
            <a:avLst/>
          </a:prstGeom>
          <a:solidFill>
            <a:srgbClr val="FBF2F2"/>
          </a:solidFill>
          <a:ln w="1270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783080"/>
            <a:ext cx="3657600" cy="2926080"/>
          </a:xfrm>
          <a:prstGeom prst="rect">
            <a:avLst/>
          </a:prstGeom>
          <a:noFill/>
        </p:spPr>
        <p:txBody>
          <a:bodyPr wrap="square" anchor="t" lIns="25400" rIns="25400" tIns="25400" bIns="25400">
            <a:spAutoFit/>
          </a:bodyPr>
          <a:lstStyle/>
          <a:p>
            <a:pPr algn="l">
              <a:spcAft>
                <a:spcPts val="800"/>
              </a:spcAft>
            </a:pPr>
            <a:r>
              <a:rPr sz="1600" b="1" i="0">
                <a:solidFill>
                  <a:srgbClr val="B00000"/>
                </a:solidFill>
                <a:latin typeface="Arial"/>
              </a:rPr>
              <a:t>⚠  To be built in Archi</a:t>
            </a:r>
          </a:p>
          <a:p>
            <a:pPr algn="l"/>
            <a:r>
              <a:rPr sz="1300" b="0" i="0">
                <a:solidFill>
                  <a:srgbClr val="B00000"/>
                </a:solidFill>
                <a:latin typeface="Arial"/>
              </a:rPr>
              <a:t>This layer is not yet in the model. Add the Nodes, Networks and communication paths listed at left, then re-run notes/render_archi.py to drop the real diagram here and into the detailed PDF export.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Reflection</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8</a:t>
            </a:r>
          </a:p>
        </p:txBody>
      </p:sp>
      <p:sp>
        <p:nvSpPr>
          <p:cNvPr id="8" name="Rectangle 7"/>
          <p:cNvSpPr/>
          <p:nvPr/>
        </p:nvSpPr>
        <p:spPr>
          <a:xfrm>
            <a:off x="548640" y="1554480"/>
            <a:ext cx="3566160" cy="5029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54480"/>
            <a:ext cx="3566160" cy="502920"/>
          </a:xfrm>
          <a:prstGeom prst="rect">
            <a:avLst/>
          </a:prstGeom>
          <a:noFill/>
        </p:spPr>
        <p:txBody>
          <a:bodyPr wrap="square" anchor="ctr" lIns="25400" rIns="25400" tIns="25400" bIns="25400">
            <a:spAutoFit/>
          </a:bodyPr>
          <a:lstStyle/>
          <a:p>
            <a:pPr algn="ctr"/>
            <a:r>
              <a:rPr sz="1800" b="1" i="0">
                <a:solidFill>
                  <a:srgbClr val="FFFFFF"/>
                </a:solidFill>
                <a:latin typeface="Arial"/>
              </a:rPr>
              <a:t>Value</a:t>
            </a:r>
          </a:p>
        </p:txBody>
      </p:sp>
      <p:sp>
        <p:nvSpPr>
          <p:cNvPr id="10" name="TextBox 9"/>
          <p:cNvSpPr txBox="1"/>
          <p:nvPr/>
        </p:nvSpPr>
        <p:spPr>
          <a:xfrm>
            <a:off x="548640" y="2194560"/>
            <a:ext cx="3566160" cy="4023360"/>
          </a:xfrm>
          <a:prstGeom prst="rect">
            <a:avLst/>
          </a:prstGeom>
          <a:noFill/>
        </p:spPr>
        <p:txBody>
          <a:bodyPr wrap="square" anchor="t" lIns="25400" rIns="25400" tIns="25400" bIns="25400">
            <a:spAutoFit/>
          </a:bodyPr>
          <a:lstStyle/>
          <a:p>
            <a:pPr algn="l">
              <a:spcAft>
                <a:spcPts val="800"/>
              </a:spcAft>
            </a:pPr>
            <a:r>
              <a:rPr sz="1400" b="1" i="0">
                <a:solidFill>
                  <a:srgbClr val="0065BD"/>
                </a:solidFill>
                <a:latin typeface="Arial"/>
              </a:rPr>
              <a:t>▪  </a:t>
            </a:r>
            <a:r>
              <a:rPr sz="1400" b="0" i="0">
                <a:solidFill>
                  <a:srgbClr val="20252A"/>
                </a:solidFill>
                <a:latin typeface="Arial"/>
              </a:rPr>
              <a:t>HMS is the visible convergence point</a:t>
            </a:r>
          </a:p>
          <a:p>
            <a:pPr algn="l">
              <a:spcAft>
                <a:spcPts val="800"/>
              </a:spcAft>
            </a:pPr>
            <a:r>
              <a:rPr sz="1400" b="1" i="0">
                <a:solidFill>
                  <a:srgbClr val="0065BD"/>
                </a:solidFill>
                <a:latin typeface="Arial"/>
              </a:rPr>
              <a:t>▪  </a:t>
            </a:r>
            <a:r>
              <a:rPr sz="1400" b="0" i="0">
                <a:solidFill>
                  <a:srgbClr val="20252A"/>
                </a:solidFill>
                <a:latin typeface="Arial"/>
              </a:rPr>
              <a:t>Change becomes concrete — “what breaks if we swap the payment provider?” = one re-bound link</a:t>
            </a:r>
          </a:p>
          <a:p>
            <a:pPr algn="l">
              <a:spcAft>
                <a:spcPts val="800"/>
              </a:spcAft>
            </a:pPr>
            <a:r>
              <a:rPr sz="1400" b="1" i="0">
                <a:solidFill>
                  <a:srgbClr val="0065BD"/>
                </a:solidFill>
                <a:latin typeface="Arial"/>
              </a:rPr>
              <a:t>▪  </a:t>
            </a:r>
            <a:r>
              <a:rPr sz="1400" b="0" i="0">
                <a:solidFill>
                  <a:srgbClr val="20252A"/>
                </a:solidFill>
                <a:latin typeface="Arial"/>
              </a:rPr>
              <a:t>Names a shared vocabulary of core objects (Reservation, Open Costs, Arrival Schedule, Briefing Report)</a:t>
            </a:r>
          </a:p>
        </p:txBody>
      </p:sp>
      <p:sp>
        <p:nvSpPr>
          <p:cNvPr id="11" name="Rectangle 10"/>
          <p:cNvSpPr/>
          <p:nvPr/>
        </p:nvSpPr>
        <p:spPr>
          <a:xfrm>
            <a:off x="4434840" y="1554480"/>
            <a:ext cx="3566160" cy="5029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54480"/>
            <a:ext cx="3566160" cy="502920"/>
          </a:xfrm>
          <a:prstGeom prst="rect">
            <a:avLst/>
          </a:prstGeom>
          <a:noFill/>
        </p:spPr>
        <p:txBody>
          <a:bodyPr wrap="square" anchor="ctr" lIns="25400" rIns="25400" tIns="25400" bIns="25400">
            <a:spAutoFit/>
          </a:bodyPr>
          <a:lstStyle/>
          <a:p>
            <a:pPr algn="ctr"/>
            <a:r>
              <a:rPr sz="1800" b="1" i="0">
                <a:solidFill>
                  <a:srgbClr val="FFFFFF"/>
                </a:solidFill>
                <a:latin typeface="Arial"/>
              </a:rPr>
              <a:t>Limitations</a:t>
            </a:r>
          </a:p>
        </p:txBody>
      </p:sp>
      <p:sp>
        <p:nvSpPr>
          <p:cNvPr id="13" name="TextBox 12"/>
          <p:cNvSpPr txBox="1"/>
          <p:nvPr/>
        </p:nvSpPr>
        <p:spPr>
          <a:xfrm>
            <a:off x="4434840" y="2194560"/>
            <a:ext cx="3566160" cy="4023360"/>
          </a:xfrm>
          <a:prstGeom prst="rect">
            <a:avLst/>
          </a:prstGeom>
          <a:noFill/>
        </p:spPr>
        <p:txBody>
          <a:bodyPr wrap="square" anchor="t" lIns="25400" rIns="25400" tIns="25400" bIns="25400">
            <a:spAutoFit/>
          </a:bodyPr>
          <a:lstStyle/>
          <a:p>
            <a:pPr algn="l">
              <a:spcAft>
                <a:spcPts val="800"/>
              </a:spcAft>
            </a:pPr>
            <a:r>
              <a:rPr sz="1400" b="1" i="0">
                <a:solidFill>
                  <a:srgbClr val="0065BD"/>
                </a:solidFill>
                <a:latin typeface="Arial"/>
              </a:rPr>
              <a:t>▪  </a:t>
            </a:r>
            <a:r>
              <a:rPr sz="1400" b="0" i="0">
                <a:solidFill>
                  <a:srgbClr val="20252A"/>
                </a:solidFill>
                <a:latin typeface="Arial"/>
              </a:rPr>
              <a:t>An as-is snapshot — no governance / update mechanism</a:t>
            </a:r>
          </a:p>
          <a:p>
            <a:pPr algn="l">
              <a:spcAft>
                <a:spcPts val="800"/>
              </a:spcAft>
            </a:pPr>
            <a:r>
              <a:rPr sz="1400" b="1" i="0">
                <a:solidFill>
                  <a:srgbClr val="0065BD"/>
                </a:solidFill>
                <a:latin typeface="Arial"/>
              </a:rPr>
              <a:t>▪  </a:t>
            </a:r>
            <a:r>
              <a:rPr sz="1400" b="0" i="0">
                <a:solidFill>
                  <a:srgbClr val="20252A"/>
                </a:solidFill>
                <a:latin typeface="Arial"/>
              </a:rPr>
              <a:t>Lossy abstractions (devices collapsed; Association used for Path)</a:t>
            </a:r>
          </a:p>
          <a:p>
            <a:pPr algn="l">
              <a:spcAft>
                <a:spcPts val="800"/>
              </a:spcAft>
            </a:pPr>
            <a:r>
              <a:rPr sz="1400" b="1" i="0">
                <a:solidFill>
                  <a:srgbClr val="0065BD"/>
                </a:solidFill>
                <a:latin typeface="Arial"/>
              </a:rPr>
              <a:t>▪  </a:t>
            </a:r>
            <a:r>
              <a:rPr sz="1400" b="0" i="0">
                <a:solidFill>
                  <a:srgbClr val="20252A"/>
                </a:solidFill>
                <a:latin typeface="Arial"/>
              </a:rPr>
              <a:t>Material lacks a motivation layer, NFRs/SLAs for the AWS single point of failure, and clear data ownership</a:t>
            </a:r>
          </a:p>
        </p:txBody>
      </p:sp>
      <p:sp>
        <p:nvSpPr>
          <p:cNvPr id="14" name="Rectangle 13"/>
          <p:cNvSpPr/>
          <p:nvPr/>
        </p:nvSpPr>
        <p:spPr>
          <a:xfrm>
            <a:off x="8321040" y="1554480"/>
            <a:ext cx="3566160" cy="5029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54480"/>
            <a:ext cx="3566160" cy="502920"/>
          </a:xfrm>
          <a:prstGeom prst="rect">
            <a:avLst/>
          </a:prstGeom>
          <a:noFill/>
        </p:spPr>
        <p:txBody>
          <a:bodyPr wrap="square" anchor="ctr" lIns="25400" rIns="25400" tIns="25400" bIns="25400">
            <a:spAutoFit/>
          </a:bodyPr>
          <a:lstStyle/>
          <a:p>
            <a:pPr algn="ctr"/>
            <a:r>
              <a:rPr sz="1800" b="1" i="0">
                <a:solidFill>
                  <a:srgbClr val="FFFFFF"/>
                </a:solidFill>
                <a:latin typeface="Arial"/>
              </a:rPr>
              <a:t>Challenges</a:t>
            </a:r>
          </a:p>
        </p:txBody>
      </p:sp>
      <p:sp>
        <p:nvSpPr>
          <p:cNvPr id="16" name="TextBox 15"/>
          <p:cNvSpPr txBox="1"/>
          <p:nvPr/>
        </p:nvSpPr>
        <p:spPr>
          <a:xfrm>
            <a:off x="8321040" y="2194560"/>
            <a:ext cx="3566160" cy="4023360"/>
          </a:xfrm>
          <a:prstGeom prst="rect">
            <a:avLst/>
          </a:prstGeom>
          <a:noFill/>
        </p:spPr>
        <p:txBody>
          <a:bodyPr wrap="square" anchor="t" lIns="25400" rIns="25400" tIns="25400" bIns="25400">
            <a:spAutoFit/>
          </a:bodyPr>
          <a:lstStyle/>
          <a:p>
            <a:pPr algn="l">
              <a:spcAft>
                <a:spcPts val="800"/>
              </a:spcAft>
            </a:pPr>
            <a:r>
              <a:rPr sz="1400" b="1" i="0">
                <a:solidFill>
                  <a:srgbClr val="0065BD"/>
                </a:solidFill>
                <a:latin typeface="Arial"/>
              </a:rPr>
              <a:t>▪  </a:t>
            </a:r>
            <a:r>
              <a:rPr sz="1400" b="0" i="0">
                <a:solidFill>
                  <a:srgbClr val="20252A"/>
                </a:solidFill>
                <a:latin typeface="Arial"/>
              </a:rPr>
              <a:t>Behaviour-element rules (L06) taught after we modelled</a:t>
            </a:r>
          </a:p>
          <a:p>
            <a:pPr algn="l">
              <a:spcAft>
                <a:spcPts val="800"/>
              </a:spcAft>
            </a:pPr>
            <a:r>
              <a:rPr sz="1400" b="1" i="0">
                <a:solidFill>
                  <a:srgbClr val="0065BD"/>
                </a:solidFill>
                <a:latin typeface="Arial"/>
              </a:rPr>
              <a:t>▪  </a:t>
            </a:r>
            <a:r>
              <a:rPr sz="1400" b="0" i="0">
                <a:solidFill>
                  <a:srgbClr val="20252A"/>
                </a:solidFill>
                <a:latin typeface="Arial"/>
              </a:rPr>
              <a:t>Repeated level-of-abstraction trade-offs</a:t>
            </a:r>
          </a:p>
          <a:p>
            <a:pPr algn="l">
              <a:spcAft>
                <a:spcPts val="800"/>
              </a:spcAft>
            </a:pPr>
            <a:r>
              <a:rPr sz="1400" b="1" i="0">
                <a:solidFill>
                  <a:srgbClr val="0065BD"/>
                </a:solidFill>
                <a:latin typeface="Arial"/>
              </a:rPr>
              <a:t>▪  </a:t>
            </a:r>
            <a:r>
              <a:rPr sz="1400" b="0" i="0">
                <a:solidFill>
                  <a:srgbClr val="20252A"/>
                </a:solidFill>
                <a:latin typeface="Arial"/>
              </a:rPr>
              <a:t>Archi tooling quirks + a relationship-convention fix (Composition → Assignment)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37215" y="164592"/>
            <a:ext cx="1325880" cy="457200"/>
          </a:xfrm>
          <a:prstGeom prst="rect">
            <a:avLst/>
          </a:prstGeom>
          <a:noFill/>
        </p:spPr>
        <p:txBody>
          <a:bodyPr wrap="square" anchor="t" lIns="25400" rIns="25400" tIns="25400" bIns="25400">
            <a:spAutoFit/>
          </a:bodyPr>
          <a:lstStyle/>
          <a:p>
            <a:pPr algn="r"/>
            <a:r>
              <a:rPr sz="2600" b="1" i="0">
                <a:solidFill>
                  <a:srgbClr val="0065BD"/>
                </a:solidFill>
                <a:latin typeface="Arial"/>
              </a:rPr>
              <a:t>TUM</a:t>
            </a:r>
          </a:p>
        </p:txBody>
      </p:sp>
      <p:sp>
        <p:nvSpPr>
          <p:cNvPr id="4" name="TextBox 3"/>
          <p:cNvSpPr txBox="1"/>
          <p:nvPr/>
        </p:nvSpPr>
        <p:spPr>
          <a:xfrm>
            <a:off x="502920" y="384048"/>
            <a:ext cx="9997135" cy="868680"/>
          </a:xfrm>
          <a:prstGeom prst="rect">
            <a:avLst/>
          </a:prstGeom>
          <a:noFill/>
        </p:spPr>
        <p:txBody>
          <a:bodyPr wrap="square" anchor="ctr" lIns="25400" rIns="25400" tIns="25400" bIns="25400">
            <a:spAutoFit/>
          </a:bodyPr>
          <a:lstStyle/>
          <a:p>
            <a:pPr algn="l"/>
            <a:r>
              <a:rPr sz="2800" b="1" i="0">
                <a:solidFill>
                  <a:srgbClr val="0065BD"/>
                </a:solidFill>
                <a:latin typeface="Arial"/>
              </a:rPr>
              <a:t>Summary</a:t>
            </a:r>
          </a:p>
        </p:txBody>
      </p:sp>
      <p:sp>
        <p:nvSpPr>
          <p:cNvPr id="5" name="Rectangle 4"/>
          <p:cNvSpPr/>
          <p:nvPr/>
        </p:nvSpPr>
        <p:spPr>
          <a:xfrm>
            <a:off x="521207" y="1207008"/>
            <a:ext cx="11149279" cy="25603"/>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686800" cy="274320"/>
          </a:xfrm>
          <a:prstGeom prst="rect">
            <a:avLst/>
          </a:prstGeom>
          <a:noFill/>
        </p:spPr>
        <p:txBody>
          <a:bodyPr wrap="square" anchor="t" lIns="25400" rIns="25400" tIns="25400" bIns="25400">
            <a:spAutoFit/>
          </a:bodyPr>
          <a:lstStyle/>
          <a:p>
            <a:pPr algn="l"/>
            <a:r>
              <a:rPr sz="900" b="0" i="0">
                <a:solidFill>
                  <a:srgbClr val="6A737B"/>
                </a:solidFill>
                <a:latin typeface="Arial"/>
              </a:rPr>
              <a:t>Schwab · Jeong · Aurelia  |  EAM Case Study — ArchiHotel  |  C2F1G4</a:t>
            </a:r>
          </a:p>
        </p:txBody>
      </p:sp>
      <p:sp>
        <p:nvSpPr>
          <p:cNvPr id="7" name="TextBox 6"/>
          <p:cNvSpPr txBox="1"/>
          <p:nvPr/>
        </p:nvSpPr>
        <p:spPr>
          <a:xfrm>
            <a:off x="11002975" y="6473952"/>
            <a:ext cx="914400" cy="274320"/>
          </a:xfrm>
          <a:prstGeom prst="rect">
            <a:avLst/>
          </a:prstGeom>
          <a:noFill/>
        </p:spPr>
        <p:txBody>
          <a:bodyPr wrap="square" anchor="t" lIns="25400" rIns="25400" tIns="25400" bIns="25400">
            <a:spAutoFit/>
          </a:bodyPr>
          <a:lstStyle/>
          <a:p>
            <a:pPr algn="r"/>
            <a:r>
              <a:rPr sz="900" b="0" i="0">
                <a:solidFill>
                  <a:srgbClr val="6A737B"/>
                </a:solidFill>
                <a:latin typeface="Arial"/>
              </a:rPr>
              <a:t>9</a:t>
            </a:r>
          </a:p>
        </p:txBody>
      </p:sp>
      <p:sp>
        <p:nvSpPr>
          <p:cNvPr id="8" name="TextBox 7"/>
          <p:cNvSpPr txBox="1"/>
          <p:nvPr/>
        </p:nvSpPr>
        <p:spPr>
          <a:xfrm>
            <a:off x="548640" y="1508760"/>
            <a:ext cx="6583680" cy="4389120"/>
          </a:xfrm>
          <a:prstGeom prst="rect">
            <a:avLst/>
          </a:prstGeom>
          <a:noFill/>
        </p:spPr>
        <p:txBody>
          <a:bodyPr wrap="square" anchor="t" lIns="25400" rIns="25400" tIns="25400" bIns="25400">
            <a:spAutoFit/>
          </a:bodyPr>
          <a:lstStyle/>
          <a:p>
            <a:pPr algn="l">
              <a:spcAft>
                <a:spcPts val="700"/>
              </a:spcAft>
            </a:pPr>
            <a:r>
              <a:rPr sz="1800" b="1" i="0">
                <a:solidFill>
                  <a:srgbClr val="0065BD"/>
                </a:solidFill>
                <a:latin typeface="Arial"/>
              </a:rPr>
              <a:t>▪  </a:t>
            </a:r>
            <a:r>
              <a:rPr sz="1800" b="0" i="0">
                <a:solidFill>
                  <a:srgbClr val="20252A"/>
                </a:solidFill>
                <a:latin typeface="Arial"/>
              </a:rPr>
              <a:t>Reservation &amp; Check-In modelled across all three</a:t>
            </a:r>
          </a:p>
          <a:p>
            <a:pPr algn="l" lvl="1">
              <a:spcAft>
                <a:spcPts val="400"/>
              </a:spcAft>
            </a:pPr>
            <a:r>
              <a:rPr sz="1600" b="0" i="0">
                <a:solidFill>
                  <a:srgbClr val="64A0C8"/>
                </a:solidFill>
                <a:latin typeface="Arial"/>
              </a:rPr>
              <a:t>–  </a:t>
            </a:r>
            <a:r>
              <a:rPr sz="1600" b="0" i="0">
                <a:solidFill>
                  <a:srgbClr val="20252A"/>
                </a:solidFill>
                <a:latin typeface="Arial"/>
              </a:rPr>
              <a:t>ArchiMate layers, converging on the HMS</a:t>
            </a:r>
          </a:p>
          <a:p>
            <a:pPr algn="l">
              <a:spcAft>
                <a:spcPts val="700"/>
              </a:spcAft>
            </a:pPr>
            <a:r>
              <a:rPr sz="1800" b="1" i="0">
                <a:solidFill>
                  <a:srgbClr val="0065BD"/>
                </a:solidFill>
                <a:latin typeface="Arial"/>
              </a:rPr>
              <a:t>▪  </a:t>
            </a:r>
            <a:r>
              <a:rPr sz="1800" b="0" i="0">
                <a:solidFill>
                  <a:srgbClr val="20252A"/>
                </a:solidFill>
                <a:latin typeface="Arial"/>
              </a:rPr>
              <a:t>Abstract whole-EA view → detailed F1 view</a:t>
            </a:r>
          </a:p>
          <a:p>
            <a:pPr algn="l" lvl="1">
              <a:spcAft>
                <a:spcPts val="400"/>
              </a:spcAft>
            </a:pPr>
            <a:r>
              <a:rPr sz="1600" b="0" i="0">
                <a:solidFill>
                  <a:srgbClr val="64A0C8"/>
                </a:solidFill>
                <a:latin typeface="Arial"/>
              </a:rPr>
              <a:t>–  </a:t>
            </a:r>
            <a:r>
              <a:rPr sz="1600" b="0" i="0">
                <a:solidFill>
                  <a:srgbClr val="20252A"/>
                </a:solidFill>
                <a:latin typeface="Arial"/>
              </a:rPr>
              <a:t>concrete steps · application structure · explicit</a:t>
            </a:r>
          </a:p>
          <a:p>
            <a:pPr algn="l" lvl="1">
              <a:spcAft>
                <a:spcPts val="400"/>
              </a:spcAft>
            </a:pPr>
            <a:r>
              <a:rPr sz="1600" b="0" i="0">
                <a:solidFill>
                  <a:srgbClr val="64A0C8"/>
                </a:solidFill>
                <a:latin typeface="Arial"/>
              </a:rPr>
              <a:t>–  </a:t>
            </a:r>
            <a:r>
              <a:rPr sz="1600" b="0" i="0">
                <a:solidFill>
                  <a:srgbClr val="20252A"/>
                </a:solidFill>
                <a:latin typeface="Arial"/>
              </a:rPr>
              <a:t>communication</a:t>
            </a:r>
          </a:p>
          <a:p>
            <a:pPr algn="l">
              <a:spcAft>
                <a:spcPts val="700"/>
              </a:spcAft>
            </a:pPr>
            <a:r>
              <a:rPr sz="1800" b="1" i="0">
                <a:solidFill>
                  <a:srgbClr val="0065BD"/>
                </a:solidFill>
                <a:latin typeface="Arial"/>
              </a:rPr>
              <a:t>▪  </a:t>
            </a:r>
            <a:r>
              <a:rPr sz="1800" b="0" i="0">
                <a:solidFill>
                  <a:srgbClr val="20252A"/>
                </a:solidFill>
                <a:latin typeface="Arial"/>
              </a:rPr>
              <a:t>Value: shared vocabulary + change visibility</a:t>
            </a:r>
          </a:p>
          <a:p>
            <a:pPr algn="l">
              <a:spcAft>
                <a:spcPts val="700"/>
              </a:spcAft>
            </a:pPr>
            <a:r>
              <a:rPr sz="1800" b="1" i="0">
                <a:solidFill>
                  <a:srgbClr val="0065BD"/>
                </a:solidFill>
                <a:latin typeface="Arial"/>
              </a:rPr>
              <a:t>▪  </a:t>
            </a:r>
            <a:r>
              <a:rPr sz="1800" b="0" i="0">
                <a:solidFill>
                  <a:srgbClr val="20252A"/>
                </a:solidFill>
                <a:latin typeface="Arial"/>
              </a:rPr>
              <a:t>Limitation: as-is, no motivation layer</a:t>
            </a:r>
          </a:p>
          <a:p>
            <a:pPr algn="l">
              <a:spcAft>
                <a:spcPts val="700"/>
              </a:spcAft>
            </a:pPr>
            <a:r>
              <a:rPr sz="1800" b="1" i="0">
                <a:solidFill>
                  <a:srgbClr val="0065BD"/>
                </a:solidFill>
                <a:latin typeface="Arial"/>
              </a:rPr>
              <a:t>▪  </a:t>
            </a:r>
            <a:r>
              <a:rPr sz="1800" b="0" i="0">
                <a:solidFill>
                  <a:srgbClr val="20252A"/>
                </a:solidFill>
                <a:latin typeface="Arial"/>
              </a:rPr>
              <a:t>Takeaway: EAM is as much teamwork &amp; abstraction</a:t>
            </a:r>
          </a:p>
          <a:p>
            <a:pPr algn="l" lvl="1">
              <a:spcAft>
                <a:spcPts val="400"/>
              </a:spcAft>
            </a:pPr>
            <a:r>
              <a:rPr sz="1600" b="0" i="0">
                <a:solidFill>
                  <a:srgbClr val="64A0C8"/>
                </a:solidFill>
                <a:latin typeface="Arial"/>
              </a:rPr>
              <a:t>–  </a:t>
            </a:r>
            <a:r>
              <a:rPr sz="1600" b="0" i="0">
                <a:solidFill>
                  <a:srgbClr val="20252A"/>
                </a:solidFill>
                <a:latin typeface="Arial"/>
              </a:rPr>
              <a:t>judgment as it is notation</a:t>
            </a:r>
          </a:p>
        </p:txBody>
      </p:sp>
      <p:sp>
        <p:nvSpPr>
          <p:cNvPr id="9" name="Rectangle 8"/>
          <p:cNvSpPr/>
          <p:nvPr/>
        </p:nvSpPr>
        <p:spPr>
          <a:xfrm>
            <a:off x="7287768" y="1768020"/>
            <a:ext cx="4535424" cy="3230518"/>
          </a:xfrm>
          <a:prstGeom prst="rect">
            <a:avLst/>
          </a:prstGeom>
          <a:solidFill>
            <a:srgbClr val="FFFFFF"/>
          </a:solidFill>
          <a:ln w="9525">
            <a:solidFill>
              <a:srgbClr val="D0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bstract.png"/>
          <p:cNvPicPr>
            <a:picLocks noChangeAspect="1"/>
          </p:cNvPicPr>
          <p:nvPr/>
        </p:nvPicPr>
        <p:blipFill>
          <a:blip r:embed="rId2"/>
          <a:stretch>
            <a:fillRect/>
          </a:stretch>
        </p:blipFill>
        <p:spPr>
          <a:xfrm>
            <a:off x="7315200" y="1795452"/>
            <a:ext cx="4480560" cy="3175654"/>
          </a:xfrm>
          <a:prstGeom prst="rect">
            <a:avLst/>
          </a:prstGeom>
        </p:spPr>
      </p:pic>
      <p:sp>
        <p:nvSpPr>
          <p:cNvPr id="11" name="TextBox 10"/>
          <p:cNvSpPr txBox="1"/>
          <p:nvPr/>
        </p:nvSpPr>
        <p:spPr>
          <a:xfrm>
            <a:off x="548640" y="5989320"/>
            <a:ext cx="7315200" cy="457200"/>
          </a:xfrm>
          <a:prstGeom prst="rect">
            <a:avLst/>
          </a:prstGeom>
          <a:noFill/>
        </p:spPr>
        <p:txBody>
          <a:bodyPr wrap="square" anchor="t" lIns="25400" rIns="25400" tIns="25400" bIns="25400">
            <a:spAutoFit/>
          </a:bodyPr>
          <a:lstStyle/>
          <a:p>
            <a:pPr algn="l"/>
            <a:r>
              <a:rPr sz="2000" b="1" i="0">
                <a:solidFill>
                  <a:srgbClr val="0065BD"/>
                </a:solidFill>
                <a:latin typeface="Arial"/>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