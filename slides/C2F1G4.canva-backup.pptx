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Gilda Display" charset="1" panose="02000000000000000000"/>
      <p:regular r:id="rId16"/>
    </p:embeddedFont>
    <p:embeddedFont>
      <p:font typeface="HK Grotesk Bold" charset="1" panose="00000800000000000000"/>
      <p:regular r:id="rId17"/>
    </p:embeddedFont>
    <p:embeddedFont>
      <p:font typeface="HK Grotesk Light" charset="1" panose="00000400000000000000"/>
      <p:regular r:id="rId18"/>
    </p:embeddedFont>
    <p:embeddedFont>
      <p:font typeface="HK Grotesk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11225" y="6787402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8629650" cy="8953500"/>
            <a:chOff x="0" y="0"/>
            <a:chExt cx="1336959" cy="13871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36959" cy="1387131"/>
            </a:xfrm>
            <a:custGeom>
              <a:avLst/>
              <a:gdLst/>
              <a:ahLst/>
              <a:cxnLst/>
              <a:rect r="r" b="b" t="t" l="l"/>
              <a:pathLst>
                <a:path h="1387131" w="1336959">
                  <a:moveTo>
                    <a:pt x="35885" y="0"/>
                  </a:moveTo>
                  <a:lnTo>
                    <a:pt x="1301073" y="0"/>
                  </a:lnTo>
                  <a:cubicBezTo>
                    <a:pt x="1310591" y="0"/>
                    <a:pt x="1319718" y="3781"/>
                    <a:pt x="1326448" y="10511"/>
                  </a:cubicBezTo>
                  <a:cubicBezTo>
                    <a:pt x="1333178" y="17240"/>
                    <a:pt x="1336959" y="26368"/>
                    <a:pt x="1336959" y="35885"/>
                  </a:cubicBezTo>
                  <a:lnTo>
                    <a:pt x="1336959" y="1351246"/>
                  </a:lnTo>
                  <a:cubicBezTo>
                    <a:pt x="1336959" y="1360764"/>
                    <a:pt x="1333178" y="1369891"/>
                    <a:pt x="1326448" y="1376621"/>
                  </a:cubicBezTo>
                  <a:cubicBezTo>
                    <a:pt x="1319718" y="1383351"/>
                    <a:pt x="1310591" y="1387131"/>
                    <a:pt x="1301073" y="1387131"/>
                  </a:cubicBezTo>
                  <a:lnTo>
                    <a:pt x="35885" y="1387131"/>
                  </a:lnTo>
                  <a:cubicBezTo>
                    <a:pt x="26368" y="1387131"/>
                    <a:pt x="17240" y="1383351"/>
                    <a:pt x="10511" y="1376621"/>
                  </a:cubicBezTo>
                  <a:cubicBezTo>
                    <a:pt x="3781" y="1369891"/>
                    <a:pt x="0" y="1360764"/>
                    <a:pt x="0" y="1351246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99" r="0" b="-199"/>
              </a:stretch>
            </a:blipFill>
            <a:ln w="28575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0734675" y="680185"/>
            <a:ext cx="6886575" cy="4972652"/>
            <a:chOff x="0" y="0"/>
            <a:chExt cx="9182100" cy="663020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3482993"/>
              <a:ext cx="9182100" cy="31472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023"/>
                </a:lnSpc>
              </a:pPr>
              <a:r>
                <a:rPr lang="en-US" sz="6023">
                  <a:solidFill>
                    <a:srgbClr val="3070B3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ArchiHotel — Reservation Handling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071668"/>
              <a:ext cx="9182100" cy="19246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880"/>
                </a:lnSpc>
              </a:pPr>
              <a:r>
                <a:rPr lang="en-US" b="true" sz="4200">
                  <a:solidFill>
                    <a:srgbClr val="28282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Enterprise Architecture Management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9182100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  <a:r>
                <a:rPr lang="en-US" sz="2199">
                  <a:solidFill>
                    <a:srgbClr val="282828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06.07.2026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268288">
            <a:off x="14795639" y="5873497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1268288">
            <a:off x="-6005389" y="-6781594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2105025" y="3862388"/>
            <a:ext cx="12639675" cy="2280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3070B3"/>
                </a:solidFill>
                <a:latin typeface="Gilda Display"/>
                <a:ea typeface="Gilda Display"/>
                <a:cs typeface="Gilda Display"/>
                <a:sym typeface="Gilda Display"/>
              </a:rPr>
              <a:t>Introduction to ArchiHotel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945975">
            <a:off x="-7194258" y="4301490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8"/>
                </a:lnTo>
                <a:lnTo>
                  <a:pt x="0" y="102997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7191375" cy="8953500"/>
            <a:chOff x="0" y="0"/>
            <a:chExt cx="1114132" cy="13871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14132" cy="1387131"/>
            </a:xfrm>
            <a:custGeom>
              <a:avLst/>
              <a:gdLst/>
              <a:ahLst/>
              <a:cxnLst/>
              <a:rect r="r" b="b" t="t" l="l"/>
              <a:pathLst>
                <a:path h="1387131" w="1114132">
                  <a:moveTo>
                    <a:pt x="43062" y="0"/>
                  </a:moveTo>
                  <a:lnTo>
                    <a:pt x="1071070" y="0"/>
                  </a:lnTo>
                  <a:cubicBezTo>
                    <a:pt x="1094853" y="0"/>
                    <a:pt x="1114132" y="19280"/>
                    <a:pt x="1114132" y="43062"/>
                  </a:cubicBezTo>
                  <a:lnTo>
                    <a:pt x="1114132" y="1344069"/>
                  </a:lnTo>
                  <a:cubicBezTo>
                    <a:pt x="1114132" y="1367852"/>
                    <a:pt x="1094853" y="1387131"/>
                    <a:pt x="1071070" y="1387131"/>
                  </a:cubicBezTo>
                  <a:lnTo>
                    <a:pt x="43062" y="1387131"/>
                  </a:lnTo>
                  <a:cubicBezTo>
                    <a:pt x="19280" y="1387131"/>
                    <a:pt x="0" y="1367852"/>
                    <a:pt x="0" y="1344069"/>
                  </a:cubicBezTo>
                  <a:lnTo>
                    <a:pt x="0" y="43062"/>
                  </a:lnTo>
                  <a:cubicBezTo>
                    <a:pt x="0" y="19280"/>
                    <a:pt x="19280" y="0"/>
                    <a:pt x="43062" y="0"/>
                  </a:cubicBezTo>
                  <a:close/>
                </a:path>
              </a:pathLst>
            </a:custGeom>
            <a:blipFill>
              <a:blip r:embed="rId4"/>
              <a:stretch>
                <a:fillRect l="-346" t="0" r="-346" b="0"/>
              </a:stretch>
            </a:blipFill>
            <a:ln w="28575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9296400" y="838173"/>
            <a:ext cx="8324850" cy="2280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3070B3"/>
                </a:solidFill>
                <a:latin typeface="Gilda Display"/>
                <a:ea typeface="Gilda Display"/>
                <a:cs typeface="Gilda Display"/>
                <a:sym typeface="Gilda Display"/>
              </a:rPr>
              <a:t>The Abstract EA Model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945975">
            <a:off x="15101778" y="-5016438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8"/>
                </a:lnTo>
                <a:lnTo>
                  <a:pt x="0" y="102997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429875" y="666750"/>
            <a:ext cx="7191375" cy="8953500"/>
            <a:chOff x="0" y="0"/>
            <a:chExt cx="1114132" cy="13871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14132" cy="1387131"/>
            </a:xfrm>
            <a:custGeom>
              <a:avLst/>
              <a:gdLst/>
              <a:ahLst/>
              <a:cxnLst/>
              <a:rect r="r" b="b" t="t" l="l"/>
              <a:pathLst>
                <a:path h="1387131" w="1114132">
                  <a:moveTo>
                    <a:pt x="43062" y="0"/>
                  </a:moveTo>
                  <a:lnTo>
                    <a:pt x="1071070" y="0"/>
                  </a:lnTo>
                  <a:cubicBezTo>
                    <a:pt x="1094853" y="0"/>
                    <a:pt x="1114132" y="19280"/>
                    <a:pt x="1114132" y="43062"/>
                  </a:cubicBezTo>
                  <a:lnTo>
                    <a:pt x="1114132" y="1344069"/>
                  </a:lnTo>
                  <a:cubicBezTo>
                    <a:pt x="1114132" y="1367852"/>
                    <a:pt x="1094853" y="1387131"/>
                    <a:pt x="1071070" y="1387131"/>
                  </a:cubicBezTo>
                  <a:lnTo>
                    <a:pt x="43062" y="1387131"/>
                  </a:lnTo>
                  <a:cubicBezTo>
                    <a:pt x="19280" y="1387131"/>
                    <a:pt x="0" y="1367852"/>
                    <a:pt x="0" y="1344069"/>
                  </a:cubicBezTo>
                  <a:lnTo>
                    <a:pt x="0" y="43062"/>
                  </a:lnTo>
                  <a:cubicBezTo>
                    <a:pt x="0" y="19280"/>
                    <a:pt x="19280" y="0"/>
                    <a:pt x="43062" y="0"/>
                  </a:cubicBezTo>
                  <a:close/>
                </a:path>
              </a:pathLst>
            </a:custGeom>
            <a:blipFill>
              <a:blip r:embed="rId4"/>
              <a:stretch>
                <a:fillRect l="-346" t="0" r="-346" b="0"/>
              </a:stretch>
            </a:blipFill>
            <a:ln w="28575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666750" y="838173"/>
            <a:ext cx="8324850" cy="2280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3070B3"/>
                </a:solidFill>
                <a:latin typeface="Gilda Display"/>
                <a:ea typeface="Gilda Display"/>
                <a:cs typeface="Gilda Display"/>
                <a:sym typeface="Gilda Display"/>
              </a:rPr>
              <a:t>Focus Area F1 Overview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945975">
            <a:off x="-7194258" y="4301490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8"/>
                </a:lnTo>
                <a:lnTo>
                  <a:pt x="0" y="102997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7191375" cy="8953500"/>
            <a:chOff x="0" y="0"/>
            <a:chExt cx="1114132" cy="13871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14132" cy="1387131"/>
            </a:xfrm>
            <a:custGeom>
              <a:avLst/>
              <a:gdLst/>
              <a:ahLst/>
              <a:cxnLst/>
              <a:rect r="r" b="b" t="t" l="l"/>
              <a:pathLst>
                <a:path h="1387131" w="1114132">
                  <a:moveTo>
                    <a:pt x="43062" y="0"/>
                  </a:moveTo>
                  <a:lnTo>
                    <a:pt x="1071070" y="0"/>
                  </a:lnTo>
                  <a:cubicBezTo>
                    <a:pt x="1094853" y="0"/>
                    <a:pt x="1114132" y="19280"/>
                    <a:pt x="1114132" y="43062"/>
                  </a:cubicBezTo>
                  <a:lnTo>
                    <a:pt x="1114132" y="1344069"/>
                  </a:lnTo>
                  <a:cubicBezTo>
                    <a:pt x="1114132" y="1367852"/>
                    <a:pt x="1094853" y="1387131"/>
                    <a:pt x="1071070" y="1387131"/>
                  </a:cubicBezTo>
                  <a:lnTo>
                    <a:pt x="43062" y="1387131"/>
                  </a:lnTo>
                  <a:cubicBezTo>
                    <a:pt x="19280" y="1387131"/>
                    <a:pt x="0" y="1367852"/>
                    <a:pt x="0" y="1344069"/>
                  </a:cubicBezTo>
                  <a:lnTo>
                    <a:pt x="0" y="43062"/>
                  </a:lnTo>
                  <a:cubicBezTo>
                    <a:pt x="0" y="19280"/>
                    <a:pt x="19280" y="0"/>
                    <a:pt x="43062" y="0"/>
                  </a:cubicBezTo>
                  <a:close/>
                </a:path>
              </a:pathLst>
            </a:custGeom>
            <a:blipFill>
              <a:blip r:embed="rId4"/>
              <a:stretch>
                <a:fillRect l="-346" t="0" r="-346" b="0"/>
              </a:stretch>
            </a:blipFill>
            <a:ln w="28575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9296400" y="838173"/>
            <a:ext cx="8324850" cy="2280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3070B3"/>
                </a:solidFill>
                <a:latin typeface="Gilda Display"/>
                <a:ea typeface="Gilda Display"/>
                <a:cs typeface="Gilda Display"/>
                <a:sym typeface="Gilda Display"/>
              </a:rPr>
              <a:t>Business Layer Overview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945975">
            <a:off x="-7194258" y="4301490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8"/>
                </a:lnTo>
                <a:lnTo>
                  <a:pt x="0" y="102997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7191375" cy="8953500"/>
            <a:chOff x="0" y="0"/>
            <a:chExt cx="1114132" cy="13871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14132" cy="1387131"/>
            </a:xfrm>
            <a:custGeom>
              <a:avLst/>
              <a:gdLst/>
              <a:ahLst/>
              <a:cxnLst/>
              <a:rect r="r" b="b" t="t" l="l"/>
              <a:pathLst>
                <a:path h="1387131" w="1114132">
                  <a:moveTo>
                    <a:pt x="43062" y="0"/>
                  </a:moveTo>
                  <a:lnTo>
                    <a:pt x="1071070" y="0"/>
                  </a:lnTo>
                  <a:cubicBezTo>
                    <a:pt x="1094853" y="0"/>
                    <a:pt x="1114132" y="19280"/>
                    <a:pt x="1114132" y="43062"/>
                  </a:cubicBezTo>
                  <a:lnTo>
                    <a:pt x="1114132" y="1344069"/>
                  </a:lnTo>
                  <a:cubicBezTo>
                    <a:pt x="1114132" y="1367852"/>
                    <a:pt x="1094853" y="1387131"/>
                    <a:pt x="1071070" y="1387131"/>
                  </a:cubicBezTo>
                  <a:lnTo>
                    <a:pt x="43062" y="1387131"/>
                  </a:lnTo>
                  <a:cubicBezTo>
                    <a:pt x="19280" y="1387131"/>
                    <a:pt x="0" y="1367852"/>
                    <a:pt x="0" y="1344069"/>
                  </a:cubicBezTo>
                  <a:lnTo>
                    <a:pt x="0" y="43062"/>
                  </a:lnTo>
                  <a:cubicBezTo>
                    <a:pt x="0" y="19280"/>
                    <a:pt x="19280" y="0"/>
                    <a:pt x="43062" y="0"/>
                  </a:cubicBezTo>
                  <a:close/>
                </a:path>
              </a:pathLst>
            </a:custGeom>
            <a:blipFill>
              <a:blip r:embed="rId4"/>
              <a:stretch>
                <a:fillRect l="-346" t="0" r="-346" b="0"/>
              </a:stretch>
            </a:blipFill>
            <a:ln w="28575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9296400" y="838173"/>
            <a:ext cx="8324850" cy="2280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3070B3"/>
                </a:solidFill>
                <a:latin typeface="Gilda Display"/>
                <a:ea typeface="Gilda Display"/>
                <a:cs typeface="Gilda Display"/>
                <a:sym typeface="Gilda Display"/>
              </a:rPr>
              <a:t>Application Layer Overview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945975">
            <a:off x="-7194258" y="4301490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8"/>
                </a:lnTo>
                <a:lnTo>
                  <a:pt x="0" y="102997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7191375" cy="8953500"/>
            <a:chOff x="0" y="0"/>
            <a:chExt cx="1114132" cy="13871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14132" cy="1387131"/>
            </a:xfrm>
            <a:custGeom>
              <a:avLst/>
              <a:gdLst/>
              <a:ahLst/>
              <a:cxnLst/>
              <a:rect r="r" b="b" t="t" l="l"/>
              <a:pathLst>
                <a:path h="1387131" w="1114132">
                  <a:moveTo>
                    <a:pt x="43062" y="0"/>
                  </a:moveTo>
                  <a:lnTo>
                    <a:pt x="1071070" y="0"/>
                  </a:lnTo>
                  <a:cubicBezTo>
                    <a:pt x="1094853" y="0"/>
                    <a:pt x="1114132" y="19280"/>
                    <a:pt x="1114132" y="43062"/>
                  </a:cubicBezTo>
                  <a:lnTo>
                    <a:pt x="1114132" y="1344069"/>
                  </a:lnTo>
                  <a:cubicBezTo>
                    <a:pt x="1114132" y="1367852"/>
                    <a:pt x="1094853" y="1387131"/>
                    <a:pt x="1071070" y="1387131"/>
                  </a:cubicBezTo>
                  <a:lnTo>
                    <a:pt x="43062" y="1387131"/>
                  </a:lnTo>
                  <a:cubicBezTo>
                    <a:pt x="19280" y="1387131"/>
                    <a:pt x="0" y="1367852"/>
                    <a:pt x="0" y="1344069"/>
                  </a:cubicBezTo>
                  <a:lnTo>
                    <a:pt x="0" y="43062"/>
                  </a:lnTo>
                  <a:cubicBezTo>
                    <a:pt x="0" y="19280"/>
                    <a:pt x="19280" y="0"/>
                    <a:pt x="43062" y="0"/>
                  </a:cubicBezTo>
                  <a:close/>
                </a:path>
              </a:pathLst>
            </a:custGeom>
            <a:blipFill>
              <a:blip r:embed="rId4"/>
              <a:stretch>
                <a:fillRect l="-346" t="0" r="-346" b="0"/>
              </a:stretch>
            </a:blipFill>
            <a:ln w="28575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9296400" y="838173"/>
            <a:ext cx="8324850" cy="3395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3070B3"/>
                </a:solidFill>
                <a:latin typeface="Gilda Display"/>
                <a:ea typeface="Gilda Display"/>
                <a:cs typeface="Gilda Display"/>
                <a:sym typeface="Gilda Display"/>
              </a:rPr>
              <a:t>Detailed Model — Technology Layer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05025" y="3002297"/>
            <a:ext cx="12639675" cy="3914808"/>
            <a:chOff x="0" y="0"/>
            <a:chExt cx="16852900" cy="521974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71450"/>
              <a:ext cx="168529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3070B3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Reflection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251244"/>
              <a:ext cx="16852900" cy="196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282828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The </a:t>
              </a:r>
              <a:r>
                <a:rPr lang="en-US" b="true" sz="3000">
                  <a:solidFill>
                    <a:srgbClr val="28282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HMS provides clarity</a:t>
              </a:r>
              <a:r>
                <a:rPr lang="en-US" sz="3000">
                  <a:solidFill>
                    <a:srgbClr val="282828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and shared terminology, yet it lacks governance and motivation layers, highlighting the complexities and trade-offs in Enterprise Architecture Management.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086063"/>
              <a:ext cx="168529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3070B3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Insights on Value, Limitations, and Challenges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268288">
            <a:off x="14795639" y="5873497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070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474064">
            <a:off x="14221481" y="6404997"/>
            <a:ext cx="9086976" cy="8558279"/>
          </a:xfrm>
          <a:custGeom>
            <a:avLst/>
            <a:gdLst/>
            <a:ahLst/>
            <a:cxnLst/>
            <a:rect r="r" b="b" t="t" l="l"/>
            <a:pathLst>
              <a:path h="8558279" w="9086976">
                <a:moveTo>
                  <a:pt x="0" y="0"/>
                </a:moveTo>
                <a:lnTo>
                  <a:pt x="9086976" y="0"/>
                </a:lnTo>
                <a:lnTo>
                  <a:pt x="9086976" y="8558279"/>
                </a:lnTo>
                <a:lnTo>
                  <a:pt x="0" y="85582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4248150"/>
            <a:ext cx="16182975" cy="6038850"/>
            <a:chOff x="0" y="0"/>
            <a:chExt cx="217815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78150" cy="812800"/>
            </a:xfrm>
            <a:custGeom>
              <a:avLst/>
              <a:gdLst/>
              <a:ahLst/>
              <a:cxnLst/>
              <a:rect r="r" b="b" t="t" l="l"/>
              <a:pathLst>
                <a:path h="812800" w="2178150">
                  <a:moveTo>
                    <a:pt x="19136" y="0"/>
                  </a:moveTo>
                  <a:lnTo>
                    <a:pt x="2159014" y="0"/>
                  </a:lnTo>
                  <a:cubicBezTo>
                    <a:pt x="2169583" y="0"/>
                    <a:pt x="2178150" y="8567"/>
                    <a:pt x="2178150" y="19136"/>
                  </a:cubicBezTo>
                  <a:lnTo>
                    <a:pt x="2178150" y="793664"/>
                  </a:lnTo>
                  <a:cubicBezTo>
                    <a:pt x="2178150" y="804233"/>
                    <a:pt x="2169583" y="812800"/>
                    <a:pt x="2159014" y="812800"/>
                  </a:cubicBezTo>
                  <a:lnTo>
                    <a:pt x="19136" y="812800"/>
                  </a:lnTo>
                  <a:cubicBezTo>
                    <a:pt x="8567" y="812800"/>
                    <a:pt x="0" y="804233"/>
                    <a:pt x="0" y="793664"/>
                  </a:cubicBezTo>
                  <a:lnTo>
                    <a:pt x="0" y="19136"/>
                  </a:lnTo>
                  <a:cubicBezTo>
                    <a:pt x="0" y="8567"/>
                    <a:pt x="8567" y="0"/>
                    <a:pt x="19136" y="0"/>
                  </a:cubicBezTo>
                  <a:close/>
                </a:path>
              </a:pathLst>
            </a:custGeom>
            <a:blipFill>
              <a:blip r:embed="rId4"/>
              <a:stretch>
                <a:fillRect l="-257" t="0" r="-257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666750" y="838200"/>
            <a:ext cx="15516225" cy="1166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Summary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300848">
            <a:off x="12064338" y="5278644"/>
            <a:ext cx="13730046" cy="12931207"/>
          </a:xfrm>
          <a:custGeom>
            <a:avLst/>
            <a:gdLst/>
            <a:ahLst/>
            <a:cxnLst/>
            <a:rect r="r" b="b" t="t" l="l"/>
            <a:pathLst>
              <a:path h="12931207" w="13730046">
                <a:moveTo>
                  <a:pt x="0" y="0"/>
                </a:moveTo>
                <a:lnTo>
                  <a:pt x="13730046" y="0"/>
                </a:lnTo>
                <a:lnTo>
                  <a:pt x="13730046" y="12931207"/>
                </a:lnTo>
                <a:lnTo>
                  <a:pt x="0" y="129312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666750" y="838200"/>
            <a:ext cx="12944475" cy="1166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3070B3"/>
                </a:solidFill>
                <a:latin typeface="Gilda Display"/>
                <a:ea typeface="Gilda Display"/>
                <a:cs typeface="Gilda Display"/>
                <a:sym typeface="Gilda Display"/>
              </a:rPr>
              <a:t>Thank You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66750" y="2457450"/>
            <a:ext cx="8324850" cy="4375123"/>
            <a:chOff x="0" y="0"/>
            <a:chExt cx="11099800" cy="5833497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9525"/>
              <a:ext cx="11099800" cy="454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39"/>
                </a:lnSpc>
              </a:pPr>
              <a:r>
                <a:rPr lang="en-US" b="true" sz="2199">
                  <a:solidFill>
                    <a:srgbClr val="28282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Phone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410633"/>
              <a:ext cx="110998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3070B3"/>
                  </a:solidFill>
                  <a:latin typeface="HK Grotesk"/>
                  <a:ea typeface="HK Grotesk"/>
                  <a:cs typeface="HK Grotesk"/>
                  <a:sym typeface="HK Grotesk"/>
                </a:rPr>
                <a:t>123-456-7890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378039"/>
              <a:ext cx="11099800" cy="454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39"/>
                </a:lnSpc>
              </a:pPr>
              <a:r>
                <a:rPr lang="en-US" b="true" sz="2199" u="none">
                  <a:solidFill>
                    <a:srgbClr val="28282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Email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793964"/>
              <a:ext cx="110998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 u="none">
                  <a:solidFill>
                    <a:srgbClr val="3070B3"/>
                  </a:solidFill>
                  <a:latin typeface="HK Grotesk"/>
                  <a:ea typeface="HK Grotesk"/>
                  <a:cs typeface="HK Grotesk"/>
                  <a:sym typeface="HK Grotesk"/>
                </a:rPr>
                <a:t>hello@reallygreatsite.com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4765639"/>
              <a:ext cx="11099800" cy="454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39"/>
                </a:lnSpc>
              </a:pPr>
              <a:r>
                <a:rPr lang="en-US" b="true" sz="2199">
                  <a:solidFill>
                    <a:srgbClr val="28282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Social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5185797"/>
              <a:ext cx="110998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3070B3"/>
                  </a:solidFill>
                  <a:latin typeface="HK Grotesk"/>
                  <a:ea typeface="HK Grotesk"/>
                  <a:cs typeface="HK Grotesk"/>
                  <a:sym typeface="HK Grotesk"/>
                </a:rPr>
                <a:t>@reallygreatsite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ArchiHotel — Reservation Handling</dc:description>
  <dc:identifier>DAHN-KCvUTY</dc:identifier>
  <dcterms:modified xsi:type="dcterms:W3CDTF">2011-08-01T06:04:30Z</dcterms:modified>
  <cp:revision>1</cp:revision>
  <dc:title>Presentation - ArchiHotel — Reservation Handling</dc:title>
</cp:coreProperties>
</file>